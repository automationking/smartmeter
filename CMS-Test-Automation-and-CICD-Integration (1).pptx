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1.png"/><Relationship Id="rId8" Type="http://schemas.openxmlformats.org/officeDocument/2006/relationships/image" Target="../media/image-2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image" Target="../media/image-3-2.png"/><Relationship Id="rId11" Type="http://schemas.openxmlformats.org/officeDocument/2006/relationships/image" Target="../media/image-3-3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3.png"/><Relationship Id="rId6" Type="http://schemas.openxmlformats.org/officeDocument/2006/relationships/image" Target="../media/image-7-4.svg"/><Relationship Id="rId7" Type="http://schemas.openxmlformats.org/officeDocument/2006/relationships/image" Target="../media/image-7-3.png"/><Relationship Id="rId8" Type="http://schemas.openxmlformats.org/officeDocument/2006/relationships/image" Target="../media/image-7-4.svg"/><Relationship Id="rId9" Type="http://schemas.openxmlformats.org/officeDocument/2006/relationships/image" Target="../media/image-7-3.png"/><Relationship Id="rId10" Type="http://schemas.openxmlformats.org/officeDocument/2006/relationships/image" Target="../media/image-7-4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9.png"/><Relationship Id="rId12" Type="http://schemas.openxmlformats.org/officeDocument/2006/relationships/image" Target="../media/image-9-10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3.png"/><Relationship Id="rId16" Type="http://schemas.openxmlformats.org/officeDocument/2006/relationships/image" Target="../media/image-9-14.svg"/><Relationship Id="rId17" Type="http://schemas.openxmlformats.org/officeDocument/2006/relationships/image" Target="../media/image-9-13.png"/><Relationship Id="rId18" Type="http://schemas.openxmlformats.org/officeDocument/2006/relationships/image" Target="../media/image-9-14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1337370"/>
            <a:ext cx="3838479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sp>
        <p:nvSpPr>
          <p:cNvPr id="5" name="Text 2"/>
          <p:cNvSpPr/>
          <p:nvPr/>
        </p:nvSpPr>
        <p:spPr>
          <a:xfrm>
            <a:off x="774879" y="1394023"/>
            <a:ext cx="422125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CHILD MAINTENANCE SERVICE — DIGITAL CHANNEL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94408" y="1337370"/>
            <a:ext cx="937197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07812" y="1394023"/>
            <a:ext cx="131997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JULY 2026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1475" y="1700113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CMS Test Automation &amp; CI/CD Integration</a:t>
            </a:r>
            <a:endParaRPr lang="en-US" sz="5100" dirty="0"/>
          </a:p>
        </p:txBody>
      </p:sp>
      <p:sp>
        <p:nvSpPr>
          <p:cNvPr id="9" name="Text 6"/>
          <p:cNvSpPr/>
          <p:nvPr/>
        </p:nvSpPr>
        <p:spPr>
          <a:xfrm>
            <a:off x="661475" y="3613944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Shift-Left Quality Engineering  |  Automated Regression  |  Continuous Feedback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431407"/>
            <a:ext cx="1972915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850482" y="4620419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80% Faster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0482" y="5029101"/>
            <a:ext cx="15949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 Execution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2823397" y="4431407"/>
            <a:ext cx="1972915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3012404" y="4620419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Zero Manual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3012404" y="5029101"/>
            <a:ext cx="15949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Regression Effort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985320" y="4431407"/>
            <a:ext cx="1972915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5174327" y="4620419"/>
            <a:ext cx="15949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Continuous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5174327" y="5029101"/>
            <a:ext cx="159490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Quality Feedback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30722"/>
            <a:ext cx="1743230" cy="186630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1367532"/>
            <a:ext cx="2205578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CMS DIGITAL CHANNEL · JULY 2026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1549202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2052935"/>
            <a:ext cx="1086874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shift-left quality engineering programme delivering automated CI/CD test pipelines across all 6 CMS Digital Channel projects — eliminating manual regression and enabling continuous delivery confidence.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603732" y="2528391"/>
            <a:ext cx="349985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80%+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661475" y="3055045"/>
            <a:ext cx="53844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Manual Testing Reduction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088010" y="2528391"/>
            <a:ext cx="349985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6145753" y="3055045"/>
            <a:ext cx="53844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CMS Projects Covered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3732" y="3468092"/>
            <a:ext cx="349985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661475" y="3994745"/>
            <a:ext cx="53844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 Types Automated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8010" y="3468092"/>
            <a:ext cx="349985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6145753" y="3994745"/>
            <a:ext cx="5384467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Manual Bug Reports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1475" y="4306491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We Delivered</a:t>
            </a:r>
            <a:endParaRPr lang="en-US" sz="12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511" y="4624288"/>
            <a:ext cx="184245" cy="18424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60721" y="4618236"/>
            <a:ext cx="498522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CI/CD pipelines across all 6 CMS projects via GitHub Actions</a:t>
            </a:r>
            <a:endParaRPr lang="en-US" sz="9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1790" y="4624288"/>
            <a:ext cx="184245" cy="18424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45000" y="4618236"/>
            <a:ext cx="498522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Regression, security (OWASP ZAP), performance (k6) &amp; cross-browser testing</a:t>
            </a:r>
            <a:endParaRPr lang="en-US" sz="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511" y="5158581"/>
            <a:ext cx="184245" cy="18424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0721" y="5152529"/>
            <a:ext cx="498522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Real-time Slack notifications with pass/fail summaries &amp; pipeline links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1790" y="5158581"/>
            <a:ext cx="184245" cy="1842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45000" y="5152529"/>
            <a:ext cx="498522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Shift-left quality gates preventing defective code reaching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1591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Problem </a:t>
            </a:r>
            <a:pPr algn="l" indent="0" marL="0">
              <a:lnSpc>
                <a:spcPct val="104000"/>
              </a:lnSpc>
              <a:buNone/>
            </a:pPr>
            <a:r>
              <a:rPr lang="en-US" sz="2400" i="1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(Before Automation)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61475" y="1255117"/>
            <a:ext cx="876278" cy="186630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93" y="1299270"/>
            <a:ext cx="98224" cy="982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2429" y="1291927"/>
            <a:ext cx="119129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PAIN POINTS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61475" y="1473597"/>
            <a:ext cx="58429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Manual Testing Challenges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55378"/>
            <a:ext cx="5842945" cy="7049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7803" y="1890911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2–3 Days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Full Regression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47803" y="2162671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Days of manual effort blocked every deployment window.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540099"/>
            <a:ext cx="5842945" cy="7049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7803" y="2675632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1–2 Days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Cross-Browser Checks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47803" y="2947392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compatibility checks with no automated coverage.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324820"/>
            <a:ext cx="5842945" cy="70494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7803" y="3460353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Zero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Security Scanning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47803" y="3732113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security scanning — vulnerabilities found too late.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109541"/>
            <a:ext cx="5842945" cy="70494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7803" y="4245074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Late Stage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Performance Feedback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847803" y="4516834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issues surfaced after costly rework was needed.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894263"/>
            <a:ext cx="5842945" cy="70494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47803" y="5029795"/>
            <a:ext cx="552108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Email &amp; Meetings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— Communication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847803" y="5301555"/>
            <a:ext cx="552108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real-time feedback — results via email and meetings only.</a:t>
            </a:r>
            <a:endParaRPr lang="en-US" sz="950" dirty="0"/>
          </a:p>
        </p:txBody>
      </p:sp>
      <p:sp>
        <p:nvSpPr>
          <p:cNvPr id="22" name="Shape 14"/>
          <p:cNvSpPr/>
          <p:nvPr/>
        </p:nvSpPr>
        <p:spPr>
          <a:xfrm>
            <a:off x="6722001" y="1165324"/>
            <a:ext cx="4902871" cy="5031085"/>
          </a:xfrm>
          <a:prstGeom prst="roundRect">
            <a:avLst>
              <a:gd name="adj" fmla="val 376"/>
            </a:avLst>
          </a:prstGeom>
          <a:solidFill>
            <a:srgbClr val="1E3A8A"/>
          </a:solidFill>
          <a:ln/>
        </p:spPr>
      </p:sp>
      <p:sp>
        <p:nvSpPr>
          <p:cNvPr id="23" name="Shape 15"/>
          <p:cNvSpPr/>
          <p:nvPr/>
        </p:nvSpPr>
        <p:spPr>
          <a:xfrm>
            <a:off x="6844831" y="1255117"/>
            <a:ext cx="1123029" cy="186630"/>
          </a:xfrm>
          <a:prstGeom prst="roundRect">
            <a:avLst>
              <a:gd name="adj" fmla="val 7900"/>
            </a:avLst>
          </a:prstGeom>
          <a:solidFill>
            <a:srgbClr val="00104C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8450" y="1299270"/>
            <a:ext cx="98224" cy="9822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065786" y="1291927"/>
            <a:ext cx="1438041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IMPACT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6844831" y="1473597"/>
            <a:ext cx="465721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Cost of Manual Testing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7659794" y="1816795"/>
            <a:ext cx="3027188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5+</a:t>
            </a:r>
            <a:endParaRPr lang="en-US" sz="3150" dirty="0"/>
          </a:p>
        </p:txBody>
      </p:sp>
      <p:sp>
        <p:nvSpPr>
          <p:cNvPr id="28" name="Text 19"/>
          <p:cNvSpPr/>
          <p:nvPr/>
        </p:nvSpPr>
        <p:spPr>
          <a:xfrm>
            <a:off x="6844831" y="2343448"/>
            <a:ext cx="465721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Days Lost Per Release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844831" y="2615208"/>
            <a:ext cx="46572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Regression &amp; browser testing per cycle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7659794" y="2998391"/>
            <a:ext cx="3027188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10×</a:t>
            </a:r>
            <a:endParaRPr lang="en-US" sz="3150" dirty="0"/>
          </a:p>
        </p:txBody>
      </p:sp>
      <p:sp>
        <p:nvSpPr>
          <p:cNvPr id="31" name="Text 22"/>
          <p:cNvSpPr/>
          <p:nvPr/>
        </p:nvSpPr>
        <p:spPr>
          <a:xfrm>
            <a:off x="6844831" y="3525044"/>
            <a:ext cx="465721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Late Bug Fix Cost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6844831" y="3796804"/>
            <a:ext cx="4657212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defects cost 10× more to fix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6844831" y="4048720"/>
            <a:ext cx="2288721" cy="679549"/>
          </a:xfrm>
          <a:prstGeom prst="roundRect">
            <a:avLst>
              <a:gd name="adj" fmla="val 2712"/>
            </a:avLst>
          </a:prstGeom>
          <a:solidFill>
            <a:srgbClr val="F2EEEE"/>
          </a:solidFill>
          <a:ln/>
        </p:spPr>
      </p:sp>
      <p:sp>
        <p:nvSpPr>
          <p:cNvPr id="34" name="Text 25"/>
          <p:cNvSpPr/>
          <p:nvPr/>
        </p:nvSpPr>
        <p:spPr>
          <a:xfrm>
            <a:off x="6967661" y="4171553"/>
            <a:ext cx="204306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🚨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Delayed Releases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967661" y="4443313"/>
            <a:ext cx="20430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Testing bottlenecks every release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9213322" y="4048720"/>
            <a:ext cx="2288721" cy="679549"/>
          </a:xfrm>
          <a:prstGeom prst="roundRect">
            <a:avLst>
              <a:gd name="adj" fmla="val 2712"/>
            </a:avLst>
          </a:prstGeom>
          <a:solidFill>
            <a:srgbClr val="F2EEEE"/>
          </a:solidFill>
          <a:ln/>
        </p:spPr>
      </p:sp>
      <p:sp>
        <p:nvSpPr>
          <p:cNvPr id="37" name="Text 28"/>
          <p:cNvSpPr/>
          <p:nvPr/>
        </p:nvSpPr>
        <p:spPr>
          <a:xfrm>
            <a:off x="9336152" y="4171553"/>
            <a:ext cx="204306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🐛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Production Defects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9336152" y="4443313"/>
            <a:ext cx="20430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Bugs slipping through coverage gaps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844831" y="4808041"/>
            <a:ext cx="2288721" cy="679549"/>
          </a:xfrm>
          <a:prstGeom prst="roundRect">
            <a:avLst>
              <a:gd name="adj" fmla="val 2712"/>
            </a:avLst>
          </a:prstGeom>
          <a:solidFill>
            <a:srgbClr val="F2EEEE"/>
          </a:solidFill>
          <a:ln/>
        </p:spPr>
      </p:sp>
      <p:sp>
        <p:nvSpPr>
          <p:cNvPr id="40" name="Text 31"/>
          <p:cNvSpPr/>
          <p:nvPr/>
        </p:nvSpPr>
        <p:spPr>
          <a:xfrm>
            <a:off x="6967661" y="4930874"/>
            <a:ext cx="204306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📉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Inconsistent Coverage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6967661" y="5202634"/>
            <a:ext cx="20430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standard process across projects</a:t>
            </a:r>
            <a:endParaRPr lang="en-US" sz="950" dirty="0"/>
          </a:p>
        </p:txBody>
      </p:sp>
      <p:sp>
        <p:nvSpPr>
          <p:cNvPr id="42" name="Shape 33"/>
          <p:cNvSpPr/>
          <p:nvPr/>
        </p:nvSpPr>
        <p:spPr>
          <a:xfrm>
            <a:off x="9213322" y="4808041"/>
            <a:ext cx="2288721" cy="679549"/>
          </a:xfrm>
          <a:prstGeom prst="roundRect">
            <a:avLst>
              <a:gd name="adj" fmla="val 2712"/>
            </a:avLst>
          </a:prstGeom>
          <a:solidFill>
            <a:srgbClr val="F2EEEE"/>
          </a:solidFill>
          <a:ln/>
        </p:spPr>
      </p:sp>
      <p:sp>
        <p:nvSpPr>
          <p:cNvPr id="43" name="Text 34"/>
          <p:cNvSpPr/>
          <p:nvPr/>
        </p:nvSpPr>
        <p:spPr>
          <a:xfrm>
            <a:off x="9336152" y="4930874"/>
            <a:ext cx="204306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😤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Developer Frustration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9336152" y="5202634"/>
            <a:ext cx="2043061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timely feedback for engineers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6844831" y="5577384"/>
            <a:ext cx="4657212" cy="529233"/>
          </a:xfrm>
          <a:prstGeom prst="roundRect">
            <a:avLst>
              <a:gd name="adj" fmla="val 3482"/>
            </a:avLst>
          </a:prstGeom>
          <a:solidFill>
            <a:srgbClr val="450707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67661" y="5737622"/>
            <a:ext cx="153488" cy="122833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243978" y="5679877"/>
            <a:ext cx="4135235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5+ days per sprint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consumed by manual testing — with no guarantee of consistent quality across all 6 projects.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94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Solution — Integrated CI/CD Pipeline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68116"/>
            <a:ext cx="2717137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013174"/>
            <a:ext cx="23391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Functional Tests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421856"/>
            <a:ext cx="23391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Playwright E2E &amp; API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612" y="2068116"/>
            <a:ext cx="2717236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67619" y="3013174"/>
            <a:ext cx="2339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Security Scan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567619" y="3421856"/>
            <a:ext cx="23392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OWASP ZAP DAST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2068116"/>
            <a:ext cx="2717137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84854" y="3013174"/>
            <a:ext cx="23391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Performance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84854" y="3421856"/>
            <a:ext cx="23391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k6 load &amp; stress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984" y="2068116"/>
            <a:ext cx="2717236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01991" y="3013174"/>
            <a:ext cx="2339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Cross‑Browser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001991" y="3421856"/>
            <a:ext cx="233922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BrowserStack runs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913287"/>
            <a:ext cx="2717137" cy="7560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0482" y="4858345"/>
            <a:ext cx="233912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Reporting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850482" y="5267027"/>
            <a:ext cx="233912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Allure &amp; Slack alerts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90539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Technology Stack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865636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integrated ecosystem — from code push to insight delivery.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256955"/>
            <a:ext cx="3622882" cy="642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106" y="4036120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Playwright + TypeScript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22106" y="4368998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E2E UI &amp; API tests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3256955"/>
            <a:ext cx="3622882" cy="642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44988" y="4036120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GitLab CI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444988" y="4368998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Pipeline orchestration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3256955"/>
            <a:ext cx="3622882" cy="642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7870" y="4036120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Allure Reports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067870" y="4368998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Visual test reporting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781"/>
            <a:ext cx="10868745" cy="3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Story-Based Test Execution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943074"/>
            <a:ext cx="11478330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Developers stay in their natural workflow — smart tag extraction handles the rest automatically.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18989"/>
            <a:ext cx="2717137" cy="391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9302" y="1561306"/>
            <a:ext cx="252148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1. Name Branch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59302" y="1744563"/>
            <a:ext cx="252148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feature/AFCM-1234-fix-payment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612" y="1118989"/>
            <a:ext cx="2717236" cy="3916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76439" y="1561306"/>
            <a:ext cx="2521581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2. Push Code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476439" y="1744563"/>
            <a:ext cx="2521581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GitLab CI triggers automatically</a:t>
            </a:r>
            <a:endParaRPr lang="en-US" sz="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1118989"/>
            <a:ext cx="2717137" cy="3916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93675" y="1561306"/>
            <a:ext cx="252148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3. Tag Extracted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6193675" y="1744563"/>
            <a:ext cx="252148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AFCM-1234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parsed from branch name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984" y="1118989"/>
            <a:ext cx="2717236" cy="39161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10811" y="1561306"/>
            <a:ext cx="2521581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4. Tests Run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8910811" y="1744563"/>
            <a:ext cx="2521581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Only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@AFCM-1234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tagged tests execute</a:t>
            </a:r>
            <a:endParaRPr lang="en-US" sz="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1961257"/>
            <a:ext cx="2717137" cy="39161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59302" y="2403574"/>
            <a:ext cx="252148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5. Check Slack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759302" y="2586831"/>
            <a:ext cx="252148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Pass/fail result in &lt; 5 min</a:t>
            </a:r>
            <a:endParaRPr lang="en-US" sz="750" dirty="0"/>
          </a:p>
        </p:txBody>
      </p:sp>
      <p:sp>
        <p:nvSpPr>
          <p:cNvPr id="19" name="Shape 12"/>
          <p:cNvSpPr/>
          <p:nvPr/>
        </p:nvSpPr>
        <p:spPr>
          <a:xfrm>
            <a:off x="661475" y="2860576"/>
            <a:ext cx="10868745" cy="268585"/>
          </a:xfrm>
          <a:prstGeom prst="roundRect">
            <a:avLst>
              <a:gd name="adj" fmla="val 5468"/>
            </a:avLst>
          </a:prstGeom>
          <a:solidFill>
            <a:srgbClr val="CCD7FF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302" y="2982813"/>
            <a:ext cx="122334" cy="9783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79463" y="2935684"/>
            <a:ext cx="1106251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Falls back to full regression automatically if no story tag is found in the branch name or commit message.</a:t>
            </a:r>
            <a:endParaRPr lang="en-US" sz="750" dirty="0"/>
          </a:p>
        </p:txBody>
      </p:sp>
      <p:sp>
        <p:nvSpPr>
          <p:cNvPr id="22" name="Text 14"/>
          <p:cNvSpPr/>
          <p:nvPr/>
        </p:nvSpPr>
        <p:spPr>
          <a:xfrm>
            <a:off x="661475" y="3236913"/>
            <a:ext cx="531501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Manual Trigger Options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661475" y="3446859"/>
            <a:ext cx="2632108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772002" y="3557389"/>
            <a:ext cx="241105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Environment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772002" y="3760986"/>
            <a:ext cx="241105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Select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dev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or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staging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3344283" y="3446859"/>
            <a:ext cx="2632208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3454810" y="3557389"/>
            <a:ext cx="2411154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 Tags</a:t>
            </a:r>
            <a:endParaRPr lang="en-US" sz="950" dirty="0"/>
          </a:p>
        </p:txBody>
      </p:sp>
      <p:sp>
        <p:nvSpPr>
          <p:cNvPr id="28" name="Text 20"/>
          <p:cNvSpPr/>
          <p:nvPr/>
        </p:nvSpPr>
        <p:spPr>
          <a:xfrm>
            <a:off x="3454810" y="3760986"/>
            <a:ext cx="2411154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Run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@smoke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@regression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or a specific story ID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661475" y="4041080"/>
            <a:ext cx="5315015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72002" y="4151610"/>
            <a:ext cx="509396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Quality Gates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772002" y="4355207"/>
            <a:ext cx="509396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Toggle OWASP ZAP, k6 load tests, and BrowserStack on/off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6221555" y="3236913"/>
            <a:ext cx="531501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Smart Tag Extraction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221555" y="3446859"/>
            <a:ext cx="2632108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332081" y="3557389"/>
            <a:ext cx="2411055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Branch Name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6332081" y="3760986"/>
            <a:ext cx="2411055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feature/AFCM-1234-…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AFCM-1234</a:t>
            </a:r>
            <a:endParaRPr lang="en-US" sz="750" dirty="0"/>
          </a:p>
        </p:txBody>
      </p:sp>
      <p:sp>
        <p:nvSpPr>
          <p:cNvPr id="36" name="Shape 28"/>
          <p:cNvSpPr/>
          <p:nvPr/>
        </p:nvSpPr>
        <p:spPr>
          <a:xfrm>
            <a:off x="8904362" y="3446859"/>
            <a:ext cx="2632208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9014889" y="3557389"/>
            <a:ext cx="2411154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Commit Message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9014889" y="3760986"/>
            <a:ext cx="2411154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[AFCM-1234] fix…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</a:t>
            </a:r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AFCM-1234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6221555" y="4041080"/>
            <a:ext cx="5315015" cy="54352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6332081" y="4151610"/>
            <a:ext cx="509396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 Match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6332081" y="4355207"/>
            <a:ext cx="5093962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regression suite runs as fallback</a:t>
            </a:r>
            <a:endParaRPr lang="en-US" sz="750" dirty="0"/>
          </a:p>
        </p:txBody>
      </p:sp>
      <p:sp>
        <p:nvSpPr>
          <p:cNvPr id="42" name="Text 34"/>
          <p:cNvSpPr/>
          <p:nvPr/>
        </p:nvSpPr>
        <p:spPr>
          <a:xfrm>
            <a:off x="1606907" y="4747617"/>
            <a:ext cx="3511760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90%</a:t>
            </a:r>
            <a:endParaRPr lang="en-US" sz="2500" dirty="0"/>
          </a:p>
        </p:txBody>
      </p:sp>
      <p:sp>
        <p:nvSpPr>
          <p:cNvPr id="43" name="Text 35"/>
          <p:cNvSpPr/>
          <p:nvPr/>
        </p:nvSpPr>
        <p:spPr>
          <a:xfrm>
            <a:off x="661475" y="5157589"/>
            <a:ext cx="5402723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Faster Feedback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661475" y="5340846"/>
            <a:ext cx="5402723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vs full regression run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7072929" y="4747617"/>
            <a:ext cx="3511760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&lt;5m</a:t>
            </a:r>
            <a:endParaRPr lang="en-US" sz="2500" dirty="0"/>
          </a:p>
        </p:txBody>
      </p:sp>
      <p:sp>
        <p:nvSpPr>
          <p:cNvPr id="46" name="Text 38"/>
          <p:cNvSpPr/>
          <p:nvPr/>
        </p:nvSpPr>
        <p:spPr>
          <a:xfrm>
            <a:off x="6127497" y="5157589"/>
            <a:ext cx="5402723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Targeted Result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6127497" y="5340846"/>
            <a:ext cx="5402723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 story-tagged execution</a:t>
            </a:r>
            <a:endParaRPr lang="en-US" sz="750" dirty="0"/>
          </a:p>
        </p:txBody>
      </p:sp>
      <p:sp>
        <p:nvSpPr>
          <p:cNvPr id="48" name="Text 40"/>
          <p:cNvSpPr/>
          <p:nvPr/>
        </p:nvSpPr>
        <p:spPr>
          <a:xfrm>
            <a:off x="4339918" y="5610027"/>
            <a:ext cx="3511760" cy="323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</a:t>
            </a:r>
            <a:endParaRPr lang="en-US" sz="2500" dirty="0"/>
          </a:p>
        </p:txBody>
      </p:sp>
      <p:sp>
        <p:nvSpPr>
          <p:cNvPr id="49" name="Text 41"/>
          <p:cNvSpPr/>
          <p:nvPr/>
        </p:nvSpPr>
        <p:spPr>
          <a:xfrm>
            <a:off x="3394486" y="6019998"/>
            <a:ext cx="5402723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Extra Steps</a:t>
            </a:r>
            <a:endParaRPr lang="en-US" sz="950" dirty="0"/>
          </a:p>
        </p:txBody>
      </p:sp>
      <p:sp>
        <p:nvSpPr>
          <p:cNvPr id="50" name="Text 42"/>
          <p:cNvSpPr/>
          <p:nvPr/>
        </p:nvSpPr>
        <p:spPr>
          <a:xfrm>
            <a:off x="3394486" y="6203255"/>
            <a:ext cx="5402723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just name the branch correctly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4276"/>
            <a:ext cx="1370077" cy="201116"/>
          </a:xfrm>
          <a:prstGeom prst="roundRect">
            <a:avLst>
              <a:gd name="adj" fmla="val 7895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848" y="761901"/>
            <a:ext cx="105765" cy="1057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9495" y="753963"/>
            <a:ext cx="1662269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SHIFT-LEFT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61475" y="95240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ZAP Integration — Security at Every Commit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61475" y="1597323"/>
            <a:ext cx="5832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Scanning Flow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1475" y="190817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1475" y="2113855"/>
            <a:ext cx="2869930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9" name="Text 6"/>
          <p:cNvSpPr/>
          <p:nvPr/>
        </p:nvSpPr>
        <p:spPr>
          <a:xfrm>
            <a:off x="661475" y="2218035"/>
            <a:ext cx="28699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Browser Proxy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1475" y="2517279"/>
            <a:ext cx="28699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Playwright routes traffic through ZAP proxy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23973" y="190817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23973" y="2113855"/>
            <a:ext cx="287002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Text 10"/>
          <p:cNvSpPr/>
          <p:nvPr/>
        </p:nvSpPr>
        <p:spPr>
          <a:xfrm>
            <a:off x="3623973" y="2218035"/>
            <a:ext cx="28700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Active Scan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23973" y="2517279"/>
            <a:ext cx="287002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ZAP crawls URLs and detects vulnerabilities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1475" y="288905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61475" y="3094732"/>
            <a:ext cx="2869930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4"/>
          <p:cNvSpPr/>
          <p:nvPr/>
        </p:nvSpPr>
        <p:spPr>
          <a:xfrm>
            <a:off x="661475" y="3198912"/>
            <a:ext cx="286993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 Triage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1475" y="3498155"/>
            <a:ext cx="28699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Findings ranked: </a:t>
            </a:r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High / Medium / Low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623973" y="288905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23973" y="3094732"/>
            <a:ext cx="2870029" cy="19050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1" name="Text 18"/>
          <p:cNvSpPr/>
          <p:nvPr/>
        </p:nvSpPr>
        <p:spPr>
          <a:xfrm>
            <a:off x="3623973" y="3198912"/>
            <a:ext cx="287002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Instant Alert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23973" y="3498155"/>
            <a:ext cx="287002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Slack notification + HTML report artifact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23004" y="1597323"/>
            <a:ext cx="471346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Vulnerabilities Detected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23004" y="1908175"/>
            <a:ext cx="2310449" cy="477540"/>
          </a:xfrm>
          <a:prstGeom prst="roundRect">
            <a:avLst>
              <a:gd name="adj" fmla="val 4156"/>
            </a:avLst>
          </a:prstGeom>
          <a:solidFill>
            <a:srgbClr val="F2EEEE"/>
          </a:solidFill>
          <a:ln/>
        </p:spPr>
      </p:sp>
      <p:sp>
        <p:nvSpPr>
          <p:cNvPr id="25" name="Text 22"/>
          <p:cNvSpPr/>
          <p:nvPr/>
        </p:nvSpPr>
        <p:spPr>
          <a:xfrm>
            <a:off x="6955259" y="2040434"/>
            <a:ext cx="2045939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💉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SQL Injection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226022" y="1908175"/>
            <a:ext cx="2310449" cy="477540"/>
          </a:xfrm>
          <a:prstGeom prst="roundRect">
            <a:avLst>
              <a:gd name="adj" fmla="val 4156"/>
            </a:avLst>
          </a:prstGeom>
          <a:solidFill>
            <a:srgbClr val="F2EEEE"/>
          </a:solidFill>
          <a:ln/>
        </p:spPr>
      </p:sp>
      <p:sp>
        <p:nvSpPr>
          <p:cNvPr id="27" name="Text 24"/>
          <p:cNvSpPr/>
          <p:nvPr/>
        </p:nvSpPr>
        <p:spPr>
          <a:xfrm>
            <a:off x="9358277" y="2040434"/>
            <a:ext cx="2045939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XSS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823004" y="2478286"/>
            <a:ext cx="2310449" cy="477540"/>
          </a:xfrm>
          <a:prstGeom prst="roundRect">
            <a:avLst>
              <a:gd name="adj" fmla="val 4156"/>
            </a:avLst>
          </a:prstGeom>
          <a:solidFill>
            <a:srgbClr val="F2EEEE"/>
          </a:solidFill>
          <a:ln/>
        </p:spPr>
      </p:sp>
      <p:sp>
        <p:nvSpPr>
          <p:cNvPr id="29" name="Text 26"/>
          <p:cNvSpPr/>
          <p:nvPr/>
        </p:nvSpPr>
        <p:spPr>
          <a:xfrm>
            <a:off x="6955259" y="2610545"/>
            <a:ext cx="2045939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Misconfigurations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226022" y="2478286"/>
            <a:ext cx="2310449" cy="477540"/>
          </a:xfrm>
          <a:prstGeom prst="roundRect">
            <a:avLst>
              <a:gd name="adj" fmla="val 4156"/>
            </a:avLst>
          </a:prstGeom>
          <a:solidFill>
            <a:srgbClr val="F2EEEE"/>
          </a:solidFill>
          <a:ln/>
        </p:spPr>
      </p:sp>
      <p:sp>
        <p:nvSpPr>
          <p:cNvPr id="31" name="Text 28"/>
          <p:cNvSpPr/>
          <p:nvPr/>
        </p:nvSpPr>
        <p:spPr>
          <a:xfrm>
            <a:off x="9358277" y="2610545"/>
            <a:ext cx="2045939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Missing Headers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823004" y="3060005"/>
            <a:ext cx="4713467" cy="419100"/>
          </a:xfrm>
          <a:prstGeom prst="roundRect">
            <a:avLst>
              <a:gd name="adj" fmla="val 4736"/>
            </a:avLst>
          </a:prstGeom>
          <a:solidFill>
            <a:srgbClr val="B6FCB8"/>
          </a:solidFill>
          <a:ln/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259" y="3236516"/>
            <a:ext cx="165294" cy="132259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7252808" y="3176389"/>
            <a:ext cx="4760992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🎯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Security issues caught at dev time — not in production.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7167780" y="3649365"/>
            <a:ext cx="1609189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</a:t>
            </a:r>
            <a:endParaRPr lang="en-US" sz="3400" dirty="0"/>
          </a:p>
        </p:txBody>
      </p:sp>
      <p:sp>
        <p:nvSpPr>
          <p:cNvPr id="36" name="Text 32"/>
          <p:cNvSpPr/>
          <p:nvPr/>
        </p:nvSpPr>
        <p:spPr>
          <a:xfrm>
            <a:off x="6823004" y="4221559"/>
            <a:ext cx="229884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 Escapes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9582406" y="3649365"/>
            <a:ext cx="1609189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100%</a:t>
            </a:r>
            <a:endParaRPr lang="en-US" sz="3400" dirty="0"/>
          </a:p>
        </p:txBody>
      </p:sp>
      <p:sp>
        <p:nvSpPr>
          <p:cNvPr id="38" name="Text 34"/>
          <p:cNvSpPr/>
          <p:nvPr/>
        </p:nvSpPr>
        <p:spPr>
          <a:xfrm>
            <a:off x="9237531" y="4221559"/>
            <a:ext cx="229894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CI Coverage</a:t>
            </a:r>
            <a:endParaRPr lang="en-US" sz="1300" dirty="0"/>
          </a:p>
        </p:txBody>
      </p:sp>
      <p:sp>
        <p:nvSpPr>
          <p:cNvPr id="39" name="Shape 35"/>
          <p:cNvSpPr/>
          <p:nvPr/>
        </p:nvSpPr>
        <p:spPr>
          <a:xfrm>
            <a:off x="661475" y="466963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40" name="Text 36"/>
          <p:cNvSpPr/>
          <p:nvPr/>
        </p:nvSpPr>
        <p:spPr>
          <a:xfrm>
            <a:off x="661475" y="4860627"/>
            <a:ext cx="10868745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🚦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Mandatory Quality Gates</a:t>
            </a:r>
            <a:endParaRPr lang="en-US" sz="130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212556"/>
            <a:ext cx="2647685" cy="93116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888978" y="5363865"/>
            <a:ext cx="2268878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Functional Tests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888978" y="5632450"/>
            <a:ext cx="226887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Story-tagged tests must pass before merge</a:t>
            </a:r>
            <a:endParaRPr lang="en-US" sz="1000" dirty="0"/>
          </a:p>
        </p:txBody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1729" y="5212556"/>
            <a:ext cx="2647785" cy="93116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3629232" y="5363865"/>
            <a:ext cx="2268977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Security Gate</a:t>
            </a:r>
            <a:endParaRPr lang="en-US" sz="1300" dirty="0"/>
          </a:p>
        </p:txBody>
      </p:sp>
      <p:sp>
        <p:nvSpPr>
          <p:cNvPr id="46" name="Text 40"/>
          <p:cNvSpPr/>
          <p:nvPr/>
        </p:nvSpPr>
        <p:spPr>
          <a:xfrm>
            <a:off x="3629232" y="5632450"/>
            <a:ext cx="226897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Zero high-severity</a:t>
            </a:r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findings — any High blocks merge</a:t>
            </a:r>
            <a:endParaRPr lang="en-US" sz="10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2082" y="5212556"/>
            <a:ext cx="2647785" cy="93116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6369585" y="5363865"/>
            <a:ext cx="2268977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Performance</a:t>
            </a:r>
            <a:endParaRPr lang="en-US" sz="1300" dirty="0"/>
          </a:p>
        </p:txBody>
      </p:sp>
      <p:sp>
        <p:nvSpPr>
          <p:cNvPr id="49" name="Text 42"/>
          <p:cNvSpPr/>
          <p:nvPr/>
        </p:nvSpPr>
        <p:spPr>
          <a:xfrm>
            <a:off x="6369585" y="5632450"/>
            <a:ext cx="226897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Response times within defined SLA bounds</a:t>
            </a:r>
            <a:endParaRPr lang="en-US" sz="1000" dirty="0"/>
          </a:p>
        </p:txBody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2436" y="5212556"/>
            <a:ext cx="2647785" cy="931168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9109939" y="5363865"/>
            <a:ext cx="2268977" cy="213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Cross-Browser</a:t>
            </a:r>
            <a:endParaRPr lang="en-US" sz="1300" dirty="0"/>
          </a:p>
        </p:txBody>
      </p:sp>
      <p:sp>
        <p:nvSpPr>
          <p:cNvPr id="52" name="Text 44"/>
          <p:cNvSpPr/>
          <p:nvPr/>
        </p:nvSpPr>
        <p:spPr>
          <a:xfrm>
            <a:off x="9109939" y="5632450"/>
            <a:ext cx="226897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Chrome, Firefox, and Safari verified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33537"/>
            <a:ext cx="1593413" cy="186630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93" y="877689"/>
            <a:ext cx="98224" cy="982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2429" y="870347"/>
            <a:ext cx="1908425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DASHBOARD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61475" y="1052016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Performance Testing with k6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922" y="1617166"/>
            <a:ext cx="171743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2500ms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661475" y="214382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LCP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1475" y="238363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Largest Contentful Paint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66061" y="1617166"/>
            <a:ext cx="171743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1800ms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3403614" y="214382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FCP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03614" y="238363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First Contentful Paint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608200" y="1617166"/>
            <a:ext cx="171743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0.1</a:t>
            </a:r>
            <a:endParaRPr lang="en-US" sz="3150" dirty="0"/>
          </a:p>
        </p:txBody>
      </p:sp>
      <p:sp>
        <p:nvSpPr>
          <p:cNvPr id="13" name="Text 10"/>
          <p:cNvSpPr/>
          <p:nvPr/>
        </p:nvSpPr>
        <p:spPr>
          <a:xfrm>
            <a:off x="6145753" y="214382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45753" y="238363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Cumulative Layout Shift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350340" y="1617166"/>
            <a:ext cx="1717434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p95</a:t>
            </a:r>
            <a:endParaRPr lang="en-US" sz="3150" dirty="0"/>
          </a:p>
        </p:txBody>
      </p:sp>
      <p:sp>
        <p:nvSpPr>
          <p:cNvPr id="16" name="Text 13"/>
          <p:cNvSpPr/>
          <p:nvPr/>
        </p:nvSpPr>
        <p:spPr>
          <a:xfrm>
            <a:off x="8887892" y="2143820"/>
            <a:ext cx="26423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API Latency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87892" y="2383631"/>
            <a:ext cx="26423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Response percentile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61475" y="2715320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Web Vitals Targets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61475" y="3058517"/>
            <a:ext cx="1332971" cy="153491"/>
          </a:xfrm>
          <a:prstGeom prst="roundRect">
            <a:avLst>
              <a:gd name="adj" fmla="val 12007"/>
            </a:avLst>
          </a:prstGeom>
          <a:solidFill>
            <a:srgbClr val="F2EEEE"/>
          </a:solidFill>
          <a:ln/>
        </p:spPr>
      </p:sp>
      <p:sp>
        <p:nvSpPr>
          <p:cNvPr id="20" name="Shape 17"/>
          <p:cNvSpPr/>
          <p:nvPr/>
        </p:nvSpPr>
        <p:spPr>
          <a:xfrm>
            <a:off x="661475" y="3058517"/>
            <a:ext cx="999703" cy="153491"/>
          </a:xfrm>
          <a:prstGeom prst="roundRect">
            <a:avLst>
              <a:gd name="adj" fmla="val 12007"/>
            </a:avLst>
          </a:prstGeom>
          <a:solidFill>
            <a:srgbClr val="2150FE"/>
          </a:solidFill>
          <a:ln/>
        </p:spPr>
      </p:sp>
      <p:sp>
        <p:nvSpPr>
          <p:cNvPr id="21" name="Text 18"/>
          <p:cNvSpPr/>
          <p:nvPr/>
        </p:nvSpPr>
        <p:spPr>
          <a:xfrm>
            <a:off x="2086518" y="3058418"/>
            <a:ext cx="25994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75%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1475" y="3333254"/>
            <a:ext cx="25923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LCP &lt; 2500ms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353609" y="3058517"/>
            <a:ext cx="1318386" cy="153491"/>
          </a:xfrm>
          <a:prstGeom prst="roundRect">
            <a:avLst>
              <a:gd name="adj" fmla="val 12007"/>
            </a:avLst>
          </a:prstGeom>
          <a:solidFill>
            <a:srgbClr val="F2EEEE"/>
          </a:solidFill>
          <a:ln/>
        </p:spPr>
      </p:sp>
      <p:sp>
        <p:nvSpPr>
          <p:cNvPr id="24" name="Shape 21"/>
          <p:cNvSpPr/>
          <p:nvPr/>
        </p:nvSpPr>
        <p:spPr>
          <a:xfrm>
            <a:off x="3353609" y="3058517"/>
            <a:ext cx="1120549" cy="153491"/>
          </a:xfrm>
          <a:prstGeom prst="roundRect">
            <a:avLst>
              <a:gd name="adj" fmla="val 12007"/>
            </a:avLst>
          </a:prstGeom>
          <a:solidFill>
            <a:srgbClr val="2150FE"/>
          </a:solidFill>
          <a:ln/>
        </p:spPr>
      </p:sp>
      <p:sp>
        <p:nvSpPr>
          <p:cNvPr id="25" name="Text 22"/>
          <p:cNvSpPr/>
          <p:nvPr/>
        </p:nvSpPr>
        <p:spPr>
          <a:xfrm>
            <a:off x="4764068" y="3058418"/>
            <a:ext cx="27453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85%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353609" y="3333254"/>
            <a:ext cx="259242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FCP &lt; 1800ms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61475" y="3746302"/>
            <a:ext cx="1303603" cy="153491"/>
          </a:xfrm>
          <a:prstGeom prst="roundRect">
            <a:avLst>
              <a:gd name="adj" fmla="val 12007"/>
            </a:avLst>
          </a:prstGeom>
          <a:solidFill>
            <a:srgbClr val="F2EEEE"/>
          </a:solidFill>
          <a:ln/>
        </p:spPr>
      </p:sp>
      <p:sp>
        <p:nvSpPr>
          <p:cNvPr id="28" name="Shape 25"/>
          <p:cNvSpPr/>
          <p:nvPr/>
        </p:nvSpPr>
        <p:spPr>
          <a:xfrm>
            <a:off x="661475" y="3746302"/>
            <a:ext cx="1173232" cy="153491"/>
          </a:xfrm>
          <a:prstGeom prst="roundRect">
            <a:avLst>
              <a:gd name="adj" fmla="val 12007"/>
            </a:avLst>
          </a:prstGeom>
          <a:solidFill>
            <a:srgbClr val="2150FE"/>
          </a:solidFill>
          <a:ln/>
        </p:spPr>
      </p:sp>
      <p:sp>
        <p:nvSpPr>
          <p:cNvPr id="29" name="Text 26"/>
          <p:cNvSpPr/>
          <p:nvPr/>
        </p:nvSpPr>
        <p:spPr>
          <a:xfrm>
            <a:off x="2057150" y="3746202"/>
            <a:ext cx="28931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90%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61475" y="4021038"/>
            <a:ext cx="25923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CLS &lt; 0.1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353609" y="3746302"/>
            <a:ext cx="1298344" cy="153491"/>
          </a:xfrm>
          <a:prstGeom prst="roundRect">
            <a:avLst>
              <a:gd name="adj" fmla="val 12007"/>
            </a:avLst>
          </a:prstGeom>
          <a:solidFill>
            <a:srgbClr val="F2EEEE"/>
          </a:solidFill>
          <a:ln/>
        </p:spPr>
      </p:sp>
      <p:sp>
        <p:nvSpPr>
          <p:cNvPr id="32" name="Shape 29"/>
          <p:cNvSpPr/>
          <p:nvPr/>
        </p:nvSpPr>
        <p:spPr>
          <a:xfrm>
            <a:off x="3353609" y="3746302"/>
            <a:ext cx="1038596" cy="153491"/>
          </a:xfrm>
          <a:prstGeom prst="roundRect">
            <a:avLst>
              <a:gd name="adj" fmla="val 12007"/>
            </a:avLst>
          </a:prstGeom>
          <a:solidFill>
            <a:srgbClr val="2150FE"/>
          </a:solidFill>
          <a:ln/>
        </p:spPr>
      </p:sp>
      <p:sp>
        <p:nvSpPr>
          <p:cNvPr id="33" name="Text 30"/>
          <p:cNvSpPr/>
          <p:nvPr/>
        </p:nvSpPr>
        <p:spPr>
          <a:xfrm>
            <a:off x="4744026" y="3746202"/>
            <a:ext cx="2945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80%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3353609" y="4021038"/>
            <a:ext cx="259242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TTFB &lt; 800ms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252014" y="2715320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API Load Test Metrics</a:t>
            </a:r>
            <a:endParaRPr lang="en-US" sz="120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014" y="2997101"/>
            <a:ext cx="3434867" cy="247273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661475" y="5649416"/>
            <a:ext cx="10868745" cy="375047"/>
          </a:xfrm>
          <a:prstGeom prst="roundRect">
            <a:avLst>
              <a:gd name="adj" fmla="val 4914"/>
            </a:avLst>
          </a:prstGeom>
          <a:solidFill>
            <a:srgbClr val="B6FCB8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05" y="5809655"/>
            <a:ext cx="153488" cy="122833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060622" y="5759847"/>
            <a:ext cx="1095635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Pipeline Gate: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Builds fail automatically if any Web Vital or API threshold is breached.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858"/>
            <a:ext cx="10868745" cy="3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Cross-Browser Compatibility &amp; Real-Time Notifications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661475" y="984151"/>
            <a:ext cx="11478330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GDS-compliant rendering validated across all major browsers via BrowserStack cloud — with instant Slack alerts on every test run.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661475" y="1217116"/>
            <a:ext cx="4204190" cy="862509"/>
          </a:xfrm>
          <a:prstGeom prst="roundRect">
            <a:avLst>
              <a:gd name="adj" fmla="val 1703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759302" y="1314946"/>
            <a:ext cx="293680" cy="293688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064" y="1395611"/>
            <a:ext cx="132156" cy="1321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9302" y="1659334"/>
            <a:ext cx="4008536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Chrome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59302" y="1862931"/>
            <a:ext cx="4008536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Win 11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61475" y="2130326"/>
            <a:ext cx="4204190" cy="862509"/>
          </a:xfrm>
          <a:prstGeom prst="roundRect">
            <a:avLst>
              <a:gd name="adj" fmla="val 1703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759302" y="2228155"/>
            <a:ext cx="293680" cy="293688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064" y="2308820"/>
            <a:ext cx="132156" cy="1321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9302" y="2572544"/>
            <a:ext cx="4008536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Edge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59302" y="2776141"/>
            <a:ext cx="4008536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Win 11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661475" y="3043535"/>
            <a:ext cx="4204190" cy="862509"/>
          </a:xfrm>
          <a:prstGeom prst="roundRect">
            <a:avLst>
              <a:gd name="adj" fmla="val 1703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59302" y="3141365"/>
            <a:ext cx="293680" cy="293688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064" y="3222030"/>
            <a:ext cx="132156" cy="1321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59302" y="3485753"/>
            <a:ext cx="4008536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Firefox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759302" y="3689350"/>
            <a:ext cx="4008536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Win 11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661475" y="3956745"/>
            <a:ext cx="4204190" cy="862509"/>
          </a:xfrm>
          <a:prstGeom prst="roundRect">
            <a:avLst>
              <a:gd name="adj" fmla="val 1703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759302" y="4054574"/>
            <a:ext cx="293680" cy="293688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064" y="4135239"/>
            <a:ext cx="132156" cy="1321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9302" y="4398963"/>
            <a:ext cx="4008536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Safari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59302" y="4602559"/>
            <a:ext cx="4008536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macOS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661475" y="4876304"/>
            <a:ext cx="4204190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BrowserStack Integration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086251"/>
            <a:ext cx="4204190" cy="54352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2801" y="5196780"/>
            <a:ext cx="3932338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CDP WebSocket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822801" y="5400377"/>
            <a:ext cx="3932338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Live cloud cross-browser rendering</a:t>
            </a:r>
            <a:endParaRPr lang="en-US" sz="7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5680472"/>
            <a:ext cx="4204190" cy="5435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22801" y="5791002"/>
            <a:ext cx="3932338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Coverage</a:t>
            </a:r>
            <a:endParaRPr lang="en-US" sz="950" dirty="0"/>
          </a:p>
        </p:txBody>
      </p:sp>
      <p:sp>
        <p:nvSpPr>
          <p:cNvPr id="30" name="Text 22"/>
          <p:cNvSpPr/>
          <p:nvPr/>
        </p:nvSpPr>
        <p:spPr>
          <a:xfrm>
            <a:off x="822801" y="5994598"/>
            <a:ext cx="3932338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 browsers × 2 OS = full GDS matrix</a:t>
            </a:r>
            <a:endParaRPr lang="en-US" sz="750" dirty="0"/>
          </a:p>
        </p:txBody>
      </p:sp>
      <p:sp>
        <p:nvSpPr>
          <p:cNvPr id="31" name="Text 23"/>
          <p:cNvSpPr/>
          <p:nvPr/>
        </p:nvSpPr>
        <p:spPr>
          <a:xfrm>
            <a:off x="5110729" y="1210766"/>
            <a:ext cx="6425742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🔔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Real-Time Slack Alerts</a:t>
            </a:r>
            <a:endParaRPr lang="en-US" sz="9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110729" y="1420713"/>
            <a:ext cx="6425742" cy="54352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272055" y="1531243"/>
            <a:ext cx="6153889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Test Results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5272055" y="1734840"/>
            <a:ext cx="6153889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Pass/Fail counts, pass rate &amp; failed test names</a:t>
            </a:r>
            <a:endParaRPr lang="en-US" sz="7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10729" y="2014934"/>
            <a:ext cx="6425742" cy="5435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272055" y="2125464"/>
            <a:ext cx="6153889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🔗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Report Links</a:t>
            </a:r>
            <a:endParaRPr lang="en-US" sz="950" dirty="0"/>
          </a:p>
        </p:txBody>
      </p:sp>
      <p:sp>
        <p:nvSpPr>
          <p:cNvPr id="37" name="Text 27"/>
          <p:cNvSpPr/>
          <p:nvPr/>
        </p:nvSpPr>
        <p:spPr>
          <a:xfrm>
            <a:off x="5272055" y="2329061"/>
            <a:ext cx="6153889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Allure report &amp; pipeline links with duration</a:t>
            </a:r>
            <a:endParaRPr lang="en-US" sz="75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10729" y="2609155"/>
            <a:ext cx="6425742" cy="54352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272055" y="2719685"/>
            <a:ext cx="6153889" cy="15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🛡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Security Alerts</a:t>
            </a:r>
            <a:endParaRPr lang="en-US" sz="950" dirty="0"/>
          </a:p>
        </p:txBody>
      </p:sp>
      <p:sp>
        <p:nvSpPr>
          <p:cNvPr id="40" name="Text 29"/>
          <p:cNvSpPr/>
          <p:nvPr/>
        </p:nvSpPr>
        <p:spPr>
          <a:xfrm>
            <a:off x="5272055" y="2923282"/>
            <a:ext cx="6153889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ZAP vulnerability counts &amp; k6 Web Vitals summary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9098"/>
            <a:ext cx="1378511" cy="183654"/>
          </a:xfrm>
          <a:prstGeom prst="roundRect">
            <a:avLst>
              <a:gd name="adj" fmla="val 7902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002" y="602555"/>
            <a:ext cx="96736" cy="967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9056" y="595313"/>
            <a:ext cx="1697987" cy="11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MANUAL LOGGING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61475" y="773609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Automated Failure Reporting &amp; Migration from Legacy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661475" y="1267420"/>
            <a:ext cx="1147833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When tests fail, the system instantly captures and broadcasts everything your team needs — no human intervention required. Built on a modernised stack migrated from legacy tooling.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4363" y="1513086"/>
            <a:ext cx="4121345" cy="4785717"/>
          </a:xfrm>
          <a:prstGeom prst="roundRect">
            <a:avLst>
              <a:gd name="adj" fmla="val 440"/>
            </a:avLst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695208" y="1590377"/>
            <a:ext cx="387965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Triggers Automatically When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208" y="1866404"/>
            <a:ext cx="3879654" cy="6920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9552" y="1999952"/>
            <a:ext cx="356176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Functional Test Fails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79552" y="2266255"/>
            <a:ext cx="3561765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Any failing Cypress or integration test triggers the pipeline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208" y="2635746"/>
            <a:ext cx="3879654" cy="6920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9552" y="2769295"/>
            <a:ext cx="356176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Allure Report Shows Failures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79552" y="3035598"/>
            <a:ext cx="3561765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Report generation detects and flags failed scenarios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95208" y="3414812"/>
            <a:ext cx="3879654" cy="358080"/>
          </a:xfrm>
          <a:prstGeom prst="roundRect">
            <a:avLst>
              <a:gd name="adj" fmla="val 5066"/>
            </a:avLst>
          </a:prstGeom>
          <a:solidFill>
            <a:srgbClr val="183A1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054" y="3574355"/>
            <a:ext cx="151106" cy="1208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88006" y="3514527"/>
            <a:ext cx="3975596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✅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Zero manual logging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failures reported instantly to Slack.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695208" y="3859907"/>
            <a:ext cx="387965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Migration from Legacy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208" y="4135934"/>
            <a:ext cx="604624" cy="103792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77122" y="4256782"/>
            <a:ext cx="319774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Legacy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1377122" y="4523085"/>
            <a:ext cx="3197740" cy="529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Selenium / Java / Cucumber</a:t>
            </a:r>
            <a:endParaRPr lang="en-US" sz="950" dirty="0"/>
          </a:p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Manual Postman tests</a:t>
            </a:r>
            <a:endParaRPr lang="en-US" sz="950" dirty="0"/>
          </a:p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CI/CD pipeline</a:t>
            </a:r>
            <a:endParaRPr lang="en-US" sz="9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208" y="5173861"/>
            <a:ext cx="604624" cy="103792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77122" y="5294709"/>
            <a:ext cx="3197740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Migrated To</a:t>
            </a:r>
            <a:endParaRPr lang="en-US" sz="1150" dirty="0"/>
          </a:p>
        </p:txBody>
      </p:sp>
      <p:sp>
        <p:nvSpPr>
          <p:cNvPr id="24" name="Text 16"/>
          <p:cNvSpPr/>
          <p:nvPr/>
        </p:nvSpPr>
        <p:spPr>
          <a:xfrm>
            <a:off x="1377122" y="5561013"/>
            <a:ext cx="3197740" cy="529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Playwright / TypeScript</a:t>
            </a:r>
            <a:endParaRPr lang="en-US" sz="950" dirty="0"/>
          </a:p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API tests</a:t>
            </a:r>
            <a:endParaRPr lang="en-US" sz="950" dirty="0"/>
          </a:p>
          <a:p>
            <a:pPr algn="l" marL="193040" indent="-193040">
              <a:lnSpc>
                <a:spcPct val="109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GitLab CI/CD</a:t>
            </a:r>
            <a:endParaRPr lang="en-US" sz="950" dirty="0"/>
          </a:p>
        </p:txBody>
      </p:sp>
      <p:sp>
        <p:nvSpPr>
          <p:cNvPr id="25" name="Text 17"/>
          <p:cNvSpPr/>
          <p:nvPr/>
        </p:nvSpPr>
        <p:spPr>
          <a:xfrm>
            <a:off x="4910015" y="1590377"/>
            <a:ext cx="662645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Every Failure Report Includes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910015" y="1866404"/>
            <a:ext cx="2157259" cy="1106686"/>
          </a:xfrm>
          <a:prstGeom prst="roundRect">
            <a:avLst>
              <a:gd name="adj" fmla="val 1639"/>
            </a:avLst>
          </a:prstGeom>
          <a:solidFill>
            <a:srgbClr val="F2EEEE"/>
          </a:solidFill>
          <a:ln/>
        </p:spPr>
      </p:sp>
      <p:sp>
        <p:nvSpPr>
          <p:cNvPr id="27" name="Shape 19"/>
          <p:cNvSpPr/>
          <p:nvPr/>
        </p:nvSpPr>
        <p:spPr>
          <a:xfrm>
            <a:off x="5030860" y="1987252"/>
            <a:ext cx="362735" cy="362744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30572" y="2086967"/>
            <a:ext cx="163211" cy="163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030860" y="2427288"/>
            <a:ext cx="191556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Pipeline Link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5030860" y="2693591"/>
            <a:ext cx="191556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 URL to the CI run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7144563" y="1866404"/>
            <a:ext cx="2157259" cy="1106686"/>
          </a:xfrm>
          <a:prstGeom prst="roundRect">
            <a:avLst>
              <a:gd name="adj" fmla="val 1639"/>
            </a:avLst>
          </a:prstGeom>
          <a:solidFill>
            <a:srgbClr val="F2EEEE"/>
          </a:solidFill>
          <a:ln/>
        </p:spPr>
      </p:sp>
      <p:sp>
        <p:nvSpPr>
          <p:cNvPr id="32" name="Shape 23"/>
          <p:cNvSpPr/>
          <p:nvPr/>
        </p:nvSpPr>
        <p:spPr>
          <a:xfrm>
            <a:off x="7265409" y="1987252"/>
            <a:ext cx="362735" cy="362744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65121" y="2086967"/>
            <a:ext cx="163211" cy="16321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265409" y="2427288"/>
            <a:ext cx="191556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Branch &amp; Env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7265409" y="2693591"/>
            <a:ext cx="191556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Exact context of failure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9379112" y="1866404"/>
            <a:ext cx="2157259" cy="1106686"/>
          </a:xfrm>
          <a:prstGeom prst="roundRect">
            <a:avLst>
              <a:gd name="adj" fmla="val 1639"/>
            </a:avLst>
          </a:prstGeom>
          <a:solidFill>
            <a:srgbClr val="F2EEEE"/>
          </a:solidFill>
          <a:ln/>
        </p:spPr>
      </p:sp>
      <p:sp>
        <p:nvSpPr>
          <p:cNvPr id="37" name="Shape 27"/>
          <p:cNvSpPr/>
          <p:nvPr/>
        </p:nvSpPr>
        <p:spPr>
          <a:xfrm>
            <a:off x="9499958" y="1987252"/>
            <a:ext cx="362735" cy="362744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99670" y="2086967"/>
            <a:ext cx="163211" cy="163215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499958" y="2427288"/>
            <a:ext cx="191556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Tags Used</a:t>
            </a:r>
            <a:endParaRPr lang="en-US" sz="1150" dirty="0"/>
          </a:p>
        </p:txBody>
      </p:sp>
      <p:sp>
        <p:nvSpPr>
          <p:cNvPr id="40" name="Text 29"/>
          <p:cNvSpPr/>
          <p:nvPr/>
        </p:nvSpPr>
        <p:spPr>
          <a:xfrm>
            <a:off x="9499958" y="2693591"/>
            <a:ext cx="191556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 scope of the run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4910015" y="3050381"/>
            <a:ext cx="2157259" cy="1106686"/>
          </a:xfrm>
          <a:prstGeom prst="roundRect">
            <a:avLst>
              <a:gd name="adj" fmla="val 1639"/>
            </a:avLst>
          </a:prstGeom>
          <a:solidFill>
            <a:srgbClr val="F2EEEE"/>
          </a:solidFill>
          <a:ln/>
        </p:spPr>
      </p:sp>
      <p:sp>
        <p:nvSpPr>
          <p:cNvPr id="42" name="Shape 31"/>
          <p:cNvSpPr/>
          <p:nvPr/>
        </p:nvSpPr>
        <p:spPr>
          <a:xfrm>
            <a:off x="5030860" y="3171230"/>
            <a:ext cx="362735" cy="362744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30572" y="3270945"/>
            <a:ext cx="163211" cy="163215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030860" y="3611265"/>
            <a:ext cx="191556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Failure Count</a:t>
            </a:r>
            <a:endParaRPr lang="en-US" sz="1150" dirty="0"/>
          </a:p>
        </p:txBody>
      </p:sp>
      <p:sp>
        <p:nvSpPr>
          <p:cNvPr id="45" name="Text 33"/>
          <p:cNvSpPr/>
          <p:nvPr/>
        </p:nvSpPr>
        <p:spPr>
          <a:xfrm>
            <a:off x="5030860" y="3877568"/>
            <a:ext cx="191556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failed tests</a:t>
            </a:r>
            <a:endParaRPr lang="en-US" sz="950" dirty="0"/>
          </a:p>
        </p:txBody>
      </p:sp>
      <p:sp>
        <p:nvSpPr>
          <p:cNvPr id="46" name="Shape 34"/>
          <p:cNvSpPr/>
          <p:nvPr/>
        </p:nvSpPr>
        <p:spPr>
          <a:xfrm>
            <a:off x="7144563" y="3050381"/>
            <a:ext cx="2157259" cy="1106686"/>
          </a:xfrm>
          <a:prstGeom prst="roundRect">
            <a:avLst>
              <a:gd name="adj" fmla="val 1639"/>
            </a:avLst>
          </a:prstGeom>
          <a:solidFill>
            <a:srgbClr val="F2EEEE"/>
          </a:solidFill>
          <a:ln/>
        </p:spPr>
      </p:sp>
      <p:sp>
        <p:nvSpPr>
          <p:cNvPr id="47" name="Shape 35"/>
          <p:cNvSpPr/>
          <p:nvPr/>
        </p:nvSpPr>
        <p:spPr>
          <a:xfrm>
            <a:off x="7265409" y="3171230"/>
            <a:ext cx="362735" cy="362744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65121" y="3270945"/>
            <a:ext cx="163211" cy="163215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265409" y="3611265"/>
            <a:ext cx="191556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Allure Report</a:t>
            </a:r>
            <a:endParaRPr lang="en-US" sz="1150" dirty="0"/>
          </a:p>
        </p:txBody>
      </p:sp>
      <p:sp>
        <p:nvSpPr>
          <p:cNvPr id="50" name="Text 37"/>
          <p:cNvSpPr/>
          <p:nvPr/>
        </p:nvSpPr>
        <p:spPr>
          <a:xfrm>
            <a:off x="7265409" y="3877568"/>
            <a:ext cx="191556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visual test report</a:t>
            </a:r>
            <a:endParaRPr lang="en-US" sz="950" dirty="0"/>
          </a:p>
        </p:txBody>
      </p:sp>
      <p:sp>
        <p:nvSpPr>
          <p:cNvPr id="51" name="Shape 38"/>
          <p:cNvSpPr/>
          <p:nvPr/>
        </p:nvSpPr>
        <p:spPr>
          <a:xfrm>
            <a:off x="9379112" y="3050381"/>
            <a:ext cx="2157259" cy="1106686"/>
          </a:xfrm>
          <a:prstGeom prst="roundRect">
            <a:avLst>
              <a:gd name="adj" fmla="val 1639"/>
            </a:avLst>
          </a:prstGeom>
          <a:solidFill>
            <a:srgbClr val="F2EEEE"/>
          </a:solidFill>
          <a:ln/>
        </p:spPr>
      </p:sp>
      <p:sp>
        <p:nvSpPr>
          <p:cNvPr id="52" name="Shape 39"/>
          <p:cNvSpPr/>
          <p:nvPr/>
        </p:nvSpPr>
        <p:spPr>
          <a:xfrm>
            <a:off x="9499958" y="3171230"/>
            <a:ext cx="362735" cy="362744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599670" y="3270945"/>
            <a:ext cx="163211" cy="163215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9499958" y="3611265"/>
            <a:ext cx="191556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Slack Alert</a:t>
            </a:r>
            <a:endParaRPr lang="en-US" sz="1150" dirty="0"/>
          </a:p>
        </p:txBody>
      </p:sp>
      <p:sp>
        <p:nvSpPr>
          <p:cNvPr id="55" name="Text 41"/>
          <p:cNvSpPr/>
          <p:nvPr/>
        </p:nvSpPr>
        <p:spPr>
          <a:xfrm>
            <a:off x="9499958" y="3877568"/>
            <a:ext cx="191556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Instant team notification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813"/>
            <a:ext cx="10868745" cy="323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Impact &amp; Key Outcomes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56682" y="969466"/>
            <a:ext cx="11478330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Delivering measurable ROI across all 6 CMS projects through shift-left quality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06311" y="1213545"/>
            <a:ext cx="3509180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80%+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61475" y="1650008"/>
            <a:ext cx="53988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Less Manual Testing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845965"/>
            <a:ext cx="539885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Reduction in regression effort across all 6 projects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076203" y="1213545"/>
            <a:ext cx="3509180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90%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6131367" y="1650008"/>
            <a:ext cx="53988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Faster Feedback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31367" y="1845965"/>
            <a:ext cx="539885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Story-based vs full regression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06311" y="2139851"/>
            <a:ext cx="3509180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661475" y="2576314"/>
            <a:ext cx="53988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CMS Projects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1475" y="2772271"/>
            <a:ext cx="539885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Covered by automated CI/CD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76203" y="2139851"/>
            <a:ext cx="3509180" cy="342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1A7F4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6131367" y="2576314"/>
            <a:ext cx="539885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Quality Gates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31367" y="2772271"/>
            <a:ext cx="5398853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Functional · Security · Performance · Compatibility · Reporting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1475" y="3021409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Shift-Left: Defect Detection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247231"/>
            <a:ext cx="3450147" cy="248344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56682" y="5794573"/>
            <a:ext cx="5917556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defects dropped from </a:t>
            </a:r>
            <a:pPr algn="ctr" indent="0" marL="0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20% → 2%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28599" y="3021409"/>
            <a:ext cx="53079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💰</a:t>
            </a:r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Cost of Defect by Stage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599" y="3247231"/>
            <a:ext cx="3450147" cy="248344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923806" y="5794573"/>
            <a:ext cx="5917556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bugs cost </a:t>
            </a:r>
            <a:pPr algn="ctr" indent="0" marL="0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£100x more</a:t>
            </a:r>
            <a:pPr algn="ct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than dev-time fixes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661475" y="6037957"/>
            <a:ext cx="10868745" cy="288131"/>
          </a:xfrm>
          <a:prstGeom prst="roundRect">
            <a:avLst>
              <a:gd name="adj" fmla="val 5397"/>
            </a:avLst>
          </a:prstGeom>
          <a:solidFill>
            <a:srgbClr val="B6FCB8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57" y="6167438"/>
            <a:ext cx="129576" cy="1035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98215" y="6120705"/>
            <a:ext cx="11038008" cy="128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Strategic Value:</a:t>
            </a:r>
            <a:pPr algn="l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 living quality platform that scales with the programme, enforces GDS standards automatically, and gives every team real-time confidence in every deployment.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2026-08-05T16:55:13Z</dcterms:created>
  <dcterms:modified xsi:type="dcterms:W3CDTF">2026-08-05T16:55:13Z</dcterms:modified>
</cp:coreProperties>
</file>