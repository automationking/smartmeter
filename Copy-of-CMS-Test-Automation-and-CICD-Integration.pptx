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embeddedFontLst>
    <p:embeddedFont>
      <p:font typeface="Crimson Pro Black"/>
      <p:regular r:id="rId201314"/>
    </p:embeddedFont>
    <p:embeddedFont>
      <p:font typeface="Crimson Pro"/>
      <p:regular r:id="rId201315"/>
    </p:embeddedFont>
    <p:embeddedFont>
      <p:font typeface="Crimson Pro SemiBold"/>
      <p:regular r:id="rId201316"/>
    </p:embeddedFont>
    <p:embeddedFont>
      <p:font typeface="Crimson Pro Bold"/>
      <p:regular r:id="rId201317"/>
    </p:embeddedFont>
    <p:embeddedFont>
      <p:font typeface="Heebo"/>
      <p:regular r:id="rId201318"/>
    </p:embeddedFont>
    <p:embeddedFont>
      <p:font typeface="Heebo SemiBold"/>
      <p:regular r:id="rId201319"/>
    </p:embeddedFont>
    <p:embeddedFont>
      <p:font typeface="Heebo Bold"/>
      <p:regular r:id="rId201320"/>
    </p:embeddedFont>
    <p:embeddedFont>
      <p:font typeface="Heebo Black"/>
      <p:regular r:id="rId2013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1"/>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image" Target="../media/image-2-1.png"/><Relationship Id="rId8" Type="http://schemas.openxmlformats.org/officeDocument/2006/relationships/image" Target="../media/image-2-2.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image" Target="../media/image-2-13.png"/><Relationship Id="rId14" Type="http://schemas.openxmlformats.org/officeDocument/2006/relationships/image" Target="../media/image-2-14.svg"/><Relationship Id="rId15" Type="http://schemas.openxmlformats.org/officeDocument/2006/relationships/image" Target="../media/image-2-15.png"/><Relationship Id="rId16" Type="http://schemas.openxmlformats.org/officeDocument/2006/relationships/image" Target="../media/image-2-16.svg"/><Relationship Id="rId17" Type="http://schemas.openxmlformats.org/officeDocument/2006/relationships/image" Target="../media/image-2-17.png"/><Relationship Id="rId18" Type="http://schemas.openxmlformats.org/officeDocument/2006/relationships/image" Target="../media/image-2-18.svg"/><Relationship Id="rId19" Type="http://schemas.openxmlformats.org/officeDocument/2006/relationships/image" Target="../media/image-2-19.png"/><Relationship Id="rId20" Type="http://schemas.openxmlformats.org/officeDocument/2006/relationships/image" Target="../media/image-2-20.svg"/><Relationship Id="rId21" Type="http://schemas.openxmlformats.org/officeDocument/2006/relationships/image" Target="../media/image-2-21.png"/><Relationship Id="rId22" Type="http://schemas.openxmlformats.org/officeDocument/2006/relationships/image" Target="../media/image-2-22.svg"/><Relationship Id="rId23" Type="http://schemas.openxmlformats.org/officeDocument/2006/relationships/image" Target="../media/image-2-23.png"/><Relationship Id="rId24" Type="http://schemas.openxmlformats.org/officeDocument/2006/relationships/image" Target="../media/image-2-24.svg"/><Relationship Id="rId25" Type="http://schemas.openxmlformats.org/officeDocument/2006/relationships/image" Target="../media/image-2-25.png"/><Relationship Id="rId26" Type="http://schemas.openxmlformats.org/officeDocument/2006/relationships/slideLayout" Target="../slideLayouts/slideLayout2.xml"/><Relationship Id="rId2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2.png"/><Relationship Id="rId9" Type="http://schemas.openxmlformats.org/officeDocument/2006/relationships/image" Target="../media/image-3-3.svg"/><Relationship Id="rId10" Type="http://schemas.openxmlformats.org/officeDocument/2006/relationships/image" Target="../media/image-3-2.png"/><Relationship Id="rId11" Type="http://schemas.openxmlformats.org/officeDocument/2006/relationships/image" Target="../media/image-3-3.sv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2.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image" Target="../media/image-7-11.png"/><Relationship Id="rId14" Type="http://schemas.openxmlformats.org/officeDocument/2006/relationships/image" Target="../media/image-7-12.svg"/><Relationship Id="rId15" Type="http://schemas.openxmlformats.org/officeDocument/2006/relationships/image" Target="../media/image-7-11.png"/><Relationship Id="rId16" Type="http://schemas.openxmlformats.org/officeDocument/2006/relationships/image" Target="../media/image-7-12.svg"/><Relationship Id="rId17" Type="http://schemas.openxmlformats.org/officeDocument/2006/relationships/image" Target="../media/image-7-11.png"/><Relationship Id="rId18" Type="http://schemas.openxmlformats.org/officeDocument/2006/relationships/image" Target="../media/image-7-12.svg"/><Relationship Id="rId19" Type="http://schemas.openxmlformats.org/officeDocument/2006/relationships/image" Target="../media/image-7-19.png"/><Relationship Id="rId20" Type="http://schemas.openxmlformats.org/officeDocument/2006/relationships/image" Target="../media/image-7-20.svg"/><Relationship Id="rId21" Type="http://schemas.openxmlformats.org/officeDocument/2006/relationships/image" Target="../media/image-7-8.png"/><Relationship Id="rId22" Type="http://schemas.openxmlformats.org/officeDocument/2006/relationships/image" Target="../media/image-7-9.svg"/><Relationship Id="rId23" Type="http://schemas.openxmlformats.org/officeDocument/2006/relationships/image" Target="../media/image-7-23.png"/><Relationship Id="rId24" Type="http://schemas.openxmlformats.org/officeDocument/2006/relationships/image" Target="../media/image-7-24.svg"/><Relationship Id="rId25" Type="http://schemas.openxmlformats.org/officeDocument/2006/relationships/image" Target="../media/image-7-25.png"/><Relationship Id="rId26" Type="http://schemas.openxmlformats.org/officeDocument/2006/relationships/slideLayout" Target="../slideLayouts/slideLayout2.xml"/><Relationship Id="rId2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9.png"/><Relationship Id="rId12" Type="http://schemas.openxmlformats.org/officeDocument/2006/relationships/image" Target="../media/image-9-10.svg"/><Relationship Id="rId13" Type="http://schemas.openxmlformats.org/officeDocument/2006/relationships/image" Target="../media/image-9-9.png"/><Relationship Id="rId14" Type="http://schemas.openxmlformats.org/officeDocument/2006/relationships/image" Target="../media/image-9-10.svg"/><Relationship Id="rId15" Type="http://schemas.openxmlformats.org/officeDocument/2006/relationships/image" Target="../media/image-9-15.png"/><Relationship Id="rId16" Type="http://schemas.openxmlformats.org/officeDocument/2006/relationships/image" Target="../media/image-9-16.svg"/><Relationship Id="rId17" Type="http://schemas.openxmlformats.org/officeDocument/2006/relationships/image" Target="../media/image-9-17.png"/><Relationship Id="rId18" Type="http://schemas.openxmlformats.org/officeDocument/2006/relationships/image" Target="../media/image-9-18.svg"/><Relationship Id="rId19" Type="http://schemas.openxmlformats.org/officeDocument/2006/relationships/image" Target="../media/image-9-15.png"/><Relationship Id="rId20" Type="http://schemas.openxmlformats.org/officeDocument/2006/relationships/image" Target="../media/image-9-16.svg"/><Relationship Id="rId21" Type="http://schemas.openxmlformats.org/officeDocument/2006/relationships/image" Target="../media/image-9-21.png"/><Relationship Id="rId22" Type="http://schemas.openxmlformats.org/officeDocument/2006/relationships/image" Target="../media/image-9-22.svg"/><Relationship Id="rId23" Type="http://schemas.openxmlformats.org/officeDocument/2006/relationships/image" Target="../media/image-9-15.png"/><Relationship Id="rId24" Type="http://schemas.openxmlformats.org/officeDocument/2006/relationships/image" Target="../media/image-9-16.svg"/><Relationship Id="rId25" Type="http://schemas.openxmlformats.org/officeDocument/2006/relationships/image" Target="../media/image-9-25.png"/><Relationship Id="rId26" Type="http://schemas.openxmlformats.org/officeDocument/2006/relationships/image" Target="../media/image-9-26.svg"/><Relationship Id="rId27" Type="http://schemas.openxmlformats.org/officeDocument/2006/relationships/slideLayout" Target="../slideLayouts/slideLayout2.xml"/><Relationship Id="rId2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2.png"/><Relationship Id="rId5" Type="http://schemas.openxmlformats.org/officeDocument/2006/relationships/image" Target="../media/image-10-3.sv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image" Target="../media/image-10-13.png"/><Relationship Id="rId14" Type="http://schemas.openxmlformats.org/officeDocument/2006/relationships/image" Target="../media/image-10-14.svg"/><Relationship Id="rId15" Type="http://schemas.openxmlformats.org/officeDocument/2006/relationships/image" Target="../media/image-10-15.png"/><Relationship Id="rId16" Type="http://schemas.openxmlformats.org/officeDocument/2006/relationships/image" Target="../media/image-10-16.svg"/><Relationship Id="rId17" Type="http://schemas.openxmlformats.org/officeDocument/2006/relationships/image" Target="../media/image-10-17.png"/><Relationship Id="rId18" Type="http://schemas.openxmlformats.org/officeDocument/2006/relationships/image" Target="../media/image-10-18.sv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image" Target="../media/image-10-23.svg"/><Relationship Id="rId24" Type="http://schemas.openxmlformats.org/officeDocument/2006/relationships/image" Target="../media/image-10-24.png"/><Relationship Id="rId25" Type="http://schemas.openxmlformats.org/officeDocument/2006/relationships/image" Target="../media/image-10-25.svg"/><Relationship Id="rId26" Type="http://schemas.openxmlformats.org/officeDocument/2006/relationships/image" Target="../media/image-10-26.png"/><Relationship Id="rId27" Type="http://schemas.openxmlformats.org/officeDocument/2006/relationships/image" Target="../media/image-10-27.svg"/><Relationship Id="rId28" Type="http://schemas.openxmlformats.org/officeDocument/2006/relationships/image" Target="../media/image-10-28.png"/><Relationship Id="rId29" Type="http://schemas.openxmlformats.org/officeDocument/2006/relationships/image" Target="../media/image-10-29.svg"/><Relationship Id="rId30" Type="http://schemas.openxmlformats.org/officeDocument/2006/relationships/image" Target="../media/image-10-30.png"/><Relationship Id="rId31" Type="http://schemas.openxmlformats.org/officeDocument/2006/relationships/image" Target="../media/image-10-31.svg"/><Relationship Id="rId32" Type="http://schemas.openxmlformats.org/officeDocument/2006/relationships/slideLayout" Target="../slideLayouts/slideLayout2.xml"/><Relationship Id="rId3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8-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image" Target="../media/image-11-5.png"/><Relationship Id="rId10" Type="http://schemas.openxmlformats.org/officeDocument/2006/relationships/image" Target="../media/image-11-6.svg"/><Relationship Id="rId11" Type="http://schemas.openxmlformats.org/officeDocument/2006/relationships/image" Target="../media/image-11-11.png"/><Relationship Id="rId12" Type="http://schemas.openxmlformats.org/officeDocument/2006/relationships/image" Target="../media/image-11-12.svg"/><Relationship Id="rId13" Type="http://schemas.openxmlformats.org/officeDocument/2006/relationships/image" Target="../media/image-11-5.png"/><Relationship Id="rId14" Type="http://schemas.openxmlformats.org/officeDocument/2006/relationships/image" Target="../media/image-11-6.svg"/><Relationship Id="rId15" Type="http://schemas.openxmlformats.org/officeDocument/2006/relationships/image" Target="../media/image-11-15.png"/><Relationship Id="rId16" Type="http://schemas.openxmlformats.org/officeDocument/2006/relationships/image" Target="../media/image-11-16.svg"/><Relationship Id="rId17" Type="http://schemas.openxmlformats.org/officeDocument/2006/relationships/image" Target="../media/image-11-5.png"/><Relationship Id="rId18" Type="http://schemas.openxmlformats.org/officeDocument/2006/relationships/image" Target="../media/image-11-6.svg"/><Relationship Id="rId19" Type="http://schemas.openxmlformats.org/officeDocument/2006/relationships/image" Target="../media/image-11-19.png"/><Relationship Id="rId20" Type="http://schemas.openxmlformats.org/officeDocument/2006/relationships/image" Target="../media/image-11-20.svg"/><Relationship Id="rId21" Type="http://schemas.openxmlformats.org/officeDocument/2006/relationships/image" Target="../media/image-11-5.png"/><Relationship Id="rId22" Type="http://schemas.openxmlformats.org/officeDocument/2006/relationships/image" Target="../media/image-11-6.svg"/><Relationship Id="rId23" Type="http://schemas.openxmlformats.org/officeDocument/2006/relationships/image" Target="../media/image-11-23.png"/><Relationship Id="rId24" Type="http://schemas.openxmlformats.org/officeDocument/2006/relationships/image" Target="../media/image-11-24.svg"/><Relationship Id="rId25" Type="http://schemas.openxmlformats.org/officeDocument/2006/relationships/image" Target="../media/image-11-5.png"/><Relationship Id="rId26" Type="http://schemas.openxmlformats.org/officeDocument/2006/relationships/image" Target="../media/image-11-6.svg"/><Relationship Id="rId27" Type="http://schemas.openxmlformats.org/officeDocument/2006/relationships/image" Target="../media/image-11-27.png"/><Relationship Id="rId28" Type="http://schemas.openxmlformats.org/officeDocument/2006/relationships/image" Target="../media/image-11-28.svg"/><Relationship Id="rId29" Type="http://schemas.openxmlformats.org/officeDocument/2006/relationships/image" Target="../media/image-11-29.png"/><Relationship Id="rId30" Type="http://schemas.openxmlformats.org/officeDocument/2006/relationships/image" Target="../media/image-11-30.png"/><Relationship Id="rId31" Type="http://schemas.openxmlformats.org/officeDocument/2006/relationships/image" Target="../media/image-11-31.svg"/><Relationship Id="rId32" Type="http://schemas.openxmlformats.org/officeDocument/2006/relationships/image" Target="../media/image-11-30.png"/><Relationship Id="rId33" Type="http://schemas.openxmlformats.org/officeDocument/2006/relationships/image" Target="../media/image-11-31.svg"/><Relationship Id="rId34" Type="http://schemas.openxmlformats.org/officeDocument/2006/relationships/image" Target="../media/image-11-30.png"/><Relationship Id="rId35" Type="http://schemas.openxmlformats.org/officeDocument/2006/relationships/image" Target="../media/image-11-31.svg"/><Relationship Id="rId36" Type="http://schemas.openxmlformats.org/officeDocument/2006/relationships/image" Target="../media/image-11-30.png"/><Relationship Id="rId37" Type="http://schemas.openxmlformats.org/officeDocument/2006/relationships/image" Target="../media/image-11-31.svg"/><Relationship Id="rId38" Type="http://schemas.openxmlformats.org/officeDocument/2006/relationships/image" Target="../media/image-11-30.png"/><Relationship Id="rId39" Type="http://schemas.openxmlformats.org/officeDocument/2006/relationships/image" Target="../media/image-11-31.svg"/><Relationship Id="rId40" Type="http://schemas.openxmlformats.org/officeDocument/2006/relationships/image" Target="../media/image-11-40.png"/><Relationship Id="rId41" Type="http://schemas.openxmlformats.org/officeDocument/2006/relationships/image" Target="../media/image-11-41.svg"/><Relationship Id="rId42" Type="http://schemas.openxmlformats.org/officeDocument/2006/relationships/image" Target="../media/image-11-40.png"/><Relationship Id="rId43" Type="http://schemas.openxmlformats.org/officeDocument/2006/relationships/image" Target="../media/image-11-41.svg"/><Relationship Id="rId44" Type="http://schemas.openxmlformats.org/officeDocument/2006/relationships/image" Target="../media/image-11-40.png"/><Relationship Id="rId45" Type="http://schemas.openxmlformats.org/officeDocument/2006/relationships/image" Target="../media/image-11-41.svg"/><Relationship Id="rId46" Type="http://schemas.openxmlformats.org/officeDocument/2006/relationships/image" Target="../media/image-11-40.png"/><Relationship Id="rId47" Type="http://schemas.openxmlformats.org/officeDocument/2006/relationships/image" Target="../media/image-11-41.svg"/><Relationship Id="rId48" Type="http://schemas.openxmlformats.org/officeDocument/2006/relationships/image" Target="../media/image-11-40.png"/><Relationship Id="rId49" Type="http://schemas.openxmlformats.org/officeDocument/2006/relationships/image" Target="../media/image-11-41.svg"/><Relationship Id="rId50" Type="http://schemas.openxmlformats.org/officeDocument/2006/relationships/image" Target="../media/image-11-50.png"/><Relationship Id="rId51" Type="http://schemas.openxmlformats.org/officeDocument/2006/relationships/slideLayout" Target="../slideLayouts/slideLayout2.xml"/><Relationship Id="rId5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svg"/><Relationship Id="rId4" Type="http://schemas.openxmlformats.org/officeDocument/2006/relationships/image" Target="../media/image-12-4.png"/><Relationship Id="rId5" Type="http://schemas.openxmlformats.org/officeDocument/2006/relationships/image" Target="../media/image-12-5.svg"/><Relationship Id="rId6" Type="http://schemas.openxmlformats.org/officeDocument/2006/relationships/image" Target="../media/image-12-6.png"/><Relationship Id="rId7" Type="http://schemas.openxmlformats.org/officeDocument/2006/relationships/image" Target="../media/image-12-7.sv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F2EEEE"/>
          </a:solidFill>
          <a:ln/>
        </p:spPr>
      </p:sp>
      <p:pic>
        <p:nvPicPr>
          <p:cNvPr id="3" name="Image 0" descr="preencoded.png">    </p:cNvPr>
          <p:cNvPicPr>
            <a:picLocks noChangeAspect="1"/>
          </p:cNvPicPr>
          <p:nvPr/>
        </p:nvPicPr>
        <p:blipFill>
          <a:blip r:embed="rId1"/>
          <a:stretch>
            <a:fillRect/>
          </a:stretch>
        </p:blipFill>
        <p:spPr>
          <a:xfrm>
            <a:off x="7714263" y="506909"/>
            <a:ext cx="4382879" cy="5844084"/>
          </a:xfrm>
          <a:prstGeom prst="rect">
            <a:avLst/>
          </a:prstGeom>
        </p:spPr>
      </p:pic>
      <p:sp>
        <p:nvSpPr>
          <p:cNvPr id="4" name="Shape 1"/>
          <p:cNvSpPr/>
          <p:nvPr/>
        </p:nvSpPr>
        <p:spPr>
          <a:xfrm>
            <a:off x="661475" y="1261864"/>
            <a:ext cx="3838479" cy="287139"/>
          </a:xfrm>
          <a:prstGeom prst="roundRect">
            <a:avLst>
              <a:gd name="adj" fmla="val 7899"/>
            </a:avLst>
          </a:prstGeom>
          <a:solidFill>
            <a:srgbClr val="CCD7FF"/>
          </a:solidFill>
          <a:ln/>
        </p:spPr>
      </p:sp>
      <p:sp>
        <p:nvSpPr>
          <p:cNvPr id="5" name="Text 2"/>
          <p:cNvSpPr/>
          <p:nvPr/>
        </p:nvSpPr>
        <p:spPr>
          <a:xfrm>
            <a:off x="774879" y="1318518"/>
            <a:ext cx="4221255" cy="173831"/>
          </a:xfrm>
          <a:prstGeom prst="rect">
            <a:avLst/>
          </a:prstGeom>
          <a:noFill/>
          <a:ln/>
        </p:spPr>
        <p:txBody>
          <a:bodyPr wrap="none" lIns="0" tIns="0" rIns="0" bIns="0" rtlCol="0" anchor="t"/>
          <a:lstStyle/>
          <a:p>
            <a:pPr algn="l" indent="0" marL="0">
              <a:lnSpc>
                <a:spcPct val="96000"/>
              </a:lnSpc>
              <a:buNone/>
            </a:pPr>
            <a:r>
              <a:rPr lang="en-US" sz="1150" dirty="0">
                <a:solidFill>
                  <a:srgbClr val="4C4C4D"/>
                </a:solidFill>
                <a:latin typeface="Heebo" pitchFamily="34" charset="0"/>
                <a:ea typeface="Heebo" pitchFamily="34" charset="-122"/>
                <a:cs typeface="Heebo" pitchFamily="34" charset="-120"/>
              </a:rPr>
              <a:t>CHILD MAINTENANCE SERVICE — DIGITAL CHANNEL</a:t>
            </a:r>
            <a:endParaRPr lang="en-US" sz="1150" dirty="0"/>
          </a:p>
        </p:txBody>
      </p:sp>
      <p:sp>
        <p:nvSpPr>
          <p:cNvPr id="6" name="Shape 3"/>
          <p:cNvSpPr/>
          <p:nvPr/>
        </p:nvSpPr>
        <p:spPr>
          <a:xfrm>
            <a:off x="4594408" y="1261864"/>
            <a:ext cx="937197" cy="287139"/>
          </a:xfrm>
          <a:prstGeom prst="roundRect">
            <a:avLst>
              <a:gd name="adj" fmla="val 7899"/>
            </a:avLst>
          </a:prstGeom>
          <a:noFill/>
          <a:ln w="6350">
            <a:solidFill>
              <a:srgbClr val="2150FE"/>
            </a:solidFill>
            <a:prstDash val="solid"/>
          </a:ln>
        </p:spPr>
      </p:sp>
      <p:sp>
        <p:nvSpPr>
          <p:cNvPr id="7" name="Text 4"/>
          <p:cNvSpPr/>
          <p:nvPr/>
        </p:nvSpPr>
        <p:spPr>
          <a:xfrm>
            <a:off x="4707812" y="1318518"/>
            <a:ext cx="1319973" cy="173831"/>
          </a:xfrm>
          <a:prstGeom prst="rect">
            <a:avLst/>
          </a:prstGeom>
          <a:noFill/>
          <a:ln/>
        </p:spPr>
        <p:txBody>
          <a:bodyPr wrap="none" lIns="0" tIns="0" rIns="0" bIns="0" rtlCol="0" anchor="t"/>
          <a:lstStyle/>
          <a:p>
            <a:pPr algn="l" indent="0" marL="0">
              <a:lnSpc>
                <a:spcPct val="96000"/>
              </a:lnSpc>
              <a:buNone/>
            </a:pPr>
            <a:r>
              <a:rPr lang="en-US" sz="1150" dirty="0">
                <a:solidFill>
                  <a:srgbClr val="2150FE"/>
                </a:solidFill>
                <a:latin typeface="Heebo" pitchFamily="34" charset="0"/>
                <a:ea typeface="Heebo" pitchFamily="34" charset="-122"/>
                <a:cs typeface="Heebo" pitchFamily="34" charset="-120"/>
              </a:rPr>
              <a:t>JULY 2026</a:t>
            </a:r>
            <a:endParaRPr lang="en-US" sz="1150" dirty="0"/>
          </a:p>
        </p:txBody>
      </p:sp>
      <p:sp>
        <p:nvSpPr>
          <p:cNvPr id="8" name="Text 5"/>
          <p:cNvSpPr/>
          <p:nvPr/>
        </p:nvSpPr>
        <p:spPr>
          <a:xfrm>
            <a:off x="661475" y="1624608"/>
            <a:ext cx="6296860" cy="1630363"/>
          </a:xfrm>
          <a:prstGeom prst="rect">
            <a:avLst/>
          </a:prstGeom>
          <a:noFill/>
          <a:ln/>
        </p:spPr>
        <p:txBody>
          <a:bodyPr wrap="square" lIns="0" tIns="0" rIns="0" bIns="0" rtlCol="0" anchor="t">
            <a:normAutofit/>
          </a:bodyPr>
          <a:lstStyle/>
          <a:p>
            <a:pPr algn="l" indent="0" marL="0">
              <a:lnSpc>
                <a:spcPct val="104000"/>
              </a:lnSpc>
              <a:buNone/>
            </a:pPr>
            <a:r>
              <a:rPr lang="en-US" sz="5100" dirty="0">
                <a:solidFill>
                  <a:srgbClr val="152D47"/>
                </a:solidFill>
                <a:latin typeface="Crimson Pro SemiBold" pitchFamily="34" charset="0"/>
                <a:ea typeface="Crimson Pro SemiBold" pitchFamily="34" charset="-122"/>
                <a:cs typeface="Crimson Pro SemiBold" pitchFamily="34" charset="-120"/>
              </a:rPr>
              <a:t>CMS Test Automation &amp; CI/CD Integration</a:t>
            </a:r>
            <a:endParaRPr lang="en-US" sz="5100" dirty="0"/>
          </a:p>
        </p:txBody>
      </p:sp>
      <p:sp>
        <p:nvSpPr>
          <p:cNvPr id="9" name="Text 6"/>
          <p:cNvSpPr/>
          <p:nvPr/>
        </p:nvSpPr>
        <p:spPr>
          <a:xfrm>
            <a:off x="661475" y="3538438"/>
            <a:ext cx="6296860" cy="755848"/>
          </a:xfrm>
          <a:prstGeom prst="rect">
            <a:avLst/>
          </a:prstGeom>
          <a:noFill/>
          <a:ln/>
        </p:spPr>
        <p:txBody>
          <a:bodyPr wrap="square" lIns="0" tIns="0" rIns="0" bIns="0" rtlCol="0" anchor="t">
            <a:normAutofit/>
          </a:bodyPr>
          <a:lstStyle/>
          <a:p>
            <a:pPr algn="l" indent="0" marL="0">
              <a:lnSpc>
                <a:spcPct val="133000"/>
              </a:lnSpc>
              <a:buNone/>
            </a:pPr>
            <a:r>
              <a:rPr lang="en-US" sz="1850" b="1" dirty="0">
                <a:solidFill>
                  <a:srgbClr val="4C4C4D"/>
                </a:solidFill>
                <a:latin typeface="Heebo Bold" pitchFamily="34" charset="0"/>
                <a:ea typeface="Heebo Bold" pitchFamily="34" charset="-122"/>
                <a:cs typeface="Heebo Bold" pitchFamily="34" charset="-120"/>
              </a:rPr>
              <a:t>Shift-Left Quality Engineering  |  Automated Regression  |  Continuous Feedback</a:t>
            </a:r>
            <a:endParaRPr lang="en-US" sz="1850" dirty="0"/>
          </a:p>
        </p:txBody>
      </p:sp>
      <p:sp>
        <p:nvSpPr>
          <p:cNvPr id="10" name="Shape 7"/>
          <p:cNvSpPr/>
          <p:nvPr/>
        </p:nvSpPr>
        <p:spPr>
          <a:xfrm>
            <a:off x="661475" y="4506913"/>
            <a:ext cx="1972915" cy="1089124"/>
          </a:xfrm>
          <a:prstGeom prst="roundRect">
            <a:avLst>
              <a:gd name="adj" fmla="val 2603"/>
            </a:avLst>
          </a:prstGeom>
          <a:solidFill>
            <a:srgbClr val="F2EEEE"/>
          </a:solidFill>
          <a:ln/>
        </p:spPr>
      </p:sp>
      <p:sp>
        <p:nvSpPr>
          <p:cNvPr id="11" name="Text 8"/>
          <p:cNvSpPr/>
          <p:nvPr/>
        </p:nvSpPr>
        <p:spPr>
          <a:xfrm>
            <a:off x="850482" y="4695924"/>
            <a:ext cx="1594902" cy="295275"/>
          </a:xfrm>
          <a:prstGeom prst="rect">
            <a:avLst/>
          </a:prstGeom>
          <a:noFill/>
          <a:ln/>
        </p:spPr>
        <p:txBody>
          <a:bodyPr wrap="none" lIns="0" tIns="0" rIns="0" bIns="0" rtlCol="0" anchor="t"/>
          <a:lstStyle/>
          <a:p>
            <a:pPr algn="l" indent="0" marL="0">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80% Faster</a:t>
            </a:r>
            <a:endParaRPr lang="en-US" sz="1850" dirty="0"/>
          </a:p>
        </p:txBody>
      </p:sp>
      <p:sp>
        <p:nvSpPr>
          <p:cNvPr id="12" name="Text 9"/>
          <p:cNvSpPr/>
          <p:nvPr/>
        </p:nvSpPr>
        <p:spPr>
          <a:xfrm>
            <a:off x="850482" y="5104606"/>
            <a:ext cx="1594902" cy="302419"/>
          </a:xfrm>
          <a:prstGeom prst="rect">
            <a:avLst/>
          </a:prstGeom>
          <a:noFill/>
          <a:ln/>
        </p:spPr>
        <p:txBody>
          <a:bodyPr wrap="none" lIns="0" tIns="0" rIns="0" bIns="0" rtlCol="0" anchor="t"/>
          <a:lstStyle/>
          <a:p>
            <a:pPr algn="l" indent="0" marL="0">
              <a:lnSpc>
                <a:spcPct val="133000"/>
              </a:lnSpc>
              <a:buNone/>
            </a:pPr>
            <a:r>
              <a:rPr lang="en-US" sz="1450" dirty="0">
                <a:solidFill>
                  <a:srgbClr val="4C4C4D"/>
                </a:solidFill>
                <a:latin typeface="Heebo" pitchFamily="34" charset="0"/>
                <a:ea typeface="Heebo" pitchFamily="34" charset="-122"/>
                <a:cs typeface="Heebo" pitchFamily="34" charset="-120"/>
              </a:rPr>
              <a:t>Test Execution</a:t>
            </a:r>
            <a:endParaRPr lang="en-US" sz="1450" dirty="0"/>
          </a:p>
        </p:txBody>
      </p:sp>
      <p:sp>
        <p:nvSpPr>
          <p:cNvPr id="13" name="Shape 10"/>
          <p:cNvSpPr/>
          <p:nvPr/>
        </p:nvSpPr>
        <p:spPr>
          <a:xfrm>
            <a:off x="2823397" y="4506913"/>
            <a:ext cx="1972915" cy="1089124"/>
          </a:xfrm>
          <a:prstGeom prst="roundRect">
            <a:avLst>
              <a:gd name="adj" fmla="val 2603"/>
            </a:avLst>
          </a:prstGeom>
          <a:solidFill>
            <a:srgbClr val="F2EEEE"/>
          </a:solidFill>
          <a:ln/>
        </p:spPr>
      </p:sp>
      <p:sp>
        <p:nvSpPr>
          <p:cNvPr id="14" name="Text 11"/>
          <p:cNvSpPr/>
          <p:nvPr/>
        </p:nvSpPr>
        <p:spPr>
          <a:xfrm>
            <a:off x="3012404" y="4695924"/>
            <a:ext cx="1594902" cy="295275"/>
          </a:xfrm>
          <a:prstGeom prst="rect">
            <a:avLst/>
          </a:prstGeom>
          <a:noFill/>
          <a:ln/>
        </p:spPr>
        <p:txBody>
          <a:bodyPr wrap="none" lIns="0" tIns="0" rIns="0" bIns="0" rtlCol="0" anchor="t"/>
          <a:lstStyle/>
          <a:p>
            <a:pPr algn="l" indent="0" marL="0">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Zero Manual</a:t>
            </a:r>
            <a:endParaRPr lang="en-US" sz="1850" dirty="0"/>
          </a:p>
        </p:txBody>
      </p:sp>
      <p:sp>
        <p:nvSpPr>
          <p:cNvPr id="15" name="Text 12"/>
          <p:cNvSpPr/>
          <p:nvPr/>
        </p:nvSpPr>
        <p:spPr>
          <a:xfrm>
            <a:off x="3012404" y="5104606"/>
            <a:ext cx="1594902" cy="302419"/>
          </a:xfrm>
          <a:prstGeom prst="rect">
            <a:avLst/>
          </a:prstGeom>
          <a:noFill/>
          <a:ln/>
        </p:spPr>
        <p:txBody>
          <a:bodyPr wrap="none" lIns="0" tIns="0" rIns="0" bIns="0" rtlCol="0" anchor="t"/>
          <a:lstStyle/>
          <a:p>
            <a:pPr algn="l" indent="0" marL="0">
              <a:lnSpc>
                <a:spcPct val="133000"/>
              </a:lnSpc>
              <a:buNone/>
            </a:pPr>
            <a:r>
              <a:rPr lang="en-US" sz="1450" dirty="0">
                <a:solidFill>
                  <a:srgbClr val="4C4C4D"/>
                </a:solidFill>
                <a:latin typeface="Heebo" pitchFamily="34" charset="0"/>
                <a:ea typeface="Heebo" pitchFamily="34" charset="-122"/>
                <a:cs typeface="Heebo" pitchFamily="34" charset="-120"/>
              </a:rPr>
              <a:t>Regression Effort</a:t>
            </a:r>
            <a:endParaRPr lang="en-US" sz="1450" dirty="0"/>
          </a:p>
        </p:txBody>
      </p:sp>
      <p:sp>
        <p:nvSpPr>
          <p:cNvPr id="16" name="Shape 13"/>
          <p:cNvSpPr/>
          <p:nvPr/>
        </p:nvSpPr>
        <p:spPr>
          <a:xfrm>
            <a:off x="4985320" y="4506913"/>
            <a:ext cx="1972915" cy="1089124"/>
          </a:xfrm>
          <a:prstGeom prst="roundRect">
            <a:avLst>
              <a:gd name="adj" fmla="val 2603"/>
            </a:avLst>
          </a:prstGeom>
          <a:solidFill>
            <a:srgbClr val="F2EEEE"/>
          </a:solidFill>
          <a:ln/>
        </p:spPr>
      </p:sp>
      <p:sp>
        <p:nvSpPr>
          <p:cNvPr id="17" name="Text 14"/>
          <p:cNvSpPr/>
          <p:nvPr/>
        </p:nvSpPr>
        <p:spPr>
          <a:xfrm>
            <a:off x="5174327" y="4695924"/>
            <a:ext cx="1594902" cy="295275"/>
          </a:xfrm>
          <a:prstGeom prst="rect">
            <a:avLst/>
          </a:prstGeom>
          <a:noFill/>
          <a:ln/>
        </p:spPr>
        <p:txBody>
          <a:bodyPr wrap="none" lIns="0" tIns="0" rIns="0" bIns="0" rtlCol="0" anchor="t"/>
          <a:lstStyle/>
          <a:p>
            <a:pPr algn="l" indent="0" marL="0">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Continuous</a:t>
            </a:r>
            <a:endParaRPr lang="en-US" sz="1850" dirty="0"/>
          </a:p>
        </p:txBody>
      </p:sp>
      <p:sp>
        <p:nvSpPr>
          <p:cNvPr id="18" name="Text 15"/>
          <p:cNvSpPr/>
          <p:nvPr/>
        </p:nvSpPr>
        <p:spPr>
          <a:xfrm>
            <a:off x="5174327" y="5104606"/>
            <a:ext cx="1594902" cy="302419"/>
          </a:xfrm>
          <a:prstGeom prst="rect">
            <a:avLst/>
          </a:prstGeom>
          <a:noFill/>
          <a:ln/>
        </p:spPr>
        <p:txBody>
          <a:bodyPr wrap="none" lIns="0" tIns="0" rIns="0" bIns="0" rtlCol="0" anchor="t"/>
          <a:lstStyle/>
          <a:p>
            <a:pPr algn="l" indent="0" marL="0">
              <a:lnSpc>
                <a:spcPct val="133000"/>
              </a:lnSpc>
              <a:buNone/>
            </a:pPr>
            <a:r>
              <a:rPr lang="en-US" sz="1450" dirty="0">
                <a:solidFill>
                  <a:srgbClr val="4C4C4D"/>
                </a:solidFill>
                <a:latin typeface="Heebo" pitchFamily="34" charset="0"/>
                <a:ea typeface="Heebo" pitchFamily="34" charset="-122"/>
                <a:cs typeface="Heebo" pitchFamily="34" charset="-120"/>
              </a:rPr>
              <a:t>Quality Feedback</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534690"/>
            <a:ext cx="1171050" cy="125313"/>
          </a:xfrm>
          <a:prstGeom prst="roundRect">
            <a:avLst>
              <a:gd name="adj" fmla="val 7905"/>
            </a:avLst>
          </a:prstGeom>
          <a:solidFill>
            <a:srgbClr val="CCD7FF"/>
          </a:solidFill>
          <a:ln/>
        </p:spPr>
      </p:sp>
      <p:sp>
        <p:nvSpPr>
          <p:cNvPr id="3" name="Text 1"/>
          <p:cNvSpPr/>
          <p:nvPr/>
        </p:nvSpPr>
        <p:spPr>
          <a:xfrm>
            <a:off x="710984" y="559395"/>
            <a:ext cx="1681617" cy="75902"/>
          </a:xfrm>
          <a:prstGeom prst="rect">
            <a:avLst/>
          </a:prstGeom>
          <a:noFill/>
          <a:ln/>
        </p:spPr>
        <p:txBody>
          <a:bodyPr wrap="none" lIns="0" tIns="0" rIns="0" bIns="0" rtlCol="0" anchor="t"/>
          <a:lstStyle/>
          <a:p>
            <a:pPr algn="l" indent="0" marL="0">
              <a:lnSpc>
                <a:spcPct val="96000"/>
              </a:lnSpc>
              <a:buNone/>
            </a:pPr>
            <a:r>
              <a:rPr lang="en-US" sz="500" dirty="0">
                <a:solidFill>
                  <a:srgbClr val="4C4C4D"/>
                </a:solidFill>
                <a:latin typeface="Heebo" pitchFamily="34" charset="0"/>
                <a:ea typeface="Heebo" pitchFamily="34" charset="-122"/>
                <a:cs typeface="Heebo" pitchFamily="34" charset="-120"/>
              </a:rPr>
              <a:t>CMS DIGITAL CHANNEL · JULY 2026</a:t>
            </a:r>
            <a:endParaRPr lang="en-US" sz="500" dirty="0"/>
          </a:p>
        </p:txBody>
      </p:sp>
      <p:sp>
        <p:nvSpPr>
          <p:cNvPr id="4" name="Text 2"/>
          <p:cNvSpPr/>
          <p:nvPr/>
        </p:nvSpPr>
        <p:spPr>
          <a:xfrm>
            <a:off x="661475" y="674390"/>
            <a:ext cx="10868745" cy="257969"/>
          </a:xfrm>
          <a:prstGeom prst="rect">
            <a:avLst/>
          </a:prstGeom>
          <a:noFill/>
          <a:ln/>
        </p:spPr>
        <p:txBody>
          <a:bodyPr wrap="none" lIns="0" tIns="0" rIns="0" bIns="0" rtlCol="0" anchor="t"/>
          <a:lstStyle/>
          <a:p>
            <a:pPr algn="ctr" indent="0" marL="0">
              <a:lnSpc>
                <a:spcPct val="104000"/>
              </a:lnSpc>
              <a:buNone/>
            </a:pPr>
            <a:r>
              <a:rPr lang="en-US" sz="1600" dirty="0">
                <a:solidFill>
                  <a:srgbClr val="152D47"/>
                </a:solidFill>
                <a:latin typeface="Crimson Pro SemiBold" pitchFamily="34" charset="0"/>
                <a:ea typeface="Crimson Pro SemiBold" pitchFamily="34" charset="-122"/>
                <a:cs typeface="Crimson Pro SemiBold" pitchFamily="34" charset="-120"/>
              </a:rPr>
              <a:t>Executive Summary</a:t>
            </a:r>
            <a:endParaRPr lang="en-US" sz="1600" dirty="0"/>
          </a:p>
        </p:txBody>
      </p:sp>
      <p:sp>
        <p:nvSpPr>
          <p:cNvPr id="5" name="Text 3"/>
          <p:cNvSpPr/>
          <p:nvPr/>
        </p:nvSpPr>
        <p:spPr>
          <a:xfrm>
            <a:off x="356682" y="986433"/>
            <a:ext cx="11478330" cy="94853"/>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A comprehensive shift-left quality engineering programme delivering automated CI/CD test pipelines across all 6 CMS Digital Channel projects — eliminating manual regression, enabling continuous delivery confidence, and surfacing defects instantly.</a:t>
            </a:r>
            <a:endParaRPr lang="en-US" sz="600" dirty="0"/>
          </a:p>
        </p:txBody>
      </p:sp>
      <p:sp>
        <p:nvSpPr>
          <p:cNvPr id="6" name="Text 4"/>
          <p:cNvSpPr/>
          <p:nvPr/>
        </p:nvSpPr>
        <p:spPr>
          <a:xfrm>
            <a:off x="1608593" y="1163042"/>
            <a:ext cx="3517614" cy="272455"/>
          </a:xfrm>
          <a:prstGeom prst="rect">
            <a:avLst/>
          </a:prstGeom>
          <a:noFill/>
          <a:ln/>
        </p:spPr>
        <p:txBody>
          <a:bodyPr wrap="none" lIns="0" tIns="0" rIns="0" bIns="0" rtlCol="0" anchor="t"/>
          <a:lstStyle/>
          <a:p>
            <a:pPr algn="ctr" indent="0" marL="0">
              <a:lnSpc>
                <a:spcPct val="83000"/>
              </a:lnSpc>
              <a:buNone/>
            </a:pPr>
            <a:r>
              <a:rPr lang="en-US" sz="2100" dirty="0">
                <a:solidFill>
                  <a:srgbClr val="4C4C4D"/>
                </a:solidFill>
                <a:latin typeface="Crimson Pro SemiBold" pitchFamily="34" charset="0"/>
                <a:ea typeface="Crimson Pro SemiBold" pitchFamily="34" charset="-122"/>
                <a:cs typeface="Crimson Pro SemiBold" pitchFamily="34" charset="-120"/>
              </a:rPr>
              <a:t>80%+</a:t>
            </a:r>
            <a:endParaRPr lang="en-US" sz="2100" dirty="0"/>
          </a:p>
        </p:txBody>
      </p:sp>
      <p:sp>
        <p:nvSpPr>
          <p:cNvPr id="7" name="Text 5"/>
          <p:cNvSpPr/>
          <p:nvPr/>
        </p:nvSpPr>
        <p:spPr>
          <a:xfrm>
            <a:off x="661475" y="1503759"/>
            <a:ext cx="5411851" cy="128984"/>
          </a:xfrm>
          <a:prstGeom prst="rect">
            <a:avLst/>
          </a:prstGeom>
          <a:noFill/>
          <a:ln/>
        </p:spPr>
        <p:txBody>
          <a:bodyPr wrap="none" lIns="0" tIns="0" rIns="0" bIns="0" rtlCol="0" anchor="t"/>
          <a:lstStyle/>
          <a:p>
            <a:pPr algn="ctr"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Manual Testing Reduction</a:t>
            </a:r>
            <a:endParaRPr lang="en-US" sz="800" dirty="0"/>
          </a:p>
        </p:txBody>
      </p:sp>
      <p:sp>
        <p:nvSpPr>
          <p:cNvPr id="8" name="Text 6"/>
          <p:cNvSpPr/>
          <p:nvPr/>
        </p:nvSpPr>
        <p:spPr>
          <a:xfrm>
            <a:off x="661475" y="1654373"/>
            <a:ext cx="5411851" cy="94853"/>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Automated pipelines replaced repetitive manual regression cycles</a:t>
            </a:r>
            <a:endParaRPr lang="en-US" sz="600" dirty="0"/>
          </a:p>
        </p:txBody>
      </p:sp>
      <p:sp>
        <p:nvSpPr>
          <p:cNvPr id="9" name="Text 7"/>
          <p:cNvSpPr/>
          <p:nvPr/>
        </p:nvSpPr>
        <p:spPr>
          <a:xfrm>
            <a:off x="7065488" y="1163042"/>
            <a:ext cx="3517614" cy="272455"/>
          </a:xfrm>
          <a:prstGeom prst="rect">
            <a:avLst/>
          </a:prstGeom>
          <a:noFill/>
          <a:ln/>
        </p:spPr>
        <p:txBody>
          <a:bodyPr wrap="none" lIns="0" tIns="0" rIns="0" bIns="0" rtlCol="0" anchor="t"/>
          <a:lstStyle/>
          <a:p>
            <a:pPr algn="ctr" indent="0" marL="0">
              <a:lnSpc>
                <a:spcPct val="83000"/>
              </a:lnSpc>
              <a:buNone/>
            </a:pPr>
            <a:r>
              <a:rPr lang="en-US" sz="2100" dirty="0">
                <a:solidFill>
                  <a:srgbClr val="4C4C4D"/>
                </a:solidFill>
                <a:latin typeface="Crimson Pro SemiBold" pitchFamily="34" charset="0"/>
                <a:ea typeface="Crimson Pro SemiBold" pitchFamily="34" charset="-122"/>
                <a:cs typeface="Crimson Pro SemiBold" pitchFamily="34" charset="-120"/>
              </a:rPr>
              <a:t>6</a:t>
            </a:r>
            <a:endParaRPr lang="en-US" sz="2100" dirty="0"/>
          </a:p>
        </p:txBody>
      </p:sp>
      <p:sp>
        <p:nvSpPr>
          <p:cNvPr id="10" name="Text 8"/>
          <p:cNvSpPr/>
          <p:nvPr/>
        </p:nvSpPr>
        <p:spPr>
          <a:xfrm>
            <a:off x="6118370" y="1503759"/>
            <a:ext cx="5411851" cy="128984"/>
          </a:xfrm>
          <a:prstGeom prst="rect">
            <a:avLst/>
          </a:prstGeom>
          <a:noFill/>
          <a:ln/>
        </p:spPr>
        <p:txBody>
          <a:bodyPr wrap="none" lIns="0" tIns="0" rIns="0" bIns="0" rtlCol="0" anchor="t"/>
          <a:lstStyle/>
          <a:p>
            <a:pPr algn="ctr"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CMS Projects Covered</a:t>
            </a:r>
            <a:endParaRPr lang="en-US" sz="800" dirty="0"/>
          </a:p>
        </p:txBody>
      </p:sp>
      <p:sp>
        <p:nvSpPr>
          <p:cNvPr id="11" name="Text 9"/>
          <p:cNvSpPr/>
          <p:nvPr/>
        </p:nvSpPr>
        <p:spPr>
          <a:xfrm>
            <a:off x="6118370" y="1654373"/>
            <a:ext cx="5411851" cy="94853"/>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End-to-end CI/CD integration across all active service channels</a:t>
            </a:r>
            <a:endParaRPr lang="en-US" sz="600" dirty="0"/>
          </a:p>
        </p:txBody>
      </p:sp>
      <p:sp>
        <p:nvSpPr>
          <p:cNvPr id="12" name="Text 10"/>
          <p:cNvSpPr/>
          <p:nvPr/>
        </p:nvSpPr>
        <p:spPr>
          <a:xfrm>
            <a:off x="1608593" y="1862534"/>
            <a:ext cx="3517614" cy="272455"/>
          </a:xfrm>
          <a:prstGeom prst="rect">
            <a:avLst/>
          </a:prstGeom>
          <a:noFill/>
          <a:ln/>
        </p:spPr>
        <p:txBody>
          <a:bodyPr wrap="none" lIns="0" tIns="0" rIns="0" bIns="0" rtlCol="0" anchor="t"/>
          <a:lstStyle/>
          <a:p>
            <a:pPr algn="ctr" indent="0" marL="0">
              <a:lnSpc>
                <a:spcPct val="83000"/>
              </a:lnSpc>
              <a:buNone/>
            </a:pPr>
            <a:r>
              <a:rPr lang="en-US" sz="2100" dirty="0">
                <a:solidFill>
                  <a:srgbClr val="4C4C4D"/>
                </a:solidFill>
                <a:latin typeface="Crimson Pro SemiBold" pitchFamily="34" charset="0"/>
                <a:ea typeface="Crimson Pro SemiBold" pitchFamily="34" charset="-122"/>
                <a:cs typeface="Crimson Pro SemiBold" pitchFamily="34" charset="-120"/>
              </a:rPr>
              <a:t>4</a:t>
            </a:r>
            <a:endParaRPr lang="en-US" sz="2100" dirty="0"/>
          </a:p>
        </p:txBody>
      </p:sp>
      <p:sp>
        <p:nvSpPr>
          <p:cNvPr id="13" name="Text 11"/>
          <p:cNvSpPr/>
          <p:nvPr/>
        </p:nvSpPr>
        <p:spPr>
          <a:xfrm>
            <a:off x="661475" y="2203252"/>
            <a:ext cx="5411851" cy="128984"/>
          </a:xfrm>
          <a:prstGeom prst="rect">
            <a:avLst/>
          </a:prstGeom>
          <a:noFill/>
          <a:ln/>
        </p:spPr>
        <p:txBody>
          <a:bodyPr wrap="none" lIns="0" tIns="0" rIns="0" bIns="0" rtlCol="0" anchor="t"/>
          <a:lstStyle/>
          <a:p>
            <a:pPr algn="ctr"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Test Types Automated</a:t>
            </a:r>
            <a:endParaRPr lang="en-US" sz="800" dirty="0"/>
          </a:p>
        </p:txBody>
      </p:sp>
      <p:sp>
        <p:nvSpPr>
          <p:cNvPr id="14" name="Text 12"/>
          <p:cNvSpPr/>
          <p:nvPr/>
        </p:nvSpPr>
        <p:spPr>
          <a:xfrm>
            <a:off x="661475" y="2353866"/>
            <a:ext cx="5411851" cy="94853"/>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Regression, security, performance &amp; compatibility</a:t>
            </a:r>
            <a:endParaRPr lang="en-US" sz="600" dirty="0"/>
          </a:p>
        </p:txBody>
      </p:sp>
      <p:sp>
        <p:nvSpPr>
          <p:cNvPr id="15" name="Text 13"/>
          <p:cNvSpPr/>
          <p:nvPr/>
        </p:nvSpPr>
        <p:spPr>
          <a:xfrm>
            <a:off x="7065488" y="1862534"/>
            <a:ext cx="3517614" cy="272455"/>
          </a:xfrm>
          <a:prstGeom prst="rect">
            <a:avLst/>
          </a:prstGeom>
          <a:noFill/>
          <a:ln/>
        </p:spPr>
        <p:txBody>
          <a:bodyPr wrap="none" lIns="0" tIns="0" rIns="0" bIns="0" rtlCol="0" anchor="t"/>
          <a:lstStyle/>
          <a:p>
            <a:pPr algn="ctr" indent="0" marL="0">
              <a:lnSpc>
                <a:spcPct val="83000"/>
              </a:lnSpc>
              <a:buNone/>
            </a:pPr>
            <a:r>
              <a:rPr lang="en-US" sz="2100" dirty="0">
                <a:solidFill>
                  <a:srgbClr val="4C4C4D"/>
                </a:solidFill>
                <a:latin typeface="Crimson Pro SemiBold" pitchFamily="34" charset="0"/>
                <a:ea typeface="Crimson Pro SemiBold" pitchFamily="34" charset="-122"/>
                <a:cs typeface="Crimson Pro SemiBold" pitchFamily="34" charset="-120"/>
              </a:rPr>
              <a:t>0</a:t>
            </a:r>
            <a:endParaRPr lang="en-US" sz="2100" dirty="0"/>
          </a:p>
        </p:txBody>
      </p:sp>
      <p:sp>
        <p:nvSpPr>
          <p:cNvPr id="16" name="Text 14"/>
          <p:cNvSpPr/>
          <p:nvPr/>
        </p:nvSpPr>
        <p:spPr>
          <a:xfrm>
            <a:off x="6118370" y="2203252"/>
            <a:ext cx="5411851" cy="128984"/>
          </a:xfrm>
          <a:prstGeom prst="rect">
            <a:avLst/>
          </a:prstGeom>
          <a:noFill/>
          <a:ln/>
        </p:spPr>
        <p:txBody>
          <a:bodyPr wrap="none" lIns="0" tIns="0" rIns="0" bIns="0" rtlCol="0" anchor="t"/>
          <a:lstStyle/>
          <a:p>
            <a:pPr algn="ctr"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Manual Bug Reports</a:t>
            </a:r>
            <a:endParaRPr lang="en-US" sz="800" dirty="0"/>
          </a:p>
        </p:txBody>
      </p:sp>
      <p:sp>
        <p:nvSpPr>
          <p:cNvPr id="17" name="Text 15"/>
          <p:cNvSpPr/>
          <p:nvPr/>
        </p:nvSpPr>
        <p:spPr>
          <a:xfrm>
            <a:off x="6118370" y="2353866"/>
            <a:ext cx="5411851" cy="94853"/>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Failures surfaced instantly via automated pipeline reporting</a:t>
            </a:r>
            <a:endParaRPr lang="en-US" sz="600" dirty="0"/>
          </a:p>
        </p:txBody>
      </p:sp>
      <p:sp>
        <p:nvSpPr>
          <p:cNvPr id="18" name="Text 16"/>
          <p:cNvSpPr/>
          <p:nvPr/>
        </p:nvSpPr>
        <p:spPr>
          <a:xfrm>
            <a:off x="661475" y="2525216"/>
            <a:ext cx="5333668" cy="128984"/>
          </a:xfrm>
          <a:prstGeom prst="rect">
            <a:avLst/>
          </a:prstGeom>
          <a:noFill/>
          <a:ln/>
        </p:spPr>
        <p:txBody>
          <a:bodyPr wrap="none" lIns="0" tIns="0" rIns="0" bIns="0" rtlCol="0" anchor="t"/>
          <a:lstStyle/>
          <a:p>
            <a:pPr algn="l" indent="0" marL="0">
              <a:lnSpc>
                <a:spcPct val="104000"/>
              </a:lnSpc>
              <a:buNone/>
            </a:pPr>
            <a:r>
              <a:rPr lang="en-US" sz="800" dirty="0">
                <a:solidFill>
                  <a:srgbClr val="152D47"/>
                </a:solidFill>
                <a:latin typeface="Crimson Pro SemiBold" pitchFamily="34" charset="0"/>
                <a:ea typeface="Crimson Pro SemiBold" pitchFamily="34" charset="-122"/>
                <a:cs typeface="Crimson Pro SemiBold" pitchFamily="34" charset="-120"/>
              </a:rPr>
              <a:t>What We Delivered</a:t>
            </a:r>
            <a:endParaRPr lang="en-US" sz="800"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2430" y="2698750"/>
            <a:ext cx="123822" cy="123825"/>
          </a:xfrm>
          <a:prstGeom prst="rect">
            <a:avLst/>
          </a:prstGeom>
        </p:spPr>
      </p:pic>
      <p:sp>
        <p:nvSpPr>
          <p:cNvPr id="20" name="Text 17"/>
          <p:cNvSpPr/>
          <p:nvPr/>
        </p:nvSpPr>
        <p:spPr>
          <a:xfrm>
            <a:off x="929756" y="2694682"/>
            <a:ext cx="5065387"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Fully automated CI/CD test pipelines across all 6 CMS projects integrated with GitHub Actions</a:t>
            </a:r>
            <a:endParaRPr lang="en-US" sz="600" dirty="0"/>
          </a:p>
        </p:txBody>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430" y="3022501"/>
            <a:ext cx="123822" cy="123825"/>
          </a:xfrm>
          <a:prstGeom prst="rect">
            <a:avLst/>
          </a:prstGeom>
        </p:spPr>
      </p:pic>
      <p:sp>
        <p:nvSpPr>
          <p:cNvPr id="22" name="Text 18"/>
          <p:cNvSpPr/>
          <p:nvPr/>
        </p:nvSpPr>
        <p:spPr>
          <a:xfrm>
            <a:off x="929756" y="3018433"/>
            <a:ext cx="5065387"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Integrated regression, security (OWASP ZAP), performance (k6) &amp; cross-browser compatibility testing</a:t>
            </a:r>
            <a:endParaRPr lang="en-US" sz="600" dirty="0"/>
          </a:p>
        </p:txBody>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2430" y="3346252"/>
            <a:ext cx="123822" cy="123825"/>
          </a:xfrm>
          <a:prstGeom prst="rect">
            <a:avLst/>
          </a:prstGeom>
        </p:spPr>
      </p:pic>
      <p:sp>
        <p:nvSpPr>
          <p:cNvPr id="24" name="Text 19"/>
          <p:cNvSpPr/>
          <p:nvPr/>
        </p:nvSpPr>
        <p:spPr>
          <a:xfrm>
            <a:off x="929756" y="3342184"/>
            <a:ext cx="5065387"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Real-time Slack notifications with live test results, pass/fail summaries &amp; direct pipeline links</a:t>
            </a:r>
            <a:endParaRPr lang="en-US" sz="600" dirty="0"/>
          </a:p>
        </p:txBody>
      </p:sp>
      <p:pic>
        <p:nvPicPr>
          <p:cNvPr id="2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2430" y="3670002"/>
            <a:ext cx="123822" cy="123825"/>
          </a:xfrm>
          <a:prstGeom prst="rect">
            <a:avLst/>
          </a:prstGeom>
        </p:spPr>
      </p:pic>
      <p:sp>
        <p:nvSpPr>
          <p:cNvPr id="26" name="Text 20"/>
          <p:cNvSpPr/>
          <p:nvPr/>
        </p:nvSpPr>
        <p:spPr>
          <a:xfrm>
            <a:off x="929756" y="3665934"/>
            <a:ext cx="5065387"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Automated failure reporting with detailed diagnostics, screenshots &amp; trace artefacts</a:t>
            </a:r>
            <a:endParaRPr lang="en-US" sz="600" dirty="0"/>
          </a:p>
        </p:txBody>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2430" y="3993753"/>
            <a:ext cx="123822" cy="123825"/>
          </a:xfrm>
          <a:prstGeom prst="rect">
            <a:avLst/>
          </a:prstGeom>
        </p:spPr>
      </p:pic>
      <p:sp>
        <p:nvSpPr>
          <p:cNvPr id="28" name="Text 21"/>
          <p:cNvSpPr/>
          <p:nvPr/>
        </p:nvSpPr>
        <p:spPr>
          <a:xfrm>
            <a:off x="929756" y="3989685"/>
            <a:ext cx="5065387"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Shift-left quality gates preventing defective code from reaching production environments</a:t>
            </a:r>
            <a:endParaRPr lang="en-US" sz="600" dirty="0"/>
          </a:p>
        </p:txBody>
      </p:sp>
      <p:pic>
        <p:nvPicPr>
          <p:cNvPr id="2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2430" y="4317504"/>
            <a:ext cx="123822" cy="123825"/>
          </a:xfrm>
          <a:prstGeom prst="rect">
            <a:avLst/>
          </a:prstGeom>
        </p:spPr>
      </p:pic>
      <p:sp>
        <p:nvSpPr>
          <p:cNvPr id="30" name="Text 22"/>
          <p:cNvSpPr/>
          <p:nvPr/>
        </p:nvSpPr>
        <p:spPr>
          <a:xfrm>
            <a:off x="929756" y="4313436"/>
            <a:ext cx="5065387"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Continuous quality feedback loop enabling faster, safer releases across all channels</a:t>
            </a:r>
            <a:endParaRPr lang="en-US" sz="600" dirty="0"/>
          </a:p>
        </p:txBody>
      </p:sp>
      <p:sp>
        <p:nvSpPr>
          <p:cNvPr id="31" name="Text 23"/>
          <p:cNvSpPr/>
          <p:nvPr/>
        </p:nvSpPr>
        <p:spPr>
          <a:xfrm>
            <a:off x="6202902" y="2525216"/>
            <a:ext cx="5333668" cy="128984"/>
          </a:xfrm>
          <a:prstGeom prst="rect">
            <a:avLst/>
          </a:prstGeom>
          <a:noFill/>
          <a:ln/>
        </p:spPr>
        <p:txBody>
          <a:bodyPr wrap="none" lIns="0" tIns="0" rIns="0" bIns="0" rtlCol="0" anchor="t"/>
          <a:lstStyle/>
          <a:p>
            <a:pPr algn="l" indent="0" marL="0">
              <a:lnSpc>
                <a:spcPct val="104000"/>
              </a:lnSpc>
              <a:buNone/>
            </a:pPr>
            <a:r>
              <a:rPr lang="en-US" sz="800" dirty="0">
                <a:solidFill>
                  <a:srgbClr val="152D47"/>
                </a:solidFill>
                <a:latin typeface="Crimson Pro SemiBold" pitchFamily="34" charset="0"/>
                <a:ea typeface="Crimson Pro SemiBold" pitchFamily="34" charset="-122"/>
                <a:cs typeface="Crimson Pro SemiBold" pitchFamily="34" charset="-120"/>
              </a:rPr>
              <a:t>Projects &amp; Coverage Status</a:t>
            </a:r>
            <a:endParaRPr lang="en-US" sz="800" dirty="0"/>
          </a:p>
        </p:txBody>
      </p:sp>
      <p:sp>
        <p:nvSpPr>
          <p:cNvPr id="32" name="Shape 24"/>
          <p:cNvSpPr/>
          <p:nvPr/>
        </p:nvSpPr>
        <p:spPr>
          <a:xfrm>
            <a:off x="6202902" y="2694682"/>
            <a:ext cx="2648777" cy="708620"/>
          </a:xfrm>
          <a:prstGeom prst="roundRect">
            <a:avLst>
              <a:gd name="adj" fmla="val 1747"/>
            </a:avLst>
          </a:prstGeom>
          <a:solidFill>
            <a:srgbClr val="F2EEEE"/>
          </a:solidFill>
          <a:ln/>
        </p:spPr>
      </p:sp>
      <p:sp>
        <p:nvSpPr>
          <p:cNvPr id="33" name="Shape 25"/>
          <p:cNvSpPr/>
          <p:nvPr/>
        </p:nvSpPr>
        <p:spPr>
          <a:xfrm>
            <a:off x="6285450" y="2777232"/>
            <a:ext cx="247644" cy="247650"/>
          </a:xfrm>
          <a:prstGeom prst="ellipse">
            <a:avLst/>
          </a:prstGeom>
          <a:solidFill>
            <a:srgbClr val="2150FE"/>
          </a:solidFill>
          <a:ln/>
        </p:spPr>
      </p:sp>
      <p:pic>
        <p:nvPicPr>
          <p:cNvPr id="3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53512" y="2845296"/>
            <a:ext cx="111420" cy="111423"/>
          </a:xfrm>
          <a:prstGeom prst="rect">
            <a:avLst/>
          </a:prstGeom>
        </p:spPr>
      </p:pic>
      <p:sp>
        <p:nvSpPr>
          <p:cNvPr id="35" name="Text 26"/>
          <p:cNvSpPr/>
          <p:nvPr/>
        </p:nvSpPr>
        <p:spPr>
          <a:xfrm>
            <a:off x="6285450" y="3060898"/>
            <a:ext cx="2483681" cy="128984"/>
          </a:xfrm>
          <a:prstGeom prst="rect">
            <a:avLst/>
          </a:prstGeom>
          <a:noFill/>
          <a:ln/>
        </p:spPr>
        <p:txBody>
          <a:bodyPr wrap="none" lIns="0" tIns="0" rIns="0" bIns="0" rtlCol="0" anchor="t"/>
          <a:lstStyle/>
          <a:p>
            <a:pPr algn="l"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Enforcement &amp; Finance</a:t>
            </a:r>
            <a:endParaRPr lang="en-US" sz="800" dirty="0"/>
          </a:p>
        </p:txBody>
      </p:sp>
      <p:sp>
        <p:nvSpPr>
          <p:cNvPr id="36" name="Text 27"/>
          <p:cNvSpPr/>
          <p:nvPr/>
        </p:nvSpPr>
        <p:spPr>
          <a:xfrm>
            <a:off x="6285450" y="3225899"/>
            <a:ext cx="2483681"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VPF UI + ENF API</a:t>
            </a:r>
            <a:endParaRPr lang="en-US" sz="600" dirty="0"/>
          </a:p>
        </p:txBody>
      </p:sp>
      <p:sp>
        <p:nvSpPr>
          <p:cNvPr id="37" name="Shape 28"/>
          <p:cNvSpPr/>
          <p:nvPr/>
        </p:nvSpPr>
        <p:spPr>
          <a:xfrm>
            <a:off x="8887694" y="2694682"/>
            <a:ext cx="2648876" cy="708620"/>
          </a:xfrm>
          <a:prstGeom prst="roundRect">
            <a:avLst>
              <a:gd name="adj" fmla="val 1747"/>
            </a:avLst>
          </a:prstGeom>
          <a:solidFill>
            <a:srgbClr val="F2EEEE"/>
          </a:solidFill>
          <a:ln/>
        </p:spPr>
      </p:sp>
      <p:sp>
        <p:nvSpPr>
          <p:cNvPr id="38" name="Shape 29"/>
          <p:cNvSpPr/>
          <p:nvPr/>
        </p:nvSpPr>
        <p:spPr>
          <a:xfrm>
            <a:off x="8970242" y="2777232"/>
            <a:ext cx="247644" cy="247650"/>
          </a:xfrm>
          <a:prstGeom prst="ellipse">
            <a:avLst/>
          </a:prstGeom>
          <a:solidFill>
            <a:srgbClr val="2150FE"/>
          </a:solidFill>
          <a:ln/>
        </p:spPr>
      </p:sp>
      <p:pic>
        <p:nvPicPr>
          <p:cNvPr id="3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038304" y="2845296"/>
            <a:ext cx="111420" cy="111423"/>
          </a:xfrm>
          <a:prstGeom prst="rect">
            <a:avLst/>
          </a:prstGeom>
        </p:spPr>
      </p:pic>
      <p:sp>
        <p:nvSpPr>
          <p:cNvPr id="40" name="Text 30"/>
          <p:cNvSpPr/>
          <p:nvPr/>
        </p:nvSpPr>
        <p:spPr>
          <a:xfrm>
            <a:off x="8970242" y="3060898"/>
            <a:ext cx="2483780" cy="128984"/>
          </a:xfrm>
          <a:prstGeom prst="rect">
            <a:avLst/>
          </a:prstGeom>
          <a:noFill/>
          <a:ln/>
        </p:spPr>
        <p:txBody>
          <a:bodyPr wrap="none" lIns="0" tIns="0" rIns="0" bIns="0" rtlCol="0" anchor="t"/>
          <a:lstStyle/>
          <a:p>
            <a:pPr algn="l"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Get Help Apply</a:t>
            </a:r>
            <a:endParaRPr lang="en-US" sz="800" dirty="0"/>
          </a:p>
        </p:txBody>
      </p:sp>
      <p:sp>
        <p:nvSpPr>
          <p:cNvPr id="41" name="Text 31"/>
          <p:cNvSpPr/>
          <p:nvPr/>
        </p:nvSpPr>
        <p:spPr>
          <a:xfrm>
            <a:off x="8970242" y="3225899"/>
            <a:ext cx="2483780"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End-to-end journeys</a:t>
            </a:r>
            <a:endParaRPr lang="en-US" sz="600" dirty="0"/>
          </a:p>
        </p:txBody>
      </p:sp>
      <p:sp>
        <p:nvSpPr>
          <p:cNvPr id="42" name="Shape 32"/>
          <p:cNvSpPr/>
          <p:nvPr/>
        </p:nvSpPr>
        <p:spPr>
          <a:xfrm>
            <a:off x="6202902" y="3439319"/>
            <a:ext cx="2648777" cy="708620"/>
          </a:xfrm>
          <a:prstGeom prst="roundRect">
            <a:avLst>
              <a:gd name="adj" fmla="val 1747"/>
            </a:avLst>
          </a:prstGeom>
          <a:solidFill>
            <a:srgbClr val="F2EEEE"/>
          </a:solidFill>
          <a:ln/>
        </p:spPr>
      </p:sp>
      <p:sp>
        <p:nvSpPr>
          <p:cNvPr id="43" name="Shape 33"/>
          <p:cNvSpPr/>
          <p:nvPr/>
        </p:nvSpPr>
        <p:spPr>
          <a:xfrm>
            <a:off x="6285450" y="3521869"/>
            <a:ext cx="247644" cy="247650"/>
          </a:xfrm>
          <a:prstGeom prst="ellipse">
            <a:avLst/>
          </a:prstGeom>
          <a:solidFill>
            <a:srgbClr val="2150FE"/>
          </a:solidFill>
          <a:ln/>
        </p:spPr>
      </p:sp>
      <p:pic>
        <p:nvPicPr>
          <p:cNvPr id="44"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353512" y="3589933"/>
            <a:ext cx="111420" cy="111423"/>
          </a:xfrm>
          <a:prstGeom prst="rect">
            <a:avLst/>
          </a:prstGeom>
        </p:spPr>
      </p:pic>
      <p:sp>
        <p:nvSpPr>
          <p:cNvPr id="45" name="Text 34"/>
          <p:cNvSpPr/>
          <p:nvPr/>
        </p:nvSpPr>
        <p:spPr>
          <a:xfrm>
            <a:off x="6285450" y="3805535"/>
            <a:ext cx="2483681" cy="128984"/>
          </a:xfrm>
          <a:prstGeom prst="rect">
            <a:avLst/>
          </a:prstGeom>
          <a:noFill/>
          <a:ln/>
        </p:spPr>
        <p:txBody>
          <a:bodyPr wrap="none" lIns="0" tIns="0" rIns="0" bIns="0" rtlCol="0" anchor="t"/>
          <a:lstStyle/>
          <a:p>
            <a:pPr algn="l"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Respond</a:t>
            </a:r>
            <a:endParaRPr lang="en-US" sz="800" dirty="0"/>
          </a:p>
        </p:txBody>
      </p:sp>
      <p:sp>
        <p:nvSpPr>
          <p:cNvPr id="46" name="Text 35"/>
          <p:cNvSpPr/>
          <p:nvPr/>
        </p:nvSpPr>
        <p:spPr>
          <a:xfrm>
            <a:off x="6285450" y="3970536"/>
            <a:ext cx="2483681"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Citizen response flows</a:t>
            </a:r>
            <a:endParaRPr lang="en-US" sz="600" dirty="0"/>
          </a:p>
        </p:txBody>
      </p:sp>
      <p:sp>
        <p:nvSpPr>
          <p:cNvPr id="47" name="Shape 36"/>
          <p:cNvSpPr/>
          <p:nvPr/>
        </p:nvSpPr>
        <p:spPr>
          <a:xfrm>
            <a:off x="8887694" y="3439319"/>
            <a:ext cx="2648876" cy="708620"/>
          </a:xfrm>
          <a:prstGeom prst="roundRect">
            <a:avLst>
              <a:gd name="adj" fmla="val 1747"/>
            </a:avLst>
          </a:prstGeom>
          <a:solidFill>
            <a:srgbClr val="F2EEEE"/>
          </a:solidFill>
          <a:ln/>
        </p:spPr>
      </p:sp>
      <p:sp>
        <p:nvSpPr>
          <p:cNvPr id="48" name="Shape 37"/>
          <p:cNvSpPr/>
          <p:nvPr/>
        </p:nvSpPr>
        <p:spPr>
          <a:xfrm>
            <a:off x="8970242" y="3521869"/>
            <a:ext cx="247644" cy="247650"/>
          </a:xfrm>
          <a:prstGeom prst="ellipse">
            <a:avLst/>
          </a:prstGeom>
          <a:solidFill>
            <a:srgbClr val="2150FE"/>
          </a:solidFill>
          <a:ln/>
        </p:spPr>
      </p:sp>
      <p:pic>
        <p:nvPicPr>
          <p:cNvPr id="49"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038304" y="3589933"/>
            <a:ext cx="111420" cy="111423"/>
          </a:xfrm>
          <a:prstGeom prst="rect">
            <a:avLst/>
          </a:prstGeom>
        </p:spPr>
      </p:pic>
      <p:sp>
        <p:nvSpPr>
          <p:cNvPr id="50" name="Text 38"/>
          <p:cNvSpPr/>
          <p:nvPr/>
        </p:nvSpPr>
        <p:spPr>
          <a:xfrm>
            <a:off x="8970242" y="3805535"/>
            <a:ext cx="2483780" cy="128984"/>
          </a:xfrm>
          <a:prstGeom prst="rect">
            <a:avLst/>
          </a:prstGeom>
          <a:noFill/>
          <a:ln/>
        </p:spPr>
        <p:txBody>
          <a:bodyPr wrap="none" lIns="0" tIns="0" rIns="0" bIns="0" rtlCol="0" anchor="t"/>
          <a:lstStyle/>
          <a:p>
            <a:pPr algn="l"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Online Revive</a:t>
            </a:r>
            <a:endParaRPr lang="en-US" sz="800" dirty="0"/>
          </a:p>
        </p:txBody>
      </p:sp>
      <p:sp>
        <p:nvSpPr>
          <p:cNvPr id="51" name="Text 39"/>
          <p:cNvSpPr/>
          <p:nvPr/>
        </p:nvSpPr>
        <p:spPr>
          <a:xfrm>
            <a:off x="8970242" y="3970536"/>
            <a:ext cx="2483780"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Account reactivation</a:t>
            </a:r>
            <a:endParaRPr lang="en-US" sz="600" dirty="0"/>
          </a:p>
        </p:txBody>
      </p:sp>
      <p:sp>
        <p:nvSpPr>
          <p:cNvPr id="52" name="Shape 40"/>
          <p:cNvSpPr/>
          <p:nvPr/>
        </p:nvSpPr>
        <p:spPr>
          <a:xfrm>
            <a:off x="6202902" y="4183955"/>
            <a:ext cx="2648777" cy="708620"/>
          </a:xfrm>
          <a:prstGeom prst="roundRect">
            <a:avLst>
              <a:gd name="adj" fmla="val 1747"/>
            </a:avLst>
          </a:prstGeom>
          <a:solidFill>
            <a:srgbClr val="F2EEEE"/>
          </a:solidFill>
          <a:ln/>
        </p:spPr>
      </p:sp>
      <p:sp>
        <p:nvSpPr>
          <p:cNvPr id="53" name="Shape 41"/>
          <p:cNvSpPr/>
          <p:nvPr/>
        </p:nvSpPr>
        <p:spPr>
          <a:xfrm>
            <a:off x="6285450" y="4266505"/>
            <a:ext cx="247644" cy="247650"/>
          </a:xfrm>
          <a:prstGeom prst="ellipse">
            <a:avLst/>
          </a:prstGeom>
          <a:solidFill>
            <a:srgbClr val="2150FE"/>
          </a:solidFill>
          <a:ln/>
        </p:spPr>
      </p:sp>
      <p:pic>
        <p:nvPicPr>
          <p:cNvPr id="54"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353512" y="4334570"/>
            <a:ext cx="111420" cy="111423"/>
          </a:xfrm>
          <a:prstGeom prst="rect">
            <a:avLst/>
          </a:prstGeom>
        </p:spPr>
      </p:pic>
      <p:sp>
        <p:nvSpPr>
          <p:cNvPr id="55" name="Text 42"/>
          <p:cNvSpPr/>
          <p:nvPr/>
        </p:nvSpPr>
        <p:spPr>
          <a:xfrm>
            <a:off x="6285450" y="4550172"/>
            <a:ext cx="2483681" cy="128984"/>
          </a:xfrm>
          <a:prstGeom prst="rect">
            <a:avLst/>
          </a:prstGeom>
          <a:noFill/>
          <a:ln/>
        </p:spPr>
        <p:txBody>
          <a:bodyPr wrap="none" lIns="0" tIns="0" rIns="0" bIns="0" rtlCol="0" anchor="t"/>
          <a:lstStyle/>
          <a:p>
            <a:pPr algn="l"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Maternity Allowance</a:t>
            </a:r>
            <a:endParaRPr lang="en-US" sz="800" dirty="0"/>
          </a:p>
        </p:txBody>
      </p:sp>
      <p:sp>
        <p:nvSpPr>
          <p:cNvPr id="56" name="Text 43"/>
          <p:cNvSpPr/>
          <p:nvPr/>
        </p:nvSpPr>
        <p:spPr>
          <a:xfrm>
            <a:off x="6285450" y="4715173"/>
            <a:ext cx="2483681"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Benefit claim journeys</a:t>
            </a:r>
            <a:endParaRPr lang="en-US" sz="600" dirty="0"/>
          </a:p>
        </p:txBody>
      </p:sp>
      <p:sp>
        <p:nvSpPr>
          <p:cNvPr id="57" name="Shape 44"/>
          <p:cNvSpPr/>
          <p:nvPr/>
        </p:nvSpPr>
        <p:spPr>
          <a:xfrm>
            <a:off x="8887694" y="4183955"/>
            <a:ext cx="2648876" cy="708620"/>
          </a:xfrm>
          <a:prstGeom prst="roundRect">
            <a:avLst>
              <a:gd name="adj" fmla="val 1747"/>
            </a:avLst>
          </a:prstGeom>
          <a:solidFill>
            <a:srgbClr val="F2EEEE"/>
          </a:solidFill>
          <a:ln/>
        </p:spPr>
      </p:sp>
      <p:sp>
        <p:nvSpPr>
          <p:cNvPr id="58" name="Shape 45"/>
          <p:cNvSpPr/>
          <p:nvPr/>
        </p:nvSpPr>
        <p:spPr>
          <a:xfrm>
            <a:off x="8970242" y="4266505"/>
            <a:ext cx="247644" cy="247650"/>
          </a:xfrm>
          <a:prstGeom prst="ellipse">
            <a:avLst/>
          </a:prstGeom>
          <a:solidFill>
            <a:srgbClr val="2150FE"/>
          </a:solidFill>
          <a:ln/>
        </p:spPr>
      </p:sp>
      <p:pic>
        <p:nvPicPr>
          <p:cNvPr id="59"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038304" y="4334570"/>
            <a:ext cx="111420" cy="111423"/>
          </a:xfrm>
          <a:prstGeom prst="rect">
            <a:avLst/>
          </a:prstGeom>
        </p:spPr>
      </p:pic>
      <p:sp>
        <p:nvSpPr>
          <p:cNvPr id="60" name="Text 46"/>
          <p:cNvSpPr/>
          <p:nvPr/>
        </p:nvSpPr>
        <p:spPr>
          <a:xfrm>
            <a:off x="8970242" y="4550172"/>
            <a:ext cx="2483780" cy="128984"/>
          </a:xfrm>
          <a:prstGeom prst="rect">
            <a:avLst/>
          </a:prstGeom>
          <a:noFill/>
          <a:ln/>
        </p:spPr>
        <p:txBody>
          <a:bodyPr wrap="none" lIns="0" tIns="0" rIns="0" bIns="0" rtlCol="0" anchor="t"/>
          <a:lstStyle/>
          <a:p>
            <a:pPr algn="l"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SED</a:t>
            </a:r>
            <a:endParaRPr lang="en-US" sz="800" dirty="0"/>
          </a:p>
        </p:txBody>
      </p:sp>
      <p:sp>
        <p:nvSpPr>
          <p:cNvPr id="61" name="Text 47"/>
          <p:cNvSpPr/>
          <p:nvPr/>
        </p:nvSpPr>
        <p:spPr>
          <a:xfrm>
            <a:off x="8970242" y="4715173"/>
            <a:ext cx="2483780"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Simplifying Employer Deductions</a:t>
            </a:r>
            <a:endParaRPr lang="en-US" sz="600" dirty="0"/>
          </a:p>
        </p:txBody>
      </p:sp>
      <p:sp>
        <p:nvSpPr>
          <p:cNvPr id="62" name="Text 48"/>
          <p:cNvSpPr/>
          <p:nvPr/>
        </p:nvSpPr>
        <p:spPr>
          <a:xfrm>
            <a:off x="661475" y="4987131"/>
            <a:ext cx="10868745" cy="128984"/>
          </a:xfrm>
          <a:prstGeom prst="rect">
            <a:avLst/>
          </a:prstGeom>
          <a:noFill/>
          <a:ln/>
        </p:spPr>
        <p:txBody>
          <a:bodyPr wrap="none" lIns="0" tIns="0" rIns="0" bIns="0" rtlCol="0" anchor="t"/>
          <a:lstStyle/>
          <a:p>
            <a:pPr algn="l" indent="0" marL="0">
              <a:lnSpc>
                <a:spcPct val="104000"/>
              </a:lnSpc>
              <a:buNone/>
            </a:pPr>
            <a:r>
              <a:rPr lang="en-US" sz="800" dirty="0">
                <a:solidFill>
                  <a:srgbClr val="152D47"/>
                </a:solidFill>
                <a:latin typeface="Crimson Pro SemiBold" pitchFamily="34" charset="0"/>
                <a:ea typeface="Crimson Pro SemiBold" pitchFamily="34" charset="-122"/>
                <a:cs typeface="Crimson Pro SemiBold" pitchFamily="34" charset="-120"/>
              </a:rPr>
              <a:t>Test Coverage by Type</a:t>
            </a:r>
            <a:endParaRPr lang="en-US" sz="800" dirty="0"/>
          </a:p>
        </p:txBody>
      </p:sp>
      <p:sp>
        <p:nvSpPr>
          <p:cNvPr id="63" name="Shape 49"/>
          <p:cNvSpPr/>
          <p:nvPr/>
        </p:nvSpPr>
        <p:spPr>
          <a:xfrm>
            <a:off x="661475" y="5170190"/>
            <a:ext cx="5416315" cy="435967"/>
          </a:xfrm>
          <a:prstGeom prst="roundRect">
            <a:avLst>
              <a:gd name="adj" fmla="val 2840"/>
            </a:avLst>
          </a:prstGeom>
          <a:solidFill>
            <a:srgbClr val="FFFFFF"/>
          </a:solidFill>
          <a:ln w="12700">
            <a:solidFill>
              <a:srgbClr val="D8D4D4"/>
            </a:solidFill>
            <a:prstDash val="solid"/>
          </a:ln>
        </p:spPr>
      </p:sp>
      <p:sp>
        <p:nvSpPr>
          <p:cNvPr id="64" name="Text 50"/>
          <p:cNvSpPr/>
          <p:nvPr/>
        </p:nvSpPr>
        <p:spPr>
          <a:xfrm>
            <a:off x="756722" y="5265440"/>
            <a:ext cx="5225820" cy="128984"/>
          </a:xfrm>
          <a:prstGeom prst="rect">
            <a:avLst/>
          </a:prstGeom>
          <a:noFill/>
          <a:ln/>
        </p:spPr>
        <p:txBody>
          <a:bodyPr wrap="none" lIns="0" tIns="0" rIns="0" bIns="0" rtlCol="0" anchor="t"/>
          <a:lstStyle/>
          <a:p>
            <a:pPr algn="l"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Regression Testing</a:t>
            </a:r>
            <a:endParaRPr lang="en-US" sz="800" dirty="0"/>
          </a:p>
        </p:txBody>
      </p:sp>
      <p:sp>
        <p:nvSpPr>
          <p:cNvPr id="65" name="Text 51"/>
          <p:cNvSpPr/>
          <p:nvPr/>
        </p:nvSpPr>
        <p:spPr>
          <a:xfrm>
            <a:off x="756722" y="5416054"/>
            <a:ext cx="5225820"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Full automated regression suites running on every pull request and merge, catching regressions before they reach staging or production.</a:t>
            </a:r>
            <a:endParaRPr lang="en-US" sz="600" dirty="0"/>
          </a:p>
        </p:txBody>
      </p:sp>
      <p:sp>
        <p:nvSpPr>
          <p:cNvPr id="66" name="Shape 52"/>
          <p:cNvSpPr/>
          <p:nvPr/>
        </p:nvSpPr>
        <p:spPr>
          <a:xfrm>
            <a:off x="6113806" y="5170190"/>
            <a:ext cx="5416414" cy="435967"/>
          </a:xfrm>
          <a:prstGeom prst="roundRect">
            <a:avLst>
              <a:gd name="adj" fmla="val 2840"/>
            </a:avLst>
          </a:prstGeom>
          <a:solidFill>
            <a:srgbClr val="FFFFFF"/>
          </a:solidFill>
          <a:ln w="12700">
            <a:solidFill>
              <a:srgbClr val="D8D4D4"/>
            </a:solidFill>
            <a:prstDash val="solid"/>
          </a:ln>
        </p:spPr>
      </p:sp>
      <p:sp>
        <p:nvSpPr>
          <p:cNvPr id="67" name="Text 53"/>
          <p:cNvSpPr/>
          <p:nvPr/>
        </p:nvSpPr>
        <p:spPr>
          <a:xfrm>
            <a:off x="6209053" y="5265440"/>
            <a:ext cx="5225919" cy="128984"/>
          </a:xfrm>
          <a:prstGeom prst="rect">
            <a:avLst/>
          </a:prstGeom>
          <a:noFill/>
          <a:ln/>
        </p:spPr>
        <p:txBody>
          <a:bodyPr wrap="none" lIns="0" tIns="0" rIns="0" bIns="0" rtlCol="0" anchor="t"/>
          <a:lstStyle/>
          <a:p>
            <a:pPr algn="l"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Security Testing</a:t>
            </a:r>
            <a:endParaRPr lang="en-US" sz="800" dirty="0"/>
          </a:p>
        </p:txBody>
      </p:sp>
      <p:sp>
        <p:nvSpPr>
          <p:cNvPr id="68" name="Text 54"/>
          <p:cNvSpPr/>
          <p:nvPr/>
        </p:nvSpPr>
        <p:spPr>
          <a:xfrm>
            <a:off x="6209053" y="5416054"/>
            <a:ext cx="5225919"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OWASP ZAP integrated into pipelines to automatically scan for common vulnerabilities on every build cycle across all 6 projects.</a:t>
            </a:r>
            <a:endParaRPr lang="en-US" sz="600" dirty="0"/>
          </a:p>
        </p:txBody>
      </p:sp>
      <p:sp>
        <p:nvSpPr>
          <p:cNvPr id="69" name="Shape 55"/>
          <p:cNvSpPr/>
          <p:nvPr/>
        </p:nvSpPr>
        <p:spPr>
          <a:xfrm>
            <a:off x="661475" y="5642173"/>
            <a:ext cx="5416315" cy="435967"/>
          </a:xfrm>
          <a:prstGeom prst="roundRect">
            <a:avLst>
              <a:gd name="adj" fmla="val 2840"/>
            </a:avLst>
          </a:prstGeom>
          <a:solidFill>
            <a:srgbClr val="FFFFFF"/>
          </a:solidFill>
          <a:ln w="12700">
            <a:solidFill>
              <a:srgbClr val="D8D4D4"/>
            </a:solidFill>
            <a:prstDash val="solid"/>
          </a:ln>
        </p:spPr>
      </p:sp>
      <p:sp>
        <p:nvSpPr>
          <p:cNvPr id="70" name="Text 56"/>
          <p:cNvSpPr/>
          <p:nvPr/>
        </p:nvSpPr>
        <p:spPr>
          <a:xfrm>
            <a:off x="756722" y="5737423"/>
            <a:ext cx="5225820" cy="128984"/>
          </a:xfrm>
          <a:prstGeom prst="rect">
            <a:avLst/>
          </a:prstGeom>
          <a:noFill/>
          <a:ln/>
        </p:spPr>
        <p:txBody>
          <a:bodyPr wrap="none" lIns="0" tIns="0" rIns="0" bIns="0" rtlCol="0" anchor="t"/>
          <a:lstStyle/>
          <a:p>
            <a:pPr algn="l"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Performance Testing</a:t>
            </a:r>
            <a:endParaRPr lang="en-US" sz="800" dirty="0"/>
          </a:p>
        </p:txBody>
      </p:sp>
      <p:sp>
        <p:nvSpPr>
          <p:cNvPr id="71" name="Text 57"/>
          <p:cNvSpPr/>
          <p:nvPr/>
        </p:nvSpPr>
        <p:spPr>
          <a:xfrm>
            <a:off x="756722" y="5888038"/>
            <a:ext cx="5225820"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k6 load and stress tests validating service performance under realistic citizen traffic conditions with automated threshold enforcement.</a:t>
            </a:r>
            <a:endParaRPr lang="en-US" sz="600" dirty="0"/>
          </a:p>
        </p:txBody>
      </p:sp>
      <p:sp>
        <p:nvSpPr>
          <p:cNvPr id="72" name="Shape 58"/>
          <p:cNvSpPr/>
          <p:nvPr/>
        </p:nvSpPr>
        <p:spPr>
          <a:xfrm>
            <a:off x="6113806" y="5642173"/>
            <a:ext cx="5416414" cy="435967"/>
          </a:xfrm>
          <a:prstGeom prst="roundRect">
            <a:avLst>
              <a:gd name="adj" fmla="val 2840"/>
            </a:avLst>
          </a:prstGeom>
          <a:solidFill>
            <a:srgbClr val="FFFFFF"/>
          </a:solidFill>
          <a:ln w="12700">
            <a:solidFill>
              <a:srgbClr val="D8D4D4"/>
            </a:solidFill>
            <a:prstDash val="solid"/>
          </a:ln>
        </p:spPr>
      </p:sp>
      <p:sp>
        <p:nvSpPr>
          <p:cNvPr id="73" name="Text 59"/>
          <p:cNvSpPr/>
          <p:nvPr/>
        </p:nvSpPr>
        <p:spPr>
          <a:xfrm>
            <a:off x="6209053" y="5737423"/>
            <a:ext cx="5225919" cy="128984"/>
          </a:xfrm>
          <a:prstGeom prst="rect">
            <a:avLst/>
          </a:prstGeom>
          <a:noFill/>
          <a:ln/>
        </p:spPr>
        <p:txBody>
          <a:bodyPr wrap="none" lIns="0" tIns="0" rIns="0" bIns="0" rtlCol="0" anchor="t"/>
          <a:lstStyle/>
          <a:p>
            <a:pPr algn="l"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Compatibility Testing</a:t>
            </a:r>
            <a:endParaRPr lang="en-US" sz="800" dirty="0"/>
          </a:p>
        </p:txBody>
      </p:sp>
      <p:sp>
        <p:nvSpPr>
          <p:cNvPr id="74" name="Text 60"/>
          <p:cNvSpPr/>
          <p:nvPr/>
        </p:nvSpPr>
        <p:spPr>
          <a:xfrm>
            <a:off x="6209053" y="5888038"/>
            <a:ext cx="5225919"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Cross-browser and cross-device test runs via Playwright ensuring consistent citizen experience across Chrome, Firefox, Safari &amp; Edge.</a:t>
            </a:r>
            <a:endParaRPr lang="en-US" sz="600" dirty="0"/>
          </a:p>
        </p:txBody>
      </p:sp>
      <p:sp>
        <p:nvSpPr>
          <p:cNvPr id="75" name="Shape 61"/>
          <p:cNvSpPr/>
          <p:nvPr/>
        </p:nvSpPr>
        <p:spPr>
          <a:xfrm>
            <a:off x="661475" y="6118622"/>
            <a:ext cx="10868745" cy="204589"/>
          </a:xfrm>
          <a:prstGeom prst="roundRect">
            <a:avLst>
              <a:gd name="adj" fmla="val 6052"/>
            </a:avLst>
          </a:prstGeom>
          <a:solidFill>
            <a:srgbClr val="B6FCB8"/>
          </a:solidFill>
          <a:ln/>
        </p:spPr>
      </p:sp>
      <p:pic>
        <p:nvPicPr>
          <p:cNvPr id="76" name="Image 12" descr="preencoded.png">    </p:cNvPr>
          <p:cNvPicPr>
            <a:picLocks noChangeAspect="1"/>
          </p:cNvPicPr>
          <p:nvPr/>
        </p:nvPicPr>
        <p:blipFill>
          <a:blip r:embed="rId25"/>
          <a:stretch>
            <a:fillRect/>
          </a:stretch>
        </p:blipFill>
        <p:spPr>
          <a:xfrm>
            <a:off x="744023" y="6175276"/>
            <a:ext cx="103185" cy="82550"/>
          </a:xfrm>
          <a:prstGeom prst="rect">
            <a:avLst/>
          </a:prstGeom>
        </p:spPr>
      </p:pic>
      <p:sp>
        <p:nvSpPr>
          <p:cNvPr id="77" name="Text 62"/>
          <p:cNvSpPr/>
          <p:nvPr/>
        </p:nvSpPr>
        <p:spPr>
          <a:xfrm>
            <a:off x="929756" y="6175276"/>
            <a:ext cx="11127501" cy="94853"/>
          </a:xfrm>
          <a:prstGeom prst="rect">
            <a:avLst/>
          </a:prstGeom>
          <a:noFill/>
          <a:ln/>
        </p:spPr>
        <p:txBody>
          <a:bodyPr wrap="none" lIns="0" tIns="0" rIns="0" bIns="0" rtlCol="0" anchor="t"/>
          <a:lstStyle/>
          <a:p>
            <a:pPr algn="l" indent="0" marL="0">
              <a:lnSpc>
                <a:spcPct val="96000"/>
              </a:lnSpc>
              <a:buNone/>
            </a:pPr>
            <a:r>
              <a:rPr lang="en-US" sz="600" dirty="0">
                <a:solidFill>
                  <a:srgbClr val="000000"/>
                </a:solidFill>
                <a:latin typeface="Heebo" pitchFamily="34" charset="0"/>
                <a:ea typeface="Heebo" pitchFamily="34" charset="-122"/>
                <a:cs typeface="Heebo" pitchFamily="34" charset="-120"/>
              </a:rPr>
              <a:t>All 6 projects now ship with automated quality gates — reducing manual testing effort by </a:t>
            </a:r>
            <a:pPr algn="l" indent="0" marL="0">
              <a:lnSpc>
                <a:spcPct val="96000"/>
              </a:lnSpc>
              <a:buNone/>
            </a:pPr>
            <a:r>
              <a:rPr lang="en-US" sz="600" b="1" dirty="0">
                <a:solidFill>
                  <a:srgbClr val="000000"/>
                </a:solidFill>
                <a:latin typeface="Heebo Bold" pitchFamily="34" charset="0"/>
                <a:ea typeface="Heebo Bold" pitchFamily="34" charset="-122"/>
                <a:cs typeface="Heebo Bold" pitchFamily="34" charset="-120"/>
              </a:rPr>
              <a:t>80%+</a:t>
            </a:r>
            <a:pPr algn="l" indent="0" marL="0">
              <a:lnSpc>
                <a:spcPct val="96000"/>
              </a:lnSpc>
              <a:buNone/>
            </a:pPr>
            <a:r>
              <a:rPr lang="en-US" sz="600" dirty="0">
                <a:solidFill>
                  <a:srgbClr val="000000"/>
                </a:solidFill>
                <a:latin typeface="Heebo" pitchFamily="34" charset="0"/>
                <a:ea typeface="Heebo" pitchFamily="34" charset="-122"/>
                <a:cs typeface="Heebo" pitchFamily="34" charset="-120"/>
              </a:rPr>
              <a:t>, integrating security, performance and compatibility checks, delivering real-time Slack alerts, and enabling continuous delivery confidence across the entire CMS Digital Channel.</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60189"/>
            <a:ext cx="10868745" cy="377825"/>
          </a:xfrm>
          <a:prstGeom prst="rect">
            <a:avLst/>
          </a:prstGeom>
          <a:noFill/>
          <a:ln/>
        </p:spPr>
        <p:txBody>
          <a:bodyPr wrap="none" lIns="0" tIns="0" rIns="0" bIns="0" rtlCol="0" anchor="t"/>
          <a:lstStyle/>
          <a:p>
            <a:pPr algn="l" indent="0" marL="0">
              <a:lnSpc>
                <a:spcPct val="104000"/>
              </a:lnSpc>
              <a:buNone/>
            </a:pPr>
            <a:r>
              <a:rPr lang="en-US" sz="2350" dirty="0">
                <a:solidFill>
                  <a:srgbClr val="152D47"/>
                </a:solidFill>
                <a:latin typeface="Crimson Pro SemiBold" pitchFamily="34" charset="0"/>
                <a:ea typeface="Crimson Pro SemiBold" pitchFamily="34" charset="-122"/>
                <a:cs typeface="Crimson Pro SemiBold" pitchFamily="34" charset="-120"/>
              </a:rPr>
              <a:t>The Problem </a:t>
            </a:r>
            <a:pPr algn="l" indent="0" marL="0">
              <a:lnSpc>
                <a:spcPct val="104000"/>
              </a:lnSpc>
              <a:buNone/>
            </a:pPr>
            <a:r>
              <a:rPr lang="en-US" sz="2350" i="1" dirty="0">
                <a:solidFill>
                  <a:srgbClr val="152D47"/>
                </a:solidFill>
                <a:latin typeface="Crimson Pro SemiBold" pitchFamily="34" charset="0"/>
                <a:ea typeface="Crimson Pro SemiBold" pitchFamily="34" charset="-122"/>
                <a:cs typeface="Crimson Pro SemiBold" pitchFamily="34" charset="-120"/>
              </a:rPr>
              <a:t>(Before Automation)</a:t>
            </a:r>
            <a:endParaRPr lang="en-US" sz="2350" dirty="0"/>
          </a:p>
        </p:txBody>
      </p:sp>
      <p:sp>
        <p:nvSpPr>
          <p:cNvPr id="3" name="Shape 1"/>
          <p:cNvSpPr/>
          <p:nvPr/>
        </p:nvSpPr>
        <p:spPr>
          <a:xfrm>
            <a:off x="661475" y="1141016"/>
            <a:ext cx="862388" cy="183654"/>
          </a:xfrm>
          <a:prstGeom prst="roundRect">
            <a:avLst>
              <a:gd name="adj" fmla="val 7902"/>
            </a:avLst>
          </a:prstGeom>
          <a:solidFill>
            <a:srgbClr val="CCD7FF"/>
          </a:solidFill>
          <a:ln/>
        </p:spPr>
      </p:sp>
      <p:pic>
        <p:nvPicPr>
          <p:cNvPr id="4" name="Image 0" descr="preencoded.png">    </p:cNvPr>
          <p:cNvPicPr>
            <a:picLocks noChangeAspect="1"/>
          </p:cNvPicPr>
          <p:nvPr/>
        </p:nvPicPr>
        <p:blipFill>
          <a:blip r:embed="rId1"/>
          <a:stretch>
            <a:fillRect/>
          </a:stretch>
        </p:blipFill>
        <p:spPr>
          <a:xfrm>
            <a:off x="734002" y="1184473"/>
            <a:ext cx="96736" cy="96738"/>
          </a:xfrm>
          <a:prstGeom prst="rect">
            <a:avLst/>
          </a:prstGeom>
        </p:spPr>
      </p:pic>
      <p:sp>
        <p:nvSpPr>
          <p:cNvPr id="5" name="Text 2"/>
          <p:cNvSpPr/>
          <p:nvPr/>
        </p:nvSpPr>
        <p:spPr>
          <a:xfrm>
            <a:off x="879056" y="1177230"/>
            <a:ext cx="1181864" cy="111224"/>
          </a:xfrm>
          <a:prstGeom prst="rect">
            <a:avLst/>
          </a:prstGeom>
          <a:noFill/>
          <a:ln/>
        </p:spPr>
        <p:txBody>
          <a:bodyPr wrap="none" lIns="0" tIns="0" rIns="0" bIns="0" rtlCol="0" anchor="t"/>
          <a:lstStyle/>
          <a:p>
            <a:pPr algn="l" indent="0" marL="0">
              <a:lnSpc>
                <a:spcPct val="96000"/>
              </a:lnSpc>
              <a:buNone/>
            </a:pPr>
            <a:r>
              <a:rPr lang="en-US" sz="750" dirty="0">
                <a:solidFill>
                  <a:srgbClr val="4C4C4D"/>
                </a:solidFill>
                <a:latin typeface="Heebo" pitchFamily="34" charset="0"/>
                <a:ea typeface="Heebo" pitchFamily="34" charset="-122"/>
                <a:cs typeface="Heebo" pitchFamily="34" charset="-120"/>
              </a:rPr>
              <a:t>PAIN POINTS</a:t>
            </a:r>
            <a:endParaRPr lang="en-US" sz="750" dirty="0"/>
          </a:p>
        </p:txBody>
      </p:sp>
      <p:sp>
        <p:nvSpPr>
          <p:cNvPr id="6" name="Text 3"/>
          <p:cNvSpPr/>
          <p:nvPr/>
        </p:nvSpPr>
        <p:spPr>
          <a:xfrm>
            <a:off x="661475" y="1355527"/>
            <a:ext cx="5845029" cy="189012"/>
          </a:xfrm>
          <a:prstGeom prst="rect">
            <a:avLst/>
          </a:prstGeom>
          <a:noFill/>
          <a:ln/>
        </p:spPr>
        <p:txBody>
          <a:bodyPr wrap="none" lIns="0" tIns="0" rIns="0" bIns="0" rtlCol="0" anchor="t"/>
          <a:lstStyle/>
          <a:p>
            <a:pPr algn="l" indent="0" marL="0">
              <a:lnSpc>
                <a:spcPct val="104000"/>
              </a:lnSpc>
              <a:buNone/>
            </a:pPr>
            <a:r>
              <a:rPr lang="en-US" sz="1150" dirty="0">
                <a:solidFill>
                  <a:srgbClr val="152D47"/>
                </a:solidFill>
                <a:latin typeface="Crimson Pro SemiBold" pitchFamily="34" charset="0"/>
                <a:ea typeface="Crimson Pro SemiBold" pitchFamily="34" charset="-122"/>
                <a:cs typeface="Crimson Pro SemiBold" pitchFamily="34" charset="-120"/>
              </a:rPr>
              <a:t>Manual Testing Challenges</a:t>
            </a:r>
            <a:endParaRPr lang="en-US" sz="115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631553"/>
            <a:ext cx="5845029" cy="692051"/>
          </a:xfrm>
          <a:prstGeom prst="rect">
            <a:avLst/>
          </a:prstGeom>
        </p:spPr>
      </p:pic>
      <p:sp>
        <p:nvSpPr>
          <p:cNvPr id="8" name="Text 4"/>
          <p:cNvSpPr/>
          <p:nvPr/>
        </p:nvSpPr>
        <p:spPr>
          <a:xfrm>
            <a:off x="845819" y="1765102"/>
            <a:ext cx="5527140" cy="189012"/>
          </a:xfrm>
          <a:prstGeom prst="rect">
            <a:avLst/>
          </a:prstGeom>
          <a:noFill/>
          <a:ln/>
        </p:spPr>
        <p:txBody>
          <a:bodyPr wrap="none" lIns="0" tIns="0" rIns="0" bIns="0" rtlCol="0" anchor="t"/>
          <a:lstStyle/>
          <a:p>
            <a:pPr algn="l" indent="0" marL="0">
              <a:lnSpc>
                <a:spcPct val="104000"/>
              </a:lnSpc>
              <a:buNone/>
            </a:pPr>
            <a:r>
              <a:rPr lang="en-US" sz="1150" dirty="0">
                <a:solidFill>
                  <a:srgbClr val="DC2626"/>
                </a:solidFill>
                <a:latin typeface="Crimson Pro SemiBold" pitchFamily="34" charset="0"/>
                <a:ea typeface="Crimson Pro SemiBold" pitchFamily="34" charset="-122"/>
                <a:cs typeface="Crimson Pro SemiBold" pitchFamily="34" charset="-120"/>
              </a:rPr>
              <a:t>2–3 Days</a:t>
            </a:r>
            <a:pPr algn="l" indent="0" marL="0">
              <a:lnSpc>
                <a:spcPct val="104000"/>
              </a:lnSpc>
              <a:buNone/>
            </a:pPr>
            <a:r>
              <a:rPr lang="en-US" sz="1150" dirty="0">
                <a:solidFill>
                  <a:srgbClr val="4C4C4D"/>
                </a:solidFill>
                <a:latin typeface="Crimson Pro SemiBold" pitchFamily="34" charset="0"/>
                <a:ea typeface="Crimson Pro SemiBold" pitchFamily="34" charset="-122"/>
                <a:cs typeface="Crimson Pro SemiBold" pitchFamily="34" charset="-120"/>
              </a:rPr>
              <a:t> — Full Regression Testing</a:t>
            </a:r>
            <a:endParaRPr lang="en-US" sz="1150" dirty="0"/>
          </a:p>
        </p:txBody>
      </p:sp>
      <p:sp>
        <p:nvSpPr>
          <p:cNvPr id="9" name="Text 5"/>
          <p:cNvSpPr/>
          <p:nvPr/>
        </p:nvSpPr>
        <p:spPr>
          <a:xfrm>
            <a:off x="845819" y="2031405"/>
            <a:ext cx="5527140" cy="158651"/>
          </a:xfrm>
          <a:prstGeom prst="rect">
            <a:avLst/>
          </a:prstGeom>
          <a:noFill/>
          <a:ln/>
        </p:spPr>
        <p:txBody>
          <a:bodyPr wrap="none" lIns="0" tIns="0" rIns="0" bIns="0" rtlCol="0" anchor="t"/>
          <a:lstStyle/>
          <a:p>
            <a:pPr algn="l" indent="0" marL="0">
              <a:lnSpc>
                <a:spcPct val="109000"/>
              </a:lnSpc>
              <a:buNone/>
            </a:pPr>
            <a:r>
              <a:rPr lang="en-US" sz="950" dirty="0">
                <a:solidFill>
                  <a:srgbClr val="4C4C4D"/>
                </a:solidFill>
                <a:latin typeface="Heebo" pitchFamily="34" charset="0"/>
                <a:ea typeface="Heebo" pitchFamily="34" charset="-122"/>
                <a:cs typeface="Heebo" pitchFamily="34" charset="-120"/>
              </a:rPr>
              <a:t>Every release cycle consumed days of manual effort, blocking deployment windows.</a:t>
            </a:r>
            <a:endParaRPr lang="en-US" sz="950" dirty="0"/>
          </a:p>
        </p:txBody>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400895"/>
            <a:ext cx="5845029" cy="692051"/>
          </a:xfrm>
          <a:prstGeom prst="rect">
            <a:avLst/>
          </a:prstGeom>
        </p:spPr>
      </p:pic>
      <p:sp>
        <p:nvSpPr>
          <p:cNvPr id="11" name="Text 6"/>
          <p:cNvSpPr/>
          <p:nvPr/>
        </p:nvSpPr>
        <p:spPr>
          <a:xfrm>
            <a:off x="845819" y="2534444"/>
            <a:ext cx="5527140" cy="189012"/>
          </a:xfrm>
          <a:prstGeom prst="rect">
            <a:avLst/>
          </a:prstGeom>
          <a:noFill/>
          <a:ln/>
        </p:spPr>
        <p:txBody>
          <a:bodyPr wrap="none" lIns="0" tIns="0" rIns="0" bIns="0" rtlCol="0" anchor="t"/>
          <a:lstStyle/>
          <a:p>
            <a:pPr algn="l" indent="0" marL="0">
              <a:lnSpc>
                <a:spcPct val="104000"/>
              </a:lnSpc>
              <a:buNone/>
            </a:pPr>
            <a:r>
              <a:rPr lang="en-US" sz="1150" dirty="0">
                <a:solidFill>
                  <a:srgbClr val="DC2626"/>
                </a:solidFill>
                <a:latin typeface="Crimson Pro SemiBold" pitchFamily="34" charset="0"/>
                <a:ea typeface="Crimson Pro SemiBold" pitchFamily="34" charset="-122"/>
                <a:cs typeface="Crimson Pro SemiBold" pitchFamily="34" charset="-120"/>
              </a:rPr>
              <a:t>1–2 Days</a:t>
            </a:r>
            <a:pPr algn="l" indent="0" marL="0">
              <a:lnSpc>
                <a:spcPct val="104000"/>
              </a:lnSpc>
              <a:buNone/>
            </a:pPr>
            <a:r>
              <a:rPr lang="en-US" sz="1150" dirty="0">
                <a:solidFill>
                  <a:srgbClr val="4C4C4D"/>
                </a:solidFill>
                <a:latin typeface="Crimson Pro SemiBold" pitchFamily="34" charset="0"/>
                <a:ea typeface="Crimson Pro SemiBold" pitchFamily="34" charset="-122"/>
                <a:cs typeface="Crimson Pro SemiBold" pitchFamily="34" charset="-120"/>
              </a:rPr>
              <a:t> — Cross-Browser Testing</a:t>
            </a:r>
            <a:endParaRPr lang="en-US" sz="1150" dirty="0"/>
          </a:p>
        </p:txBody>
      </p:sp>
      <p:sp>
        <p:nvSpPr>
          <p:cNvPr id="12" name="Text 7"/>
          <p:cNvSpPr/>
          <p:nvPr/>
        </p:nvSpPr>
        <p:spPr>
          <a:xfrm>
            <a:off x="845819" y="2800747"/>
            <a:ext cx="5527140" cy="158651"/>
          </a:xfrm>
          <a:prstGeom prst="rect">
            <a:avLst/>
          </a:prstGeom>
          <a:noFill/>
          <a:ln/>
        </p:spPr>
        <p:txBody>
          <a:bodyPr wrap="none" lIns="0" tIns="0" rIns="0" bIns="0" rtlCol="0" anchor="t"/>
          <a:lstStyle/>
          <a:p>
            <a:pPr algn="l" indent="0" marL="0">
              <a:lnSpc>
                <a:spcPct val="109000"/>
              </a:lnSpc>
              <a:buNone/>
            </a:pPr>
            <a:r>
              <a:rPr lang="en-US" sz="950" dirty="0">
                <a:solidFill>
                  <a:srgbClr val="4C4C4D"/>
                </a:solidFill>
                <a:latin typeface="Heebo" pitchFamily="34" charset="0"/>
                <a:ea typeface="Heebo" pitchFamily="34" charset="-122"/>
                <a:cs typeface="Heebo" pitchFamily="34" charset="-120"/>
              </a:rPr>
              <a:t>Manual compatibility checks across browsers with no automated coverage.</a:t>
            </a:r>
            <a:endParaRPr lang="en-US" sz="950" dirty="0"/>
          </a:p>
        </p:txBody>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170238"/>
            <a:ext cx="5845029" cy="692051"/>
          </a:xfrm>
          <a:prstGeom prst="rect">
            <a:avLst/>
          </a:prstGeom>
        </p:spPr>
      </p:pic>
      <p:sp>
        <p:nvSpPr>
          <p:cNvPr id="14" name="Text 8"/>
          <p:cNvSpPr/>
          <p:nvPr/>
        </p:nvSpPr>
        <p:spPr>
          <a:xfrm>
            <a:off x="845819" y="3303786"/>
            <a:ext cx="5527140" cy="189012"/>
          </a:xfrm>
          <a:prstGeom prst="rect">
            <a:avLst/>
          </a:prstGeom>
          <a:noFill/>
          <a:ln/>
        </p:spPr>
        <p:txBody>
          <a:bodyPr wrap="none" lIns="0" tIns="0" rIns="0" bIns="0" rtlCol="0" anchor="t"/>
          <a:lstStyle/>
          <a:p>
            <a:pPr algn="l" indent="0" marL="0">
              <a:lnSpc>
                <a:spcPct val="104000"/>
              </a:lnSpc>
              <a:buNone/>
            </a:pPr>
            <a:r>
              <a:rPr lang="en-US" sz="1150" dirty="0">
                <a:solidFill>
                  <a:srgbClr val="DC2626"/>
                </a:solidFill>
                <a:latin typeface="Crimson Pro SemiBold" pitchFamily="34" charset="0"/>
                <a:ea typeface="Crimson Pro SemiBold" pitchFamily="34" charset="-122"/>
                <a:cs typeface="Crimson Pro SemiBold" pitchFamily="34" charset="-120"/>
              </a:rPr>
              <a:t>0 Hours</a:t>
            </a:r>
            <a:pPr algn="l" indent="0" marL="0">
              <a:lnSpc>
                <a:spcPct val="104000"/>
              </a:lnSpc>
              <a:buNone/>
            </a:pPr>
            <a:r>
              <a:rPr lang="en-US" sz="1150" dirty="0">
                <a:solidFill>
                  <a:srgbClr val="4C4C4D"/>
                </a:solidFill>
                <a:latin typeface="Crimson Pro SemiBold" pitchFamily="34" charset="0"/>
                <a:ea typeface="Crimson Pro SemiBold" pitchFamily="34" charset="-122"/>
                <a:cs typeface="Crimson Pro SemiBold" pitchFamily="34" charset="-120"/>
              </a:rPr>
              <a:t> — Automated Security Scanning</a:t>
            </a:r>
            <a:endParaRPr lang="en-US" sz="1150" dirty="0"/>
          </a:p>
        </p:txBody>
      </p:sp>
      <p:sp>
        <p:nvSpPr>
          <p:cNvPr id="15" name="Text 9"/>
          <p:cNvSpPr/>
          <p:nvPr/>
        </p:nvSpPr>
        <p:spPr>
          <a:xfrm>
            <a:off x="845819" y="3570089"/>
            <a:ext cx="5527140" cy="158651"/>
          </a:xfrm>
          <a:prstGeom prst="rect">
            <a:avLst/>
          </a:prstGeom>
          <a:noFill/>
          <a:ln/>
        </p:spPr>
        <p:txBody>
          <a:bodyPr wrap="none" lIns="0" tIns="0" rIns="0" bIns="0" rtlCol="0" anchor="t"/>
          <a:lstStyle/>
          <a:p>
            <a:pPr algn="l" indent="0" marL="0">
              <a:lnSpc>
                <a:spcPct val="109000"/>
              </a:lnSpc>
              <a:buNone/>
            </a:pPr>
            <a:r>
              <a:rPr lang="en-US" sz="950" dirty="0">
                <a:solidFill>
                  <a:srgbClr val="4C4C4D"/>
                </a:solidFill>
                <a:latin typeface="Heebo" pitchFamily="34" charset="0"/>
                <a:ea typeface="Heebo" pitchFamily="34" charset="-122"/>
                <a:cs typeface="Heebo" pitchFamily="34" charset="-120"/>
              </a:rPr>
              <a:t>No security scanning in place — vulnerabilities discovered too late.</a:t>
            </a:r>
            <a:endParaRPr lang="en-US" sz="95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3939580"/>
            <a:ext cx="5845029" cy="692051"/>
          </a:xfrm>
          <a:prstGeom prst="rect">
            <a:avLst/>
          </a:prstGeom>
        </p:spPr>
      </p:pic>
      <p:sp>
        <p:nvSpPr>
          <p:cNvPr id="17" name="Text 10"/>
          <p:cNvSpPr/>
          <p:nvPr/>
        </p:nvSpPr>
        <p:spPr>
          <a:xfrm>
            <a:off x="845819" y="4073128"/>
            <a:ext cx="5527140" cy="189012"/>
          </a:xfrm>
          <a:prstGeom prst="rect">
            <a:avLst/>
          </a:prstGeom>
          <a:noFill/>
          <a:ln/>
        </p:spPr>
        <p:txBody>
          <a:bodyPr wrap="none" lIns="0" tIns="0" rIns="0" bIns="0" rtlCol="0" anchor="t"/>
          <a:lstStyle/>
          <a:p>
            <a:pPr algn="l" indent="0" marL="0">
              <a:lnSpc>
                <a:spcPct val="104000"/>
              </a:lnSpc>
              <a:buNone/>
            </a:pPr>
            <a:r>
              <a:rPr lang="en-US" sz="1150" dirty="0">
                <a:solidFill>
                  <a:srgbClr val="DC2626"/>
                </a:solidFill>
                <a:latin typeface="Crimson Pro SemiBold" pitchFamily="34" charset="0"/>
                <a:ea typeface="Crimson Pro SemiBold" pitchFamily="34" charset="-122"/>
                <a:cs typeface="Crimson Pro SemiBold" pitchFamily="34" charset="-120"/>
              </a:rPr>
              <a:t>Late Stage</a:t>
            </a:r>
            <a:pPr algn="l" indent="0" marL="0">
              <a:lnSpc>
                <a:spcPct val="104000"/>
              </a:lnSpc>
              <a:buNone/>
            </a:pPr>
            <a:r>
              <a:rPr lang="en-US" sz="1150" dirty="0">
                <a:solidFill>
                  <a:srgbClr val="4C4C4D"/>
                </a:solidFill>
                <a:latin typeface="Crimson Pro SemiBold" pitchFamily="34" charset="0"/>
                <a:ea typeface="Crimson Pro SemiBold" pitchFamily="34" charset="-122"/>
                <a:cs typeface="Crimson Pro SemiBold" pitchFamily="34" charset="-120"/>
              </a:rPr>
              <a:t> — Performance Feedback</a:t>
            </a:r>
            <a:endParaRPr lang="en-US" sz="1150" dirty="0"/>
          </a:p>
        </p:txBody>
      </p:sp>
      <p:sp>
        <p:nvSpPr>
          <p:cNvPr id="18" name="Text 11"/>
          <p:cNvSpPr/>
          <p:nvPr/>
        </p:nvSpPr>
        <p:spPr>
          <a:xfrm>
            <a:off x="845819" y="4339431"/>
            <a:ext cx="5527140" cy="158651"/>
          </a:xfrm>
          <a:prstGeom prst="rect">
            <a:avLst/>
          </a:prstGeom>
          <a:noFill/>
          <a:ln/>
        </p:spPr>
        <p:txBody>
          <a:bodyPr wrap="none" lIns="0" tIns="0" rIns="0" bIns="0" rtlCol="0" anchor="t"/>
          <a:lstStyle/>
          <a:p>
            <a:pPr algn="l" indent="0" marL="0">
              <a:lnSpc>
                <a:spcPct val="109000"/>
              </a:lnSpc>
              <a:buNone/>
            </a:pPr>
            <a:r>
              <a:rPr lang="en-US" sz="950" dirty="0">
                <a:solidFill>
                  <a:srgbClr val="4C4C4D"/>
                </a:solidFill>
                <a:latin typeface="Heebo" pitchFamily="34" charset="0"/>
                <a:ea typeface="Heebo" pitchFamily="34" charset="-122"/>
                <a:cs typeface="Heebo" pitchFamily="34" charset="-120"/>
              </a:rPr>
              <a:t>Performance issues surfaced late in the cycle, after significant rework was already required.</a:t>
            </a:r>
            <a:endParaRPr lang="en-US" sz="950" dirty="0"/>
          </a:p>
        </p:txBody>
      </p:sp>
      <p:pic>
        <p:nvPicPr>
          <p:cNvPr id="19"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1475" y="4708922"/>
            <a:ext cx="5845029" cy="692051"/>
          </a:xfrm>
          <a:prstGeom prst="rect">
            <a:avLst/>
          </a:prstGeom>
        </p:spPr>
      </p:pic>
      <p:sp>
        <p:nvSpPr>
          <p:cNvPr id="20" name="Text 12"/>
          <p:cNvSpPr/>
          <p:nvPr/>
        </p:nvSpPr>
        <p:spPr>
          <a:xfrm>
            <a:off x="845819" y="4842470"/>
            <a:ext cx="5527140" cy="189012"/>
          </a:xfrm>
          <a:prstGeom prst="rect">
            <a:avLst/>
          </a:prstGeom>
          <a:noFill/>
          <a:ln/>
        </p:spPr>
        <p:txBody>
          <a:bodyPr wrap="none" lIns="0" tIns="0" rIns="0" bIns="0" rtlCol="0" anchor="t"/>
          <a:lstStyle/>
          <a:p>
            <a:pPr algn="l" indent="0" marL="0">
              <a:lnSpc>
                <a:spcPct val="104000"/>
              </a:lnSpc>
              <a:buNone/>
            </a:pPr>
            <a:r>
              <a:rPr lang="en-US" sz="1150" dirty="0">
                <a:solidFill>
                  <a:srgbClr val="DC2626"/>
                </a:solidFill>
                <a:latin typeface="Crimson Pro SemiBold" pitchFamily="34" charset="0"/>
                <a:ea typeface="Crimson Pro SemiBold" pitchFamily="34" charset="-122"/>
                <a:cs typeface="Crimson Pro SemiBold" pitchFamily="34" charset="-120"/>
              </a:rPr>
              <a:t>Email &amp; Meetings</a:t>
            </a:r>
            <a:pPr algn="l" indent="0" marL="0">
              <a:lnSpc>
                <a:spcPct val="104000"/>
              </a:lnSpc>
              <a:buNone/>
            </a:pPr>
            <a:r>
              <a:rPr lang="en-US" sz="1150" dirty="0">
                <a:solidFill>
                  <a:srgbClr val="4C4C4D"/>
                </a:solidFill>
                <a:latin typeface="Crimson Pro SemiBold" pitchFamily="34" charset="0"/>
                <a:ea typeface="Crimson Pro SemiBold" pitchFamily="34" charset="-122"/>
                <a:cs typeface="Crimson Pro SemiBold" pitchFamily="34" charset="-120"/>
              </a:rPr>
              <a:t> — Test Communication</a:t>
            </a:r>
            <a:endParaRPr lang="en-US" sz="1150" dirty="0"/>
          </a:p>
        </p:txBody>
      </p:sp>
      <p:sp>
        <p:nvSpPr>
          <p:cNvPr id="21" name="Text 13"/>
          <p:cNvSpPr/>
          <p:nvPr/>
        </p:nvSpPr>
        <p:spPr>
          <a:xfrm>
            <a:off x="845819" y="5108773"/>
            <a:ext cx="5527140" cy="158651"/>
          </a:xfrm>
          <a:prstGeom prst="rect">
            <a:avLst/>
          </a:prstGeom>
          <a:noFill/>
          <a:ln/>
        </p:spPr>
        <p:txBody>
          <a:bodyPr wrap="none" lIns="0" tIns="0" rIns="0" bIns="0" rtlCol="0" anchor="t"/>
          <a:lstStyle/>
          <a:p>
            <a:pPr algn="l" indent="0" marL="0">
              <a:lnSpc>
                <a:spcPct val="109000"/>
              </a:lnSpc>
              <a:buNone/>
            </a:pPr>
            <a:r>
              <a:rPr lang="en-US" sz="950" dirty="0">
                <a:solidFill>
                  <a:srgbClr val="4C4C4D"/>
                </a:solidFill>
                <a:latin typeface="Heebo" pitchFamily="34" charset="0"/>
                <a:ea typeface="Heebo" pitchFamily="34" charset="-122"/>
                <a:cs typeface="Heebo" pitchFamily="34" charset="-120"/>
              </a:rPr>
              <a:t>No real-time feedback loop — results communicated via email and meetings only.</a:t>
            </a:r>
            <a:endParaRPr lang="en-US" sz="950" dirty="0"/>
          </a:p>
        </p:txBody>
      </p:sp>
      <p:sp>
        <p:nvSpPr>
          <p:cNvPr id="22" name="Shape 14"/>
          <p:cNvSpPr/>
          <p:nvPr/>
        </p:nvSpPr>
        <p:spPr>
          <a:xfrm>
            <a:off x="6720811" y="1054001"/>
            <a:ext cx="4902871" cy="5243711"/>
          </a:xfrm>
          <a:prstGeom prst="roundRect">
            <a:avLst>
              <a:gd name="adj" fmla="val 370"/>
            </a:avLst>
          </a:prstGeom>
          <a:solidFill>
            <a:srgbClr val="DC2626"/>
          </a:solidFill>
          <a:ln/>
        </p:spPr>
      </p:sp>
      <p:sp>
        <p:nvSpPr>
          <p:cNvPr id="23" name="Shape 15"/>
          <p:cNvSpPr/>
          <p:nvPr/>
        </p:nvSpPr>
        <p:spPr>
          <a:xfrm>
            <a:off x="6841656" y="1141016"/>
            <a:ext cx="1105170" cy="183654"/>
          </a:xfrm>
          <a:prstGeom prst="roundRect">
            <a:avLst>
              <a:gd name="adj" fmla="val 7902"/>
            </a:avLst>
          </a:prstGeom>
          <a:solidFill>
            <a:srgbClr val="00104C"/>
          </a:solidFill>
          <a:ln/>
        </p:spPr>
      </p:sp>
      <p:pic>
        <p:nvPicPr>
          <p:cNvPr id="24" name="Image 6" descr="preencoded.png">    </p:cNvPr>
          <p:cNvPicPr>
            <a:picLocks noChangeAspect="1"/>
          </p:cNvPicPr>
          <p:nvPr/>
        </p:nvPicPr>
        <p:blipFill>
          <a:blip r:embed="rId12"/>
          <a:stretch>
            <a:fillRect/>
          </a:stretch>
        </p:blipFill>
        <p:spPr>
          <a:xfrm>
            <a:off x="6914183" y="1184473"/>
            <a:ext cx="96736" cy="96738"/>
          </a:xfrm>
          <a:prstGeom prst="rect">
            <a:avLst/>
          </a:prstGeom>
        </p:spPr>
      </p:pic>
      <p:sp>
        <p:nvSpPr>
          <p:cNvPr id="25" name="Text 16"/>
          <p:cNvSpPr/>
          <p:nvPr/>
        </p:nvSpPr>
        <p:spPr>
          <a:xfrm>
            <a:off x="7059237" y="1177230"/>
            <a:ext cx="1424646" cy="111224"/>
          </a:xfrm>
          <a:prstGeom prst="rect">
            <a:avLst/>
          </a:prstGeom>
          <a:noFill/>
          <a:ln/>
        </p:spPr>
        <p:txBody>
          <a:bodyPr wrap="none" lIns="0" tIns="0" rIns="0" bIns="0" rtlCol="0" anchor="t"/>
          <a:lstStyle/>
          <a:p>
            <a:pPr algn="l" indent="0" marL="0">
              <a:lnSpc>
                <a:spcPct val="96000"/>
              </a:lnSpc>
              <a:buNone/>
            </a:pPr>
            <a:r>
              <a:rPr lang="en-US" sz="750" dirty="0">
                <a:solidFill>
                  <a:srgbClr val="4C4C4D"/>
                </a:solidFill>
                <a:latin typeface="Heebo" pitchFamily="34" charset="0"/>
                <a:ea typeface="Heebo" pitchFamily="34" charset="-122"/>
                <a:cs typeface="Heebo" pitchFamily="34" charset="-120"/>
              </a:rPr>
              <a:t>BUSINESS IMPACT</a:t>
            </a:r>
            <a:endParaRPr lang="en-US" sz="750" dirty="0"/>
          </a:p>
        </p:txBody>
      </p:sp>
      <p:sp>
        <p:nvSpPr>
          <p:cNvPr id="26" name="Text 17"/>
          <p:cNvSpPr/>
          <p:nvPr/>
        </p:nvSpPr>
        <p:spPr>
          <a:xfrm>
            <a:off x="6841656" y="1355527"/>
            <a:ext cx="4661180" cy="189012"/>
          </a:xfrm>
          <a:prstGeom prst="rect">
            <a:avLst/>
          </a:prstGeom>
          <a:noFill/>
          <a:ln/>
        </p:spPr>
        <p:txBody>
          <a:bodyPr wrap="none" lIns="0" tIns="0" rIns="0" bIns="0" rtlCol="0" anchor="t"/>
          <a:lstStyle/>
          <a:p>
            <a:pPr algn="l" indent="0" marL="0">
              <a:lnSpc>
                <a:spcPct val="104000"/>
              </a:lnSpc>
              <a:buNone/>
            </a:pPr>
            <a:r>
              <a:rPr lang="en-US" sz="1150" dirty="0">
                <a:solidFill>
                  <a:srgbClr val="FFFFFF"/>
                </a:solidFill>
                <a:latin typeface="Crimson Pro SemiBold" pitchFamily="34" charset="0"/>
                <a:ea typeface="Crimson Pro SemiBold" pitchFamily="34" charset="-122"/>
                <a:cs typeface="Crimson Pro SemiBold" pitchFamily="34" charset="-120"/>
              </a:rPr>
              <a:t>The Cost of Manual Testing</a:t>
            </a:r>
            <a:endParaRPr lang="en-US" sz="1150" dirty="0"/>
          </a:p>
        </p:txBody>
      </p:sp>
      <p:sp>
        <p:nvSpPr>
          <p:cNvPr id="27" name="Text 18"/>
          <p:cNvSpPr/>
          <p:nvPr/>
        </p:nvSpPr>
        <p:spPr>
          <a:xfrm>
            <a:off x="7657313" y="1691977"/>
            <a:ext cx="3029767" cy="399157"/>
          </a:xfrm>
          <a:prstGeom prst="rect">
            <a:avLst/>
          </a:prstGeom>
          <a:noFill/>
          <a:ln/>
        </p:spPr>
        <p:txBody>
          <a:bodyPr wrap="none" lIns="0" tIns="0" rIns="0" bIns="0" rtlCol="0" anchor="t"/>
          <a:lstStyle/>
          <a:p>
            <a:pPr algn="ctr" indent="0" marL="0">
              <a:lnSpc>
                <a:spcPct val="83000"/>
              </a:lnSpc>
              <a:buNone/>
            </a:pPr>
            <a:r>
              <a:rPr lang="en-US" sz="3100" dirty="0">
                <a:solidFill>
                  <a:srgbClr val="FFFFFF"/>
                </a:solidFill>
                <a:latin typeface="Crimson Pro SemiBold" pitchFamily="34" charset="0"/>
                <a:ea typeface="Crimson Pro SemiBold" pitchFamily="34" charset="-122"/>
                <a:cs typeface="Crimson Pro SemiBold" pitchFamily="34" charset="-120"/>
              </a:rPr>
              <a:t>5+</a:t>
            </a:r>
            <a:endParaRPr lang="en-US" sz="3100" dirty="0"/>
          </a:p>
        </p:txBody>
      </p:sp>
      <p:sp>
        <p:nvSpPr>
          <p:cNvPr id="28" name="Text 19"/>
          <p:cNvSpPr/>
          <p:nvPr/>
        </p:nvSpPr>
        <p:spPr>
          <a:xfrm>
            <a:off x="6841656" y="2209502"/>
            <a:ext cx="4661180" cy="189012"/>
          </a:xfrm>
          <a:prstGeom prst="rect">
            <a:avLst/>
          </a:prstGeom>
          <a:noFill/>
          <a:ln/>
        </p:spPr>
        <p:txBody>
          <a:bodyPr wrap="none" lIns="0" tIns="0" rIns="0" bIns="0" rtlCol="0" anchor="t"/>
          <a:lstStyle/>
          <a:p>
            <a:pPr algn="ctr" indent="0" marL="0">
              <a:lnSpc>
                <a:spcPct val="104000"/>
              </a:lnSpc>
              <a:buNone/>
            </a:pPr>
            <a:r>
              <a:rPr lang="en-US" sz="1150" dirty="0">
                <a:solidFill>
                  <a:srgbClr val="FFFFFF"/>
                </a:solidFill>
                <a:latin typeface="Crimson Pro SemiBold" pitchFamily="34" charset="0"/>
                <a:ea typeface="Crimson Pro SemiBold" pitchFamily="34" charset="-122"/>
                <a:cs typeface="Crimson Pro SemiBold" pitchFamily="34" charset="-120"/>
              </a:rPr>
              <a:t>Days Lost Per Release</a:t>
            </a:r>
            <a:endParaRPr lang="en-US" sz="1150" dirty="0"/>
          </a:p>
        </p:txBody>
      </p:sp>
      <p:sp>
        <p:nvSpPr>
          <p:cNvPr id="29" name="Text 20"/>
          <p:cNvSpPr/>
          <p:nvPr/>
        </p:nvSpPr>
        <p:spPr>
          <a:xfrm>
            <a:off x="6841656" y="2475805"/>
            <a:ext cx="4661180" cy="158651"/>
          </a:xfrm>
          <a:prstGeom prst="rect">
            <a:avLst/>
          </a:prstGeom>
          <a:noFill/>
          <a:ln/>
        </p:spPr>
        <p:txBody>
          <a:bodyPr wrap="none" lIns="0" tIns="0" rIns="0" bIns="0" rtlCol="0" anchor="t"/>
          <a:lstStyle/>
          <a:p>
            <a:pPr algn="ctr" indent="0" marL="0">
              <a:lnSpc>
                <a:spcPct val="109000"/>
              </a:lnSpc>
              <a:buNone/>
            </a:pPr>
            <a:r>
              <a:rPr lang="en-US" sz="950" dirty="0">
                <a:solidFill>
                  <a:srgbClr val="FFFFFF"/>
                </a:solidFill>
                <a:latin typeface="Heebo" pitchFamily="34" charset="0"/>
                <a:ea typeface="Heebo" pitchFamily="34" charset="-122"/>
                <a:cs typeface="Heebo" pitchFamily="34" charset="-120"/>
              </a:rPr>
              <a:t>Combined regression &amp; browser testing per cycle</a:t>
            </a:r>
            <a:endParaRPr lang="en-US" sz="950" dirty="0"/>
          </a:p>
        </p:txBody>
      </p:sp>
      <p:sp>
        <p:nvSpPr>
          <p:cNvPr id="30" name="Text 21"/>
          <p:cNvSpPr/>
          <p:nvPr/>
        </p:nvSpPr>
        <p:spPr>
          <a:xfrm>
            <a:off x="7657313" y="2849563"/>
            <a:ext cx="3029767" cy="399157"/>
          </a:xfrm>
          <a:prstGeom prst="rect">
            <a:avLst/>
          </a:prstGeom>
          <a:noFill/>
          <a:ln/>
        </p:spPr>
        <p:txBody>
          <a:bodyPr wrap="none" lIns="0" tIns="0" rIns="0" bIns="0" rtlCol="0" anchor="t"/>
          <a:lstStyle/>
          <a:p>
            <a:pPr algn="ctr" indent="0" marL="0">
              <a:lnSpc>
                <a:spcPct val="83000"/>
              </a:lnSpc>
              <a:buNone/>
            </a:pPr>
            <a:r>
              <a:rPr lang="en-US" sz="3100" dirty="0">
                <a:solidFill>
                  <a:srgbClr val="FFFFFF"/>
                </a:solidFill>
                <a:latin typeface="Crimson Pro SemiBold" pitchFamily="34" charset="0"/>
                <a:ea typeface="Crimson Pro SemiBold" pitchFamily="34" charset="-122"/>
                <a:cs typeface="Crimson Pro SemiBold" pitchFamily="34" charset="-120"/>
              </a:rPr>
              <a:t>10×</a:t>
            </a:r>
            <a:endParaRPr lang="en-US" sz="3100" dirty="0"/>
          </a:p>
        </p:txBody>
      </p:sp>
      <p:sp>
        <p:nvSpPr>
          <p:cNvPr id="31" name="Text 22"/>
          <p:cNvSpPr/>
          <p:nvPr/>
        </p:nvSpPr>
        <p:spPr>
          <a:xfrm>
            <a:off x="6841656" y="3367088"/>
            <a:ext cx="4661180" cy="189012"/>
          </a:xfrm>
          <a:prstGeom prst="rect">
            <a:avLst/>
          </a:prstGeom>
          <a:noFill/>
          <a:ln/>
        </p:spPr>
        <p:txBody>
          <a:bodyPr wrap="none" lIns="0" tIns="0" rIns="0" bIns="0" rtlCol="0" anchor="t"/>
          <a:lstStyle/>
          <a:p>
            <a:pPr algn="ctr" indent="0" marL="0">
              <a:lnSpc>
                <a:spcPct val="104000"/>
              </a:lnSpc>
              <a:buNone/>
            </a:pPr>
            <a:r>
              <a:rPr lang="en-US" sz="1150" dirty="0">
                <a:solidFill>
                  <a:srgbClr val="FFFFFF"/>
                </a:solidFill>
                <a:latin typeface="Crimson Pro SemiBold" pitchFamily="34" charset="0"/>
                <a:ea typeface="Crimson Pro SemiBold" pitchFamily="34" charset="-122"/>
                <a:cs typeface="Crimson Pro SemiBold" pitchFamily="34" charset="-120"/>
              </a:rPr>
              <a:t>Late Bug Fix Cost</a:t>
            </a:r>
            <a:endParaRPr lang="en-US" sz="1150" dirty="0"/>
          </a:p>
        </p:txBody>
      </p:sp>
      <p:sp>
        <p:nvSpPr>
          <p:cNvPr id="32" name="Text 23"/>
          <p:cNvSpPr/>
          <p:nvPr/>
        </p:nvSpPr>
        <p:spPr>
          <a:xfrm>
            <a:off x="6841656" y="3633391"/>
            <a:ext cx="4661180" cy="158651"/>
          </a:xfrm>
          <a:prstGeom prst="rect">
            <a:avLst/>
          </a:prstGeom>
          <a:noFill/>
          <a:ln/>
        </p:spPr>
        <p:txBody>
          <a:bodyPr wrap="none" lIns="0" tIns="0" rIns="0" bIns="0" rtlCol="0" anchor="t"/>
          <a:lstStyle/>
          <a:p>
            <a:pPr algn="ctr" indent="0" marL="0">
              <a:lnSpc>
                <a:spcPct val="109000"/>
              </a:lnSpc>
              <a:buNone/>
            </a:pPr>
            <a:r>
              <a:rPr lang="en-US" sz="950" dirty="0">
                <a:solidFill>
                  <a:srgbClr val="FFFFFF"/>
                </a:solidFill>
                <a:latin typeface="Heebo" pitchFamily="34" charset="0"/>
                <a:ea typeface="Heebo" pitchFamily="34" charset="-122"/>
                <a:cs typeface="Heebo" pitchFamily="34" charset="-120"/>
              </a:rPr>
              <a:t>Defects found in production cost 10× more to fix than if caught early</a:t>
            </a:r>
            <a:endParaRPr lang="en-US" sz="950" dirty="0"/>
          </a:p>
        </p:txBody>
      </p:sp>
      <p:sp>
        <p:nvSpPr>
          <p:cNvPr id="33" name="Shape 24"/>
          <p:cNvSpPr/>
          <p:nvPr/>
        </p:nvSpPr>
        <p:spPr>
          <a:xfrm>
            <a:off x="6841656" y="3879056"/>
            <a:ext cx="2291896" cy="825302"/>
          </a:xfrm>
          <a:prstGeom prst="roundRect">
            <a:avLst>
              <a:gd name="adj" fmla="val 2198"/>
            </a:avLst>
          </a:prstGeom>
          <a:solidFill>
            <a:srgbClr val="F2EEEE"/>
          </a:solidFill>
          <a:ln/>
        </p:spPr>
      </p:sp>
      <p:sp>
        <p:nvSpPr>
          <p:cNvPr id="34" name="Text 25"/>
          <p:cNvSpPr/>
          <p:nvPr/>
        </p:nvSpPr>
        <p:spPr>
          <a:xfrm>
            <a:off x="6962502" y="3999905"/>
            <a:ext cx="2050205" cy="189012"/>
          </a:xfrm>
          <a:prstGeom prst="rect">
            <a:avLst/>
          </a:prstGeom>
          <a:noFill/>
          <a:ln/>
        </p:spPr>
        <p:txBody>
          <a:bodyPr wrap="none" lIns="0" tIns="0" rIns="0" bIns="0" rtlCol="0" anchor="t"/>
          <a:lstStyle/>
          <a:p>
            <a:pPr algn="l" indent="0" marL="0">
              <a:lnSpc>
                <a:spcPct val="104000"/>
              </a:lnSpc>
              <a:buNone/>
            </a:pPr>
            <a:r>
              <a:rPr lang="en-US" sz="11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150" dirty="0">
                <a:solidFill>
                  <a:srgbClr val="000000"/>
                </a:solidFill>
                <a:latin typeface="Crimson Pro SemiBold" pitchFamily="34" charset="0"/>
                <a:ea typeface="Crimson Pro SemiBold" pitchFamily="34" charset="-122"/>
                <a:cs typeface="Crimson Pro SemiBold" pitchFamily="34" charset="-120"/>
              </a:rPr>
              <a:t> Delayed Releases</a:t>
            </a:r>
            <a:endParaRPr lang="en-US" sz="1150" dirty="0"/>
          </a:p>
        </p:txBody>
      </p:sp>
      <p:sp>
        <p:nvSpPr>
          <p:cNvPr id="35" name="Text 26"/>
          <p:cNvSpPr/>
          <p:nvPr/>
        </p:nvSpPr>
        <p:spPr>
          <a:xfrm>
            <a:off x="6962502" y="4266208"/>
            <a:ext cx="2050205" cy="317302"/>
          </a:xfrm>
          <a:prstGeom prst="rect">
            <a:avLst/>
          </a:prstGeom>
          <a:noFill/>
          <a:ln/>
        </p:spPr>
        <p:txBody>
          <a:bodyPr wrap="square" lIns="0" tIns="0" rIns="0" bIns="0" rtlCol="0" anchor="t">
            <a:normAutofit/>
          </a:bodyPr>
          <a:lstStyle/>
          <a:p>
            <a:pPr algn="l" indent="0" marL="0">
              <a:lnSpc>
                <a:spcPct val="109000"/>
              </a:lnSpc>
              <a:buNone/>
            </a:pPr>
            <a:r>
              <a:rPr lang="en-US" sz="950" dirty="0">
                <a:solidFill>
                  <a:srgbClr val="000000"/>
                </a:solidFill>
                <a:latin typeface="Heebo" pitchFamily="34" charset="0"/>
                <a:ea typeface="Heebo" pitchFamily="34" charset="-122"/>
                <a:cs typeface="Heebo" pitchFamily="34" charset="-120"/>
              </a:rPr>
              <a:t>Slow testing bottlenecks every release</a:t>
            </a:r>
            <a:endParaRPr lang="en-US" sz="950" dirty="0"/>
          </a:p>
        </p:txBody>
      </p:sp>
      <p:sp>
        <p:nvSpPr>
          <p:cNvPr id="36" name="Shape 27"/>
          <p:cNvSpPr/>
          <p:nvPr/>
        </p:nvSpPr>
        <p:spPr>
          <a:xfrm>
            <a:off x="9210841" y="3879056"/>
            <a:ext cx="2291995" cy="825302"/>
          </a:xfrm>
          <a:prstGeom prst="roundRect">
            <a:avLst>
              <a:gd name="adj" fmla="val 2198"/>
            </a:avLst>
          </a:prstGeom>
          <a:solidFill>
            <a:srgbClr val="F2EEEE"/>
          </a:solidFill>
          <a:ln/>
        </p:spPr>
      </p:sp>
      <p:sp>
        <p:nvSpPr>
          <p:cNvPr id="37" name="Text 28"/>
          <p:cNvSpPr/>
          <p:nvPr/>
        </p:nvSpPr>
        <p:spPr>
          <a:xfrm>
            <a:off x="9331687" y="3999905"/>
            <a:ext cx="2050304" cy="189012"/>
          </a:xfrm>
          <a:prstGeom prst="rect">
            <a:avLst/>
          </a:prstGeom>
          <a:noFill/>
          <a:ln/>
        </p:spPr>
        <p:txBody>
          <a:bodyPr wrap="none" lIns="0" tIns="0" rIns="0" bIns="0" rtlCol="0" anchor="t"/>
          <a:lstStyle/>
          <a:p>
            <a:pPr algn="l" indent="0" marL="0">
              <a:lnSpc>
                <a:spcPct val="104000"/>
              </a:lnSpc>
              <a:buNone/>
            </a:pPr>
            <a:r>
              <a:rPr lang="en-US" sz="11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150" dirty="0">
                <a:solidFill>
                  <a:srgbClr val="000000"/>
                </a:solidFill>
                <a:latin typeface="Crimson Pro SemiBold" pitchFamily="34" charset="0"/>
                <a:ea typeface="Crimson Pro SemiBold" pitchFamily="34" charset="-122"/>
                <a:cs typeface="Crimson Pro SemiBold" pitchFamily="34" charset="-120"/>
              </a:rPr>
              <a:t> Production Defects</a:t>
            </a:r>
            <a:endParaRPr lang="en-US" sz="1150" dirty="0"/>
          </a:p>
        </p:txBody>
      </p:sp>
      <p:sp>
        <p:nvSpPr>
          <p:cNvPr id="38" name="Text 29"/>
          <p:cNvSpPr/>
          <p:nvPr/>
        </p:nvSpPr>
        <p:spPr>
          <a:xfrm>
            <a:off x="9331687" y="4266208"/>
            <a:ext cx="2050304" cy="317302"/>
          </a:xfrm>
          <a:prstGeom prst="rect">
            <a:avLst/>
          </a:prstGeom>
          <a:noFill/>
          <a:ln/>
        </p:spPr>
        <p:txBody>
          <a:bodyPr wrap="square" lIns="0" tIns="0" rIns="0" bIns="0" rtlCol="0" anchor="t">
            <a:normAutofit/>
          </a:bodyPr>
          <a:lstStyle/>
          <a:p>
            <a:pPr algn="l" indent="0" marL="0">
              <a:lnSpc>
                <a:spcPct val="109000"/>
              </a:lnSpc>
              <a:buNone/>
            </a:pPr>
            <a:r>
              <a:rPr lang="en-US" sz="950" dirty="0">
                <a:solidFill>
                  <a:srgbClr val="000000"/>
                </a:solidFill>
                <a:latin typeface="Heebo" pitchFamily="34" charset="0"/>
                <a:ea typeface="Heebo" pitchFamily="34" charset="-122"/>
                <a:cs typeface="Heebo" pitchFamily="34" charset="-120"/>
              </a:rPr>
              <a:t>Bugs slipping through inconsistent coverage</a:t>
            </a:r>
            <a:endParaRPr lang="en-US" sz="950" dirty="0"/>
          </a:p>
        </p:txBody>
      </p:sp>
      <p:sp>
        <p:nvSpPr>
          <p:cNvPr id="39" name="Shape 30"/>
          <p:cNvSpPr/>
          <p:nvPr/>
        </p:nvSpPr>
        <p:spPr>
          <a:xfrm>
            <a:off x="6841656" y="4781649"/>
            <a:ext cx="2291896" cy="825302"/>
          </a:xfrm>
          <a:prstGeom prst="roundRect">
            <a:avLst>
              <a:gd name="adj" fmla="val 2198"/>
            </a:avLst>
          </a:prstGeom>
          <a:solidFill>
            <a:srgbClr val="F2EEEE"/>
          </a:solidFill>
          <a:ln/>
        </p:spPr>
      </p:sp>
      <p:sp>
        <p:nvSpPr>
          <p:cNvPr id="40" name="Text 31"/>
          <p:cNvSpPr/>
          <p:nvPr/>
        </p:nvSpPr>
        <p:spPr>
          <a:xfrm>
            <a:off x="6962502" y="4902498"/>
            <a:ext cx="2050205" cy="189012"/>
          </a:xfrm>
          <a:prstGeom prst="rect">
            <a:avLst/>
          </a:prstGeom>
          <a:noFill/>
          <a:ln/>
        </p:spPr>
        <p:txBody>
          <a:bodyPr wrap="none" lIns="0" tIns="0" rIns="0" bIns="0" rtlCol="0" anchor="t"/>
          <a:lstStyle/>
          <a:p>
            <a:pPr algn="l" indent="0" marL="0">
              <a:lnSpc>
                <a:spcPct val="104000"/>
              </a:lnSpc>
              <a:buNone/>
            </a:pPr>
            <a:r>
              <a:rPr lang="en-US" sz="11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150" dirty="0">
                <a:solidFill>
                  <a:srgbClr val="000000"/>
                </a:solidFill>
                <a:latin typeface="Crimson Pro SemiBold" pitchFamily="34" charset="0"/>
                <a:ea typeface="Crimson Pro SemiBold" pitchFamily="34" charset="-122"/>
                <a:cs typeface="Crimson Pro SemiBold" pitchFamily="34" charset="-120"/>
              </a:rPr>
              <a:t> Inconsistent Coverage</a:t>
            </a:r>
            <a:endParaRPr lang="en-US" sz="1150" dirty="0"/>
          </a:p>
        </p:txBody>
      </p:sp>
      <p:sp>
        <p:nvSpPr>
          <p:cNvPr id="41" name="Text 32"/>
          <p:cNvSpPr/>
          <p:nvPr/>
        </p:nvSpPr>
        <p:spPr>
          <a:xfrm>
            <a:off x="6962502" y="5168801"/>
            <a:ext cx="2050205" cy="317302"/>
          </a:xfrm>
          <a:prstGeom prst="rect">
            <a:avLst/>
          </a:prstGeom>
          <a:noFill/>
          <a:ln/>
        </p:spPr>
        <p:txBody>
          <a:bodyPr wrap="square" lIns="0" tIns="0" rIns="0" bIns="0" rtlCol="0" anchor="t">
            <a:normAutofit/>
          </a:bodyPr>
          <a:lstStyle/>
          <a:p>
            <a:pPr algn="l" indent="0" marL="0">
              <a:lnSpc>
                <a:spcPct val="109000"/>
              </a:lnSpc>
              <a:buNone/>
            </a:pPr>
            <a:r>
              <a:rPr lang="en-US" sz="950" dirty="0">
                <a:solidFill>
                  <a:srgbClr val="000000"/>
                </a:solidFill>
                <a:latin typeface="Heebo" pitchFamily="34" charset="0"/>
                <a:ea typeface="Heebo" pitchFamily="34" charset="-122"/>
                <a:cs typeface="Heebo" pitchFamily="34" charset="-120"/>
              </a:rPr>
              <a:t>No standard process across 6 CMS projects</a:t>
            </a:r>
            <a:endParaRPr lang="en-US" sz="950" dirty="0"/>
          </a:p>
        </p:txBody>
      </p:sp>
      <p:sp>
        <p:nvSpPr>
          <p:cNvPr id="42" name="Shape 33"/>
          <p:cNvSpPr/>
          <p:nvPr/>
        </p:nvSpPr>
        <p:spPr>
          <a:xfrm>
            <a:off x="9210841" y="4781649"/>
            <a:ext cx="2291995" cy="825302"/>
          </a:xfrm>
          <a:prstGeom prst="roundRect">
            <a:avLst>
              <a:gd name="adj" fmla="val 2198"/>
            </a:avLst>
          </a:prstGeom>
          <a:solidFill>
            <a:srgbClr val="F2EEEE"/>
          </a:solidFill>
          <a:ln/>
        </p:spPr>
      </p:sp>
      <p:sp>
        <p:nvSpPr>
          <p:cNvPr id="43" name="Text 34"/>
          <p:cNvSpPr/>
          <p:nvPr/>
        </p:nvSpPr>
        <p:spPr>
          <a:xfrm>
            <a:off x="9331687" y="4902498"/>
            <a:ext cx="2050304" cy="189012"/>
          </a:xfrm>
          <a:prstGeom prst="rect">
            <a:avLst/>
          </a:prstGeom>
          <a:noFill/>
          <a:ln/>
        </p:spPr>
        <p:txBody>
          <a:bodyPr wrap="none" lIns="0" tIns="0" rIns="0" bIns="0" rtlCol="0" anchor="t"/>
          <a:lstStyle/>
          <a:p>
            <a:pPr algn="l" indent="0" marL="0">
              <a:lnSpc>
                <a:spcPct val="104000"/>
              </a:lnSpc>
              <a:buNone/>
            </a:pPr>
            <a:r>
              <a:rPr lang="en-US" sz="11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150" dirty="0">
                <a:solidFill>
                  <a:srgbClr val="000000"/>
                </a:solidFill>
                <a:latin typeface="Crimson Pro SemiBold" pitchFamily="34" charset="0"/>
                <a:ea typeface="Crimson Pro SemiBold" pitchFamily="34" charset="-122"/>
                <a:cs typeface="Crimson Pro SemiBold" pitchFamily="34" charset="-120"/>
              </a:rPr>
              <a:t> Developer Frustration</a:t>
            </a:r>
            <a:endParaRPr lang="en-US" sz="1150" dirty="0"/>
          </a:p>
        </p:txBody>
      </p:sp>
      <p:sp>
        <p:nvSpPr>
          <p:cNvPr id="44" name="Text 35"/>
          <p:cNvSpPr/>
          <p:nvPr/>
        </p:nvSpPr>
        <p:spPr>
          <a:xfrm>
            <a:off x="9331687" y="5168801"/>
            <a:ext cx="2050304" cy="158651"/>
          </a:xfrm>
          <a:prstGeom prst="rect">
            <a:avLst/>
          </a:prstGeom>
          <a:noFill/>
          <a:ln/>
        </p:spPr>
        <p:txBody>
          <a:bodyPr wrap="none" lIns="0" tIns="0" rIns="0" bIns="0" rtlCol="0" anchor="t"/>
          <a:lstStyle/>
          <a:p>
            <a:pPr algn="l" indent="0" marL="0">
              <a:lnSpc>
                <a:spcPct val="109000"/>
              </a:lnSpc>
              <a:buNone/>
            </a:pPr>
            <a:r>
              <a:rPr lang="en-US" sz="950" dirty="0">
                <a:solidFill>
                  <a:srgbClr val="000000"/>
                </a:solidFill>
                <a:latin typeface="Heebo" pitchFamily="34" charset="0"/>
                <a:ea typeface="Heebo" pitchFamily="34" charset="-122"/>
                <a:cs typeface="Heebo" pitchFamily="34" charset="-120"/>
              </a:rPr>
              <a:t>No timely feedback loop for engineers</a:t>
            </a:r>
            <a:endParaRPr lang="en-US" sz="950" dirty="0"/>
          </a:p>
        </p:txBody>
      </p:sp>
      <p:sp>
        <p:nvSpPr>
          <p:cNvPr id="45" name="Shape 36"/>
          <p:cNvSpPr/>
          <p:nvPr/>
        </p:nvSpPr>
        <p:spPr>
          <a:xfrm>
            <a:off x="6841656" y="5693966"/>
            <a:ext cx="4661180" cy="516731"/>
          </a:xfrm>
          <a:prstGeom prst="roundRect">
            <a:avLst>
              <a:gd name="adj" fmla="val 3511"/>
            </a:avLst>
          </a:prstGeom>
          <a:solidFill>
            <a:srgbClr val="450707"/>
          </a:solidFill>
          <a:ln/>
        </p:spPr>
      </p:sp>
      <p:pic>
        <p:nvPicPr>
          <p:cNvPr id="46" name="Image 7" descr="preencoded.png">    </p:cNvPr>
          <p:cNvPicPr>
            <a:picLocks noChangeAspect="1"/>
          </p:cNvPicPr>
          <p:nvPr/>
        </p:nvPicPr>
        <p:blipFill>
          <a:blip r:embed="rId13"/>
          <a:stretch>
            <a:fillRect/>
          </a:stretch>
        </p:blipFill>
        <p:spPr>
          <a:xfrm>
            <a:off x="6962502" y="5809952"/>
            <a:ext cx="151106" cy="120848"/>
          </a:xfrm>
          <a:prstGeom prst="rect">
            <a:avLst/>
          </a:prstGeom>
        </p:spPr>
      </p:pic>
      <p:sp>
        <p:nvSpPr>
          <p:cNvPr id="47" name="Text 37"/>
          <p:cNvSpPr/>
          <p:nvPr/>
        </p:nvSpPr>
        <p:spPr>
          <a:xfrm>
            <a:off x="7234453" y="5793680"/>
            <a:ext cx="4147538" cy="317302"/>
          </a:xfrm>
          <a:prstGeom prst="rect">
            <a:avLst/>
          </a:prstGeom>
          <a:noFill/>
          <a:ln/>
        </p:spPr>
        <p:txBody>
          <a:bodyPr wrap="square" lIns="0" tIns="0" rIns="0" bIns="0" rtlCol="0" anchor="t">
            <a:normAutofit/>
          </a:bodyPr>
          <a:lstStyle/>
          <a:p>
            <a:pPr algn="l" indent="0" marL="0">
              <a:lnSpc>
                <a:spcPct val="109000"/>
              </a:lnSpc>
              <a:buNone/>
            </a:pPr>
            <a:r>
              <a:rPr lang="en-US" sz="950" b="1" dirty="0">
                <a:solidFill>
                  <a:srgbClr val="FFFFFF"/>
                </a:solidFill>
                <a:latin typeface="Heebo Bold" pitchFamily="34" charset="0"/>
                <a:ea typeface="Heebo Bold" pitchFamily="34" charset="-122"/>
                <a:cs typeface="Heebo Bold" pitchFamily="34" charset="-120"/>
              </a:rPr>
              <a:t>Up to 5+ days per sprint</a:t>
            </a:r>
            <a:pPr algn="l" indent="0" marL="0">
              <a:lnSpc>
                <a:spcPct val="109000"/>
              </a:lnSpc>
              <a:buNone/>
            </a:pPr>
            <a:r>
              <a:rPr lang="en-US" sz="950" dirty="0">
                <a:solidFill>
                  <a:srgbClr val="FFFFFF"/>
                </a:solidFill>
                <a:latin typeface="Heebo" pitchFamily="34" charset="0"/>
                <a:ea typeface="Heebo" pitchFamily="34" charset="-122"/>
                <a:cs typeface="Heebo" pitchFamily="34" charset="-120"/>
              </a:rPr>
              <a:t> consumed by manual testing alone — with no guarantee of consistent quality or complete coverage across all 6 projects.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634603"/>
            <a:ext cx="10868745" cy="561181"/>
          </a:xfrm>
          <a:prstGeom prst="rect">
            <a:avLst/>
          </a:prstGeom>
          <a:noFill/>
          <a:ln/>
        </p:spPr>
        <p:txBody>
          <a:bodyPr wrap="none" lIns="0" tIns="0" rIns="0" bIns="0" rtlCol="0" anchor="t"/>
          <a:lstStyle/>
          <a:p>
            <a:pPr algn="l" indent="0" marL="0">
              <a:lnSpc>
                <a:spcPct val="104000"/>
              </a:lnSpc>
              <a:buNone/>
            </a:pPr>
            <a:r>
              <a:rPr lang="en-US" sz="3500" dirty="0">
                <a:solidFill>
                  <a:srgbClr val="152D47"/>
                </a:solidFill>
                <a:latin typeface="Crimson Pro SemiBold" pitchFamily="34" charset="0"/>
                <a:ea typeface="Crimson Pro SemiBold" pitchFamily="34" charset="-122"/>
                <a:cs typeface="Crimson Pro SemiBold" pitchFamily="34" charset="-120"/>
              </a:rPr>
              <a:t>The Solution — Integrated CI/CD Pipeline</a:t>
            </a:r>
            <a:endParaRPr lang="en-US" sz="3500" dirty="0"/>
          </a:p>
        </p:txBody>
      </p:sp>
      <p:sp>
        <p:nvSpPr>
          <p:cNvPr id="3" name="Text 1"/>
          <p:cNvSpPr/>
          <p:nvPr/>
        </p:nvSpPr>
        <p:spPr>
          <a:xfrm>
            <a:off x="661475" y="1536898"/>
            <a:ext cx="11478330" cy="280095"/>
          </a:xfrm>
          <a:prstGeom prst="rect">
            <a:avLst/>
          </a:prstGeom>
          <a:noFill/>
          <a:ln/>
        </p:spPr>
        <p:txBody>
          <a:bodyPr wrap="none" lIns="0" tIns="0" rIns="0" bIns="0" rtlCol="0" anchor="t"/>
          <a:lstStyle/>
          <a:p>
            <a:pPr algn="l" indent="0" marL="0">
              <a:lnSpc>
                <a:spcPct val="130000"/>
              </a:lnSpc>
              <a:buNone/>
            </a:pPr>
            <a:r>
              <a:rPr lang="en-US" sz="1400" dirty="0">
                <a:solidFill>
                  <a:srgbClr val="4C4C4D"/>
                </a:solidFill>
                <a:latin typeface="Heebo" pitchFamily="34" charset="0"/>
                <a:ea typeface="Heebo" pitchFamily="34" charset="-122"/>
                <a:cs typeface="Heebo" pitchFamily="34" charset="-120"/>
              </a:rPr>
              <a:t>A fully automated pipeline triggered on every code push, progressing through five quality gates before delivering results to the team.</a:t>
            </a:r>
            <a:endParaRPr lang="en-US" sz="1400" dirty="0"/>
          </a:p>
        </p:txBody>
      </p:sp>
      <p:pic>
        <p:nvPicPr>
          <p:cNvPr id="4" name="Image 0" descr="preencoded.png">    </p:cNvPr>
          <p:cNvPicPr>
            <a:picLocks noChangeAspect="1"/>
          </p:cNvPicPr>
          <p:nvPr/>
        </p:nvPicPr>
        <p:blipFill>
          <a:blip r:embed="rId1"/>
          <a:stretch>
            <a:fillRect/>
          </a:stretch>
        </p:blipFill>
        <p:spPr>
          <a:xfrm>
            <a:off x="661475" y="2008882"/>
            <a:ext cx="3622882" cy="718245"/>
          </a:xfrm>
          <a:prstGeom prst="rect">
            <a:avLst/>
          </a:prstGeom>
        </p:spPr>
      </p:pic>
      <p:sp>
        <p:nvSpPr>
          <p:cNvPr id="5" name="Text 2"/>
          <p:cNvSpPr/>
          <p:nvPr/>
        </p:nvSpPr>
        <p:spPr>
          <a:xfrm>
            <a:off x="840957" y="2897684"/>
            <a:ext cx="3263918" cy="280491"/>
          </a:xfrm>
          <a:prstGeom prst="rect">
            <a:avLst/>
          </a:prstGeom>
          <a:noFill/>
          <a:ln/>
        </p:spPr>
        <p:txBody>
          <a:bodyPr wrap="none" lIns="0" tIns="0" rIns="0" bIns="0" rtlCol="0" anchor="t"/>
          <a:lstStyle/>
          <a:p>
            <a:pPr algn="l" indent="0" marL="0">
              <a:lnSpc>
                <a:spcPct val="104000"/>
              </a:lnSpc>
              <a:buNone/>
            </a:pPr>
            <a:r>
              <a:rPr lang="en-US" sz="1750" dirty="0">
                <a:solidFill>
                  <a:srgbClr val="4C4C4D"/>
                </a:solidFill>
                <a:latin typeface="Crimson Pro SemiBold" pitchFamily="34" charset="0"/>
                <a:ea typeface="Crimson Pro SemiBold" pitchFamily="34" charset="-122"/>
                <a:cs typeface="Crimson Pro SemiBold" pitchFamily="34" charset="-120"/>
              </a:rPr>
              <a:t>Functional Tests</a:t>
            </a:r>
            <a:endParaRPr lang="en-US" sz="1750" dirty="0"/>
          </a:p>
        </p:txBody>
      </p:sp>
      <p:sp>
        <p:nvSpPr>
          <p:cNvPr id="6" name="Text 3"/>
          <p:cNvSpPr/>
          <p:nvPr/>
        </p:nvSpPr>
        <p:spPr>
          <a:xfrm>
            <a:off x="840957" y="3280470"/>
            <a:ext cx="3263918" cy="280095"/>
          </a:xfrm>
          <a:prstGeom prst="rect">
            <a:avLst/>
          </a:prstGeom>
          <a:noFill/>
          <a:ln/>
        </p:spPr>
        <p:txBody>
          <a:bodyPr wrap="none" lIns="0" tIns="0" rIns="0" bIns="0" rtlCol="0" anchor="t"/>
          <a:lstStyle/>
          <a:p>
            <a:pPr algn="l" indent="0" marL="0">
              <a:lnSpc>
                <a:spcPct val="130000"/>
              </a:lnSpc>
              <a:buNone/>
            </a:pPr>
            <a:r>
              <a:rPr lang="en-US" sz="1400" dirty="0">
                <a:solidFill>
                  <a:srgbClr val="4C4C4D"/>
                </a:solidFill>
                <a:latin typeface="Heebo" pitchFamily="34" charset="0"/>
                <a:ea typeface="Heebo" pitchFamily="34" charset="-122"/>
                <a:cs typeface="Heebo" pitchFamily="34" charset="-120"/>
              </a:rPr>
              <a:t>Playwright E2E and API checks</a:t>
            </a:r>
            <a:endParaRPr lang="en-US" sz="1400" dirty="0"/>
          </a:p>
        </p:txBody>
      </p:sp>
      <p:pic>
        <p:nvPicPr>
          <p:cNvPr id="7" name="Image 1" descr="preencoded.png">    </p:cNvPr>
          <p:cNvPicPr>
            <a:picLocks noChangeAspect="1"/>
          </p:cNvPicPr>
          <p:nvPr/>
        </p:nvPicPr>
        <p:blipFill>
          <a:blip r:embed="rId2"/>
          <a:stretch>
            <a:fillRect/>
          </a:stretch>
        </p:blipFill>
        <p:spPr>
          <a:xfrm>
            <a:off x="4284357" y="2008882"/>
            <a:ext cx="3622882" cy="718245"/>
          </a:xfrm>
          <a:prstGeom prst="rect">
            <a:avLst/>
          </a:prstGeom>
        </p:spPr>
      </p:pic>
      <p:sp>
        <p:nvSpPr>
          <p:cNvPr id="8" name="Text 4"/>
          <p:cNvSpPr/>
          <p:nvPr/>
        </p:nvSpPr>
        <p:spPr>
          <a:xfrm>
            <a:off x="4463839" y="2897684"/>
            <a:ext cx="3263918" cy="280491"/>
          </a:xfrm>
          <a:prstGeom prst="rect">
            <a:avLst/>
          </a:prstGeom>
          <a:noFill/>
          <a:ln/>
        </p:spPr>
        <p:txBody>
          <a:bodyPr wrap="none" lIns="0" tIns="0" rIns="0" bIns="0" rtlCol="0" anchor="t"/>
          <a:lstStyle/>
          <a:p>
            <a:pPr algn="l" indent="0" marL="0">
              <a:lnSpc>
                <a:spcPct val="104000"/>
              </a:lnSpc>
              <a:buNone/>
            </a:pPr>
            <a:r>
              <a:rPr lang="en-US" sz="1750" dirty="0">
                <a:solidFill>
                  <a:srgbClr val="4C4C4D"/>
                </a:solidFill>
                <a:latin typeface="Crimson Pro SemiBold" pitchFamily="34" charset="0"/>
                <a:ea typeface="Crimson Pro SemiBold" pitchFamily="34" charset="-122"/>
                <a:cs typeface="Crimson Pro SemiBold" pitchFamily="34" charset="-120"/>
              </a:rPr>
              <a:t>Security Scan</a:t>
            </a:r>
            <a:endParaRPr lang="en-US" sz="1750" dirty="0"/>
          </a:p>
        </p:txBody>
      </p:sp>
      <p:sp>
        <p:nvSpPr>
          <p:cNvPr id="9" name="Text 5"/>
          <p:cNvSpPr/>
          <p:nvPr/>
        </p:nvSpPr>
        <p:spPr>
          <a:xfrm>
            <a:off x="4463839" y="3280470"/>
            <a:ext cx="3263918" cy="280095"/>
          </a:xfrm>
          <a:prstGeom prst="rect">
            <a:avLst/>
          </a:prstGeom>
          <a:noFill/>
          <a:ln/>
        </p:spPr>
        <p:txBody>
          <a:bodyPr wrap="none" lIns="0" tIns="0" rIns="0" bIns="0" rtlCol="0" anchor="t"/>
          <a:lstStyle/>
          <a:p>
            <a:pPr algn="l" indent="0" marL="0">
              <a:lnSpc>
                <a:spcPct val="130000"/>
              </a:lnSpc>
              <a:buNone/>
            </a:pPr>
            <a:r>
              <a:rPr lang="en-US" sz="1400" dirty="0">
                <a:solidFill>
                  <a:srgbClr val="4C4C4D"/>
                </a:solidFill>
                <a:latin typeface="Heebo" pitchFamily="34" charset="0"/>
                <a:ea typeface="Heebo" pitchFamily="34" charset="-122"/>
                <a:cs typeface="Heebo" pitchFamily="34" charset="-120"/>
              </a:rPr>
              <a:t>OWASP ZAP DAST analysis</a:t>
            </a:r>
            <a:endParaRPr lang="en-US" sz="1400" dirty="0"/>
          </a:p>
        </p:txBody>
      </p:sp>
      <p:pic>
        <p:nvPicPr>
          <p:cNvPr id="10" name="Image 2" descr="preencoded.png">    </p:cNvPr>
          <p:cNvPicPr>
            <a:picLocks noChangeAspect="1"/>
          </p:cNvPicPr>
          <p:nvPr/>
        </p:nvPicPr>
        <p:blipFill>
          <a:blip r:embed="rId3"/>
          <a:stretch>
            <a:fillRect/>
          </a:stretch>
        </p:blipFill>
        <p:spPr>
          <a:xfrm>
            <a:off x="7907239" y="2008882"/>
            <a:ext cx="3622882" cy="718245"/>
          </a:xfrm>
          <a:prstGeom prst="rect">
            <a:avLst/>
          </a:prstGeom>
        </p:spPr>
      </p:pic>
      <p:sp>
        <p:nvSpPr>
          <p:cNvPr id="11" name="Text 6"/>
          <p:cNvSpPr/>
          <p:nvPr/>
        </p:nvSpPr>
        <p:spPr>
          <a:xfrm>
            <a:off x="8086721" y="2897684"/>
            <a:ext cx="3263918" cy="280491"/>
          </a:xfrm>
          <a:prstGeom prst="rect">
            <a:avLst/>
          </a:prstGeom>
          <a:noFill/>
          <a:ln/>
        </p:spPr>
        <p:txBody>
          <a:bodyPr wrap="none" lIns="0" tIns="0" rIns="0" bIns="0" rtlCol="0" anchor="t"/>
          <a:lstStyle/>
          <a:p>
            <a:pPr algn="l" indent="0" marL="0">
              <a:lnSpc>
                <a:spcPct val="104000"/>
              </a:lnSpc>
              <a:buNone/>
            </a:pPr>
            <a:r>
              <a:rPr lang="en-US" sz="1750" dirty="0">
                <a:solidFill>
                  <a:srgbClr val="4C4C4D"/>
                </a:solidFill>
                <a:latin typeface="Crimson Pro SemiBold" pitchFamily="34" charset="0"/>
                <a:ea typeface="Crimson Pro SemiBold" pitchFamily="34" charset="-122"/>
                <a:cs typeface="Crimson Pro SemiBold" pitchFamily="34" charset="-120"/>
              </a:rPr>
              <a:t>Performance</a:t>
            </a:r>
            <a:endParaRPr lang="en-US" sz="1750" dirty="0"/>
          </a:p>
        </p:txBody>
      </p:sp>
      <p:sp>
        <p:nvSpPr>
          <p:cNvPr id="12" name="Text 7"/>
          <p:cNvSpPr/>
          <p:nvPr/>
        </p:nvSpPr>
        <p:spPr>
          <a:xfrm>
            <a:off x="8086721" y="3280470"/>
            <a:ext cx="3263918" cy="280095"/>
          </a:xfrm>
          <a:prstGeom prst="rect">
            <a:avLst/>
          </a:prstGeom>
          <a:noFill/>
          <a:ln/>
        </p:spPr>
        <p:txBody>
          <a:bodyPr wrap="none" lIns="0" tIns="0" rIns="0" bIns="0" rtlCol="0" anchor="t"/>
          <a:lstStyle/>
          <a:p>
            <a:pPr algn="l" indent="0" marL="0">
              <a:lnSpc>
                <a:spcPct val="130000"/>
              </a:lnSpc>
              <a:buNone/>
            </a:pPr>
            <a:r>
              <a:rPr lang="en-US" sz="1400" dirty="0">
                <a:solidFill>
                  <a:srgbClr val="4C4C4D"/>
                </a:solidFill>
                <a:latin typeface="Heebo" pitchFamily="34" charset="0"/>
                <a:ea typeface="Heebo" pitchFamily="34" charset="-122"/>
                <a:cs typeface="Heebo" pitchFamily="34" charset="-120"/>
              </a:rPr>
              <a:t>k6 load and stress tests</a:t>
            </a:r>
            <a:endParaRPr lang="en-US" sz="1400" dirty="0"/>
          </a:p>
        </p:txBody>
      </p:sp>
      <p:pic>
        <p:nvPicPr>
          <p:cNvPr id="13" name="Image 3" descr="preencoded.png">    </p:cNvPr>
          <p:cNvPicPr>
            <a:picLocks noChangeAspect="1"/>
          </p:cNvPicPr>
          <p:nvPr/>
        </p:nvPicPr>
        <p:blipFill>
          <a:blip r:embed="rId4"/>
          <a:stretch>
            <a:fillRect/>
          </a:stretch>
        </p:blipFill>
        <p:spPr>
          <a:xfrm>
            <a:off x="661475" y="3740051"/>
            <a:ext cx="3622882" cy="718245"/>
          </a:xfrm>
          <a:prstGeom prst="rect">
            <a:avLst/>
          </a:prstGeom>
        </p:spPr>
      </p:pic>
      <p:sp>
        <p:nvSpPr>
          <p:cNvPr id="14" name="Text 8"/>
          <p:cNvSpPr/>
          <p:nvPr/>
        </p:nvSpPr>
        <p:spPr>
          <a:xfrm>
            <a:off x="840957" y="4628852"/>
            <a:ext cx="3263918" cy="280491"/>
          </a:xfrm>
          <a:prstGeom prst="rect">
            <a:avLst/>
          </a:prstGeom>
          <a:noFill/>
          <a:ln/>
        </p:spPr>
        <p:txBody>
          <a:bodyPr wrap="none" lIns="0" tIns="0" rIns="0" bIns="0" rtlCol="0" anchor="t"/>
          <a:lstStyle/>
          <a:p>
            <a:pPr algn="l" indent="0" marL="0">
              <a:lnSpc>
                <a:spcPct val="104000"/>
              </a:lnSpc>
              <a:buNone/>
            </a:pPr>
            <a:r>
              <a:rPr lang="en-US" sz="1750" dirty="0">
                <a:solidFill>
                  <a:srgbClr val="4C4C4D"/>
                </a:solidFill>
                <a:latin typeface="Crimson Pro SemiBold" pitchFamily="34" charset="0"/>
                <a:ea typeface="Crimson Pro SemiBold" pitchFamily="34" charset="-122"/>
                <a:cs typeface="Crimson Pro SemiBold" pitchFamily="34" charset="-120"/>
              </a:rPr>
              <a:t>Cross‑Browser</a:t>
            </a:r>
            <a:endParaRPr lang="en-US" sz="1750" dirty="0"/>
          </a:p>
        </p:txBody>
      </p:sp>
      <p:sp>
        <p:nvSpPr>
          <p:cNvPr id="15" name="Text 9"/>
          <p:cNvSpPr/>
          <p:nvPr/>
        </p:nvSpPr>
        <p:spPr>
          <a:xfrm>
            <a:off x="840957" y="5011638"/>
            <a:ext cx="3263918" cy="280095"/>
          </a:xfrm>
          <a:prstGeom prst="rect">
            <a:avLst/>
          </a:prstGeom>
          <a:noFill/>
          <a:ln/>
        </p:spPr>
        <p:txBody>
          <a:bodyPr wrap="none" lIns="0" tIns="0" rIns="0" bIns="0" rtlCol="0" anchor="t"/>
          <a:lstStyle/>
          <a:p>
            <a:pPr algn="l" indent="0" marL="0">
              <a:lnSpc>
                <a:spcPct val="130000"/>
              </a:lnSpc>
              <a:buNone/>
            </a:pPr>
            <a:r>
              <a:rPr lang="en-US" sz="1400" dirty="0">
                <a:solidFill>
                  <a:srgbClr val="4C4C4D"/>
                </a:solidFill>
                <a:latin typeface="Heebo" pitchFamily="34" charset="0"/>
                <a:ea typeface="Heebo" pitchFamily="34" charset="-122"/>
                <a:cs typeface="Heebo" pitchFamily="34" charset="-120"/>
              </a:rPr>
              <a:t>BrowserStack compatibility runs</a:t>
            </a:r>
            <a:endParaRPr lang="en-US" sz="1400" dirty="0"/>
          </a:p>
        </p:txBody>
      </p:sp>
      <p:pic>
        <p:nvPicPr>
          <p:cNvPr id="16" name="Image 4" descr="preencoded.png">    </p:cNvPr>
          <p:cNvPicPr>
            <a:picLocks noChangeAspect="1"/>
          </p:cNvPicPr>
          <p:nvPr/>
        </p:nvPicPr>
        <p:blipFill>
          <a:blip r:embed="rId5"/>
          <a:stretch>
            <a:fillRect/>
          </a:stretch>
        </p:blipFill>
        <p:spPr>
          <a:xfrm>
            <a:off x="4284357" y="3740051"/>
            <a:ext cx="3622882" cy="718245"/>
          </a:xfrm>
          <a:prstGeom prst="rect">
            <a:avLst/>
          </a:prstGeom>
        </p:spPr>
      </p:pic>
      <p:sp>
        <p:nvSpPr>
          <p:cNvPr id="17" name="Text 10"/>
          <p:cNvSpPr/>
          <p:nvPr/>
        </p:nvSpPr>
        <p:spPr>
          <a:xfrm>
            <a:off x="4463839" y="4628852"/>
            <a:ext cx="3263918" cy="280491"/>
          </a:xfrm>
          <a:prstGeom prst="rect">
            <a:avLst/>
          </a:prstGeom>
          <a:noFill/>
          <a:ln/>
        </p:spPr>
        <p:txBody>
          <a:bodyPr wrap="none" lIns="0" tIns="0" rIns="0" bIns="0" rtlCol="0" anchor="t"/>
          <a:lstStyle/>
          <a:p>
            <a:pPr algn="l" indent="0" marL="0">
              <a:lnSpc>
                <a:spcPct val="104000"/>
              </a:lnSpc>
              <a:buNone/>
            </a:pPr>
            <a:r>
              <a:rPr lang="en-US" sz="1750" dirty="0">
                <a:solidFill>
                  <a:srgbClr val="4C4C4D"/>
                </a:solidFill>
                <a:latin typeface="Crimson Pro SemiBold" pitchFamily="34" charset="0"/>
                <a:ea typeface="Crimson Pro SemiBold" pitchFamily="34" charset="-122"/>
                <a:cs typeface="Crimson Pro SemiBold" pitchFamily="34" charset="-120"/>
              </a:rPr>
              <a:t>Reporting</a:t>
            </a:r>
            <a:endParaRPr lang="en-US" sz="1750" dirty="0"/>
          </a:p>
        </p:txBody>
      </p:sp>
      <p:sp>
        <p:nvSpPr>
          <p:cNvPr id="18" name="Text 11"/>
          <p:cNvSpPr/>
          <p:nvPr/>
        </p:nvSpPr>
        <p:spPr>
          <a:xfrm>
            <a:off x="4463839" y="5011638"/>
            <a:ext cx="3263918" cy="280095"/>
          </a:xfrm>
          <a:prstGeom prst="rect">
            <a:avLst/>
          </a:prstGeom>
          <a:noFill/>
          <a:ln/>
        </p:spPr>
        <p:txBody>
          <a:bodyPr wrap="none" lIns="0" tIns="0" rIns="0" bIns="0" rtlCol="0" anchor="t"/>
          <a:lstStyle/>
          <a:p>
            <a:pPr algn="l" indent="0" marL="0">
              <a:lnSpc>
                <a:spcPct val="130000"/>
              </a:lnSpc>
              <a:buNone/>
            </a:pPr>
            <a:r>
              <a:rPr lang="en-US" sz="1400" dirty="0">
                <a:solidFill>
                  <a:srgbClr val="4C4C4D"/>
                </a:solidFill>
                <a:latin typeface="Heebo" pitchFamily="34" charset="0"/>
                <a:ea typeface="Heebo" pitchFamily="34" charset="-122"/>
                <a:cs typeface="Heebo" pitchFamily="34" charset="-120"/>
              </a:rPr>
              <a:t>Allure reports and Slack notifications</a:t>
            </a:r>
            <a:endParaRPr lang="en-US" sz="1400" dirty="0"/>
          </a:p>
        </p:txBody>
      </p:sp>
      <p:sp>
        <p:nvSpPr>
          <p:cNvPr id="19" name="Text 12"/>
          <p:cNvSpPr/>
          <p:nvPr/>
        </p:nvSpPr>
        <p:spPr>
          <a:xfrm>
            <a:off x="661475" y="5663109"/>
            <a:ext cx="10868745" cy="560189"/>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4C4C4D"/>
                </a:solidFill>
                <a:latin typeface="Heebo" pitchFamily="34" charset="0"/>
                <a:ea typeface="Heebo" pitchFamily="34" charset="-122"/>
                <a:cs typeface="Heebo" pitchFamily="34" charset="-120"/>
              </a:rPr>
              <a:t>Developer pushes code → Branch and commit metadata extracted → Downstream test pipeline triggered → Results delivered in real time.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58998"/>
            <a:ext cx="10868745" cy="494209"/>
          </a:xfrm>
          <a:prstGeom prst="rect">
            <a:avLst/>
          </a:prstGeom>
          <a:noFill/>
          <a:ln/>
        </p:spPr>
        <p:txBody>
          <a:bodyPr wrap="none" lIns="0" tIns="0" rIns="0" bIns="0" rtlCol="0" anchor="t"/>
          <a:lstStyle/>
          <a:p>
            <a:pPr algn="l" indent="0" marL="0">
              <a:lnSpc>
                <a:spcPct val="104000"/>
              </a:lnSpc>
              <a:buNone/>
            </a:pPr>
            <a:r>
              <a:rPr lang="en-US" sz="3100" dirty="0">
                <a:solidFill>
                  <a:srgbClr val="152D47"/>
                </a:solidFill>
                <a:latin typeface="Crimson Pro SemiBold" pitchFamily="34" charset="0"/>
                <a:ea typeface="Crimson Pro SemiBold" pitchFamily="34" charset="-122"/>
                <a:cs typeface="Crimson Pro SemiBold" pitchFamily="34" charset="-120"/>
              </a:rPr>
              <a:t>Technology Stack</a:t>
            </a:r>
            <a:endParaRPr lang="en-US" sz="3100" dirty="0"/>
          </a:p>
        </p:txBody>
      </p:sp>
      <p:sp>
        <p:nvSpPr>
          <p:cNvPr id="3" name="Text 1"/>
          <p:cNvSpPr/>
          <p:nvPr/>
        </p:nvSpPr>
        <p:spPr>
          <a:xfrm>
            <a:off x="661475" y="1317823"/>
            <a:ext cx="11478330" cy="232370"/>
          </a:xfrm>
          <a:prstGeom prst="rect">
            <a:avLst/>
          </a:prstGeom>
          <a:noFill/>
          <a:ln/>
        </p:spPr>
        <p:txBody>
          <a:bodyPr wrap="none" lIns="0" tIns="0" rIns="0" bIns="0" rtlCol="0" anchor="t"/>
          <a:lstStyle/>
          <a:p>
            <a:pPr algn="l" indent="0" marL="0">
              <a:lnSpc>
                <a:spcPct val="122000"/>
              </a:lnSpc>
              <a:buNone/>
            </a:pPr>
            <a:r>
              <a:rPr lang="en-US" sz="1200" dirty="0">
                <a:solidFill>
                  <a:srgbClr val="4C4C4D"/>
                </a:solidFill>
                <a:latin typeface="Heebo" pitchFamily="34" charset="0"/>
                <a:ea typeface="Heebo" pitchFamily="34" charset="-122"/>
                <a:cs typeface="Heebo" pitchFamily="34" charset="-120"/>
              </a:rPr>
              <a:t>An integrated ecosystem where every tool plays a connected role — from code push to insight delivery.</a:t>
            </a:r>
            <a:endParaRPr lang="en-US" sz="1200" dirty="0"/>
          </a:p>
        </p:txBody>
      </p:sp>
      <p:pic>
        <p:nvPicPr>
          <p:cNvPr id="4" name="Image 0" descr="preencoded.png">    </p:cNvPr>
          <p:cNvPicPr>
            <a:picLocks noChangeAspect="1"/>
          </p:cNvPicPr>
          <p:nvPr/>
        </p:nvPicPr>
        <p:blipFill>
          <a:blip r:embed="rId1"/>
          <a:stretch>
            <a:fillRect/>
          </a:stretch>
        </p:blipFill>
        <p:spPr>
          <a:xfrm>
            <a:off x="661475" y="1699022"/>
            <a:ext cx="3622882" cy="632619"/>
          </a:xfrm>
          <a:prstGeom prst="rect">
            <a:avLst/>
          </a:prstGeom>
        </p:spPr>
      </p:pic>
      <p:sp>
        <p:nvSpPr>
          <p:cNvPr id="5" name="Text 2"/>
          <p:cNvSpPr/>
          <p:nvPr/>
        </p:nvSpPr>
        <p:spPr>
          <a:xfrm>
            <a:off x="819626" y="2463899"/>
            <a:ext cx="3306581" cy="247154"/>
          </a:xfrm>
          <a:prstGeom prst="rect">
            <a:avLst/>
          </a:prstGeom>
          <a:noFill/>
          <a:ln/>
        </p:spPr>
        <p:txBody>
          <a:bodyPr wrap="none" lIns="0" tIns="0" rIns="0" bIns="0" rtlCol="0" anchor="t"/>
          <a:lstStyle/>
          <a:p>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Playwright + TypeScript</a:t>
            </a:r>
            <a:endParaRPr lang="en-US" sz="1550" dirty="0"/>
          </a:p>
        </p:txBody>
      </p:sp>
      <p:sp>
        <p:nvSpPr>
          <p:cNvPr id="6" name="Text 3"/>
          <p:cNvSpPr/>
          <p:nvPr/>
        </p:nvSpPr>
        <p:spPr>
          <a:xfrm>
            <a:off x="819626" y="2790428"/>
            <a:ext cx="3306581" cy="464741"/>
          </a:xfrm>
          <a:prstGeom prst="rect">
            <a:avLst/>
          </a:prstGeom>
          <a:noFill/>
          <a:ln/>
        </p:spPr>
        <p:txBody>
          <a:bodyPr wrap="square" lIns="0" tIns="0" rIns="0" bIns="0" rtlCol="0" anchor="t">
            <a:normAutofit/>
          </a:bodyPr>
          <a:lstStyle/>
          <a:p>
            <a:pPr algn="l" indent="0" marL="0">
              <a:lnSpc>
                <a:spcPct val="122000"/>
              </a:lnSpc>
              <a:buNone/>
            </a:pPr>
            <a:r>
              <a:rPr lang="en-US" sz="1200" dirty="0">
                <a:solidFill>
                  <a:srgbClr val="4C4C4D"/>
                </a:solidFill>
                <a:latin typeface="Heebo" pitchFamily="34" charset="0"/>
                <a:ea typeface="Heebo" pitchFamily="34" charset="-122"/>
                <a:cs typeface="Heebo" pitchFamily="34" charset="-120"/>
              </a:rPr>
              <a:t>E2E UI &amp; API tests authored and triggered on push</a:t>
            </a:r>
            <a:endParaRPr lang="en-US" sz="1200" dirty="0"/>
          </a:p>
        </p:txBody>
      </p:sp>
      <p:pic>
        <p:nvPicPr>
          <p:cNvPr id="7" name="Image 1" descr="preencoded.png">    </p:cNvPr>
          <p:cNvPicPr>
            <a:picLocks noChangeAspect="1"/>
          </p:cNvPicPr>
          <p:nvPr/>
        </p:nvPicPr>
        <p:blipFill>
          <a:blip r:embed="rId2"/>
          <a:stretch>
            <a:fillRect/>
          </a:stretch>
        </p:blipFill>
        <p:spPr>
          <a:xfrm>
            <a:off x="4284357" y="1699022"/>
            <a:ext cx="3622882" cy="632619"/>
          </a:xfrm>
          <a:prstGeom prst="rect">
            <a:avLst/>
          </a:prstGeom>
        </p:spPr>
      </p:pic>
      <p:sp>
        <p:nvSpPr>
          <p:cNvPr id="8" name="Text 4"/>
          <p:cNvSpPr/>
          <p:nvPr/>
        </p:nvSpPr>
        <p:spPr>
          <a:xfrm>
            <a:off x="4442508" y="2463899"/>
            <a:ext cx="3306581" cy="247154"/>
          </a:xfrm>
          <a:prstGeom prst="rect">
            <a:avLst/>
          </a:prstGeom>
          <a:noFill/>
          <a:ln/>
        </p:spPr>
        <p:txBody>
          <a:bodyPr wrap="none" lIns="0" tIns="0" rIns="0" bIns="0" rtlCol="0" anchor="t"/>
          <a:lstStyle/>
          <a:p>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GitLab CI</a:t>
            </a:r>
            <a:endParaRPr lang="en-US" sz="1550" dirty="0"/>
          </a:p>
        </p:txBody>
      </p:sp>
      <p:sp>
        <p:nvSpPr>
          <p:cNvPr id="9" name="Text 5"/>
          <p:cNvSpPr/>
          <p:nvPr/>
        </p:nvSpPr>
        <p:spPr>
          <a:xfrm>
            <a:off x="4442508" y="2790428"/>
            <a:ext cx="3306581" cy="464741"/>
          </a:xfrm>
          <a:prstGeom prst="rect">
            <a:avLst/>
          </a:prstGeom>
          <a:noFill/>
          <a:ln/>
        </p:spPr>
        <p:txBody>
          <a:bodyPr wrap="square" lIns="0" tIns="0" rIns="0" bIns="0" rtlCol="0" anchor="t">
            <a:normAutofit/>
          </a:bodyPr>
          <a:lstStyle/>
          <a:p>
            <a:pPr algn="l" indent="0" marL="0">
              <a:lnSpc>
                <a:spcPct val="122000"/>
              </a:lnSpc>
              <a:buNone/>
            </a:pPr>
            <a:r>
              <a:rPr lang="en-US" sz="1200" dirty="0">
                <a:solidFill>
                  <a:srgbClr val="4C4C4D"/>
                </a:solidFill>
                <a:latin typeface="Heebo" pitchFamily="34" charset="0"/>
                <a:ea typeface="Heebo" pitchFamily="34" charset="-122"/>
                <a:cs typeface="Heebo" pitchFamily="34" charset="-120"/>
              </a:rPr>
              <a:t>Pipeline orchestration — fans out to parallel test stages</a:t>
            </a:r>
            <a:endParaRPr lang="en-US" sz="1200" dirty="0"/>
          </a:p>
        </p:txBody>
      </p:sp>
      <p:pic>
        <p:nvPicPr>
          <p:cNvPr id="10" name="Image 2" descr="preencoded.png">    </p:cNvPr>
          <p:cNvPicPr>
            <a:picLocks noChangeAspect="1"/>
          </p:cNvPicPr>
          <p:nvPr/>
        </p:nvPicPr>
        <p:blipFill>
          <a:blip r:embed="rId3"/>
          <a:stretch>
            <a:fillRect/>
          </a:stretch>
        </p:blipFill>
        <p:spPr>
          <a:xfrm>
            <a:off x="7907239" y="1699022"/>
            <a:ext cx="3622882" cy="632619"/>
          </a:xfrm>
          <a:prstGeom prst="rect">
            <a:avLst/>
          </a:prstGeom>
        </p:spPr>
      </p:pic>
      <p:sp>
        <p:nvSpPr>
          <p:cNvPr id="11" name="Text 6"/>
          <p:cNvSpPr/>
          <p:nvPr/>
        </p:nvSpPr>
        <p:spPr>
          <a:xfrm>
            <a:off x="8065390" y="2463899"/>
            <a:ext cx="3306581" cy="247154"/>
          </a:xfrm>
          <a:prstGeom prst="rect">
            <a:avLst/>
          </a:prstGeom>
          <a:noFill/>
          <a:ln/>
        </p:spPr>
        <p:txBody>
          <a:bodyPr wrap="none" lIns="0" tIns="0" rIns="0" bIns="0" rtlCol="0" anchor="t"/>
          <a:lstStyle/>
          <a:p>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Allure Reports</a:t>
            </a:r>
            <a:endParaRPr lang="en-US" sz="1550" dirty="0"/>
          </a:p>
        </p:txBody>
      </p:sp>
      <p:sp>
        <p:nvSpPr>
          <p:cNvPr id="12" name="Text 7"/>
          <p:cNvSpPr/>
          <p:nvPr/>
        </p:nvSpPr>
        <p:spPr>
          <a:xfrm>
            <a:off x="8065390" y="2790428"/>
            <a:ext cx="3306581" cy="232370"/>
          </a:xfrm>
          <a:prstGeom prst="rect">
            <a:avLst/>
          </a:prstGeom>
          <a:noFill/>
          <a:ln/>
        </p:spPr>
        <p:txBody>
          <a:bodyPr wrap="none" lIns="0" tIns="0" rIns="0" bIns="0" rtlCol="0" anchor="t"/>
          <a:lstStyle/>
          <a:p>
            <a:pPr algn="l" indent="0" marL="0">
              <a:lnSpc>
                <a:spcPct val="122000"/>
              </a:lnSpc>
              <a:buNone/>
            </a:pPr>
            <a:r>
              <a:rPr lang="en-US" sz="1200" dirty="0">
                <a:solidFill>
                  <a:srgbClr val="4C4C4D"/>
                </a:solidFill>
                <a:latin typeface="Heebo" pitchFamily="34" charset="0"/>
                <a:ea typeface="Heebo" pitchFamily="34" charset="-122"/>
                <a:cs typeface="Heebo" pitchFamily="34" charset="-120"/>
              </a:rPr>
              <a:t>Results aggregated into rich visual test reports</a:t>
            </a:r>
            <a:endParaRPr lang="en-US" sz="1200" dirty="0"/>
          </a:p>
        </p:txBody>
      </p:sp>
      <p:sp>
        <p:nvSpPr>
          <p:cNvPr id="13" name="Text 8"/>
          <p:cNvSpPr/>
          <p:nvPr/>
        </p:nvSpPr>
        <p:spPr>
          <a:xfrm>
            <a:off x="356682" y="3562152"/>
            <a:ext cx="11478330" cy="185837"/>
          </a:xfrm>
          <a:prstGeom prst="rect">
            <a:avLst/>
          </a:prstGeom>
          <a:noFill/>
          <a:ln/>
        </p:spPr>
        <p:txBody>
          <a:bodyPr wrap="none" lIns="0" tIns="0" rIns="0" bIns="0" rtlCol="0" anchor="t"/>
          <a:lstStyle/>
          <a:p>
            <a:pPr algn="ctr" indent="0" marL="0">
              <a:lnSpc>
                <a:spcPct val="122000"/>
              </a:lnSpc>
              <a:buNone/>
            </a:pPr>
            <a:r>
              <a:rPr lang="en-US" sz="950" i="1" dirty="0">
                <a:solidFill>
                  <a:srgbClr val="4C4C4D"/>
                </a:solidFill>
                <a:latin typeface="Heebo" pitchFamily="34" charset="0"/>
                <a:ea typeface="Heebo" pitchFamily="34" charset="-122"/>
                <a:cs typeface="Heebo" pitchFamily="34" charset="-120"/>
              </a:rPr>
              <a:t>GitLab CI fans out to three parallel quality gates simultaneously:</a:t>
            </a:r>
            <a:endParaRPr lang="en-US" sz="950" dirty="0"/>
          </a:p>
        </p:txBody>
      </p:sp>
      <p:sp>
        <p:nvSpPr>
          <p:cNvPr id="14" name="Shape 9"/>
          <p:cNvSpPr/>
          <p:nvPr/>
        </p:nvSpPr>
        <p:spPr>
          <a:xfrm>
            <a:off x="661475" y="3896816"/>
            <a:ext cx="3534679" cy="1107579"/>
          </a:xfrm>
          <a:prstGeom prst="roundRect">
            <a:avLst>
              <a:gd name="adj" fmla="val 2142"/>
            </a:avLst>
          </a:prstGeom>
          <a:solidFill>
            <a:srgbClr val="F2EEEE"/>
          </a:solidFill>
          <a:ln/>
        </p:spPr>
      </p:sp>
      <p:sp>
        <p:nvSpPr>
          <p:cNvPr id="15" name="Text 10"/>
          <p:cNvSpPr/>
          <p:nvPr/>
        </p:nvSpPr>
        <p:spPr>
          <a:xfrm>
            <a:off x="819626" y="4054971"/>
            <a:ext cx="3218377" cy="247154"/>
          </a:xfrm>
          <a:prstGeom prst="rect">
            <a:avLst/>
          </a:prstGeom>
          <a:noFill/>
          <a:ln/>
        </p:spPr>
        <p:txBody>
          <a:bodyPr wrap="none" lIns="0" tIns="0" rIns="0" bIns="0" rtlCol="0" anchor="t"/>
          <a:lstStyle/>
          <a:p>
            <a:pPr algn="l" indent="0" marL="0">
              <a:lnSpc>
                <a:spcPct val="104000"/>
              </a:lnSpc>
              <a:buNone/>
            </a:pPr>
            <a:r>
              <a:rPr lang="en-US" sz="15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 OWASP ZAP</a:t>
            </a:r>
            <a:endParaRPr lang="en-US" sz="1550" dirty="0"/>
          </a:p>
        </p:txBody>
      </p:sp>
      <p:sp>
        <p:nvSpPr>
          <p:cNvPr id="16" name="Text 11"/>
          <p:cNvSpPr/>
          <p:nvPr/>
        </p:nvSpPr>
        <p:spPr>
          <a:xfrm>
            <a:off x="819626" y="4381500"/>
            <a:ext cx="3218377" cy="232370"/>
          </a:xfrm>
          <a:prstGeom prst="rect">
            <a:avLst/>
          </a:prstGeom>
          <a:noFill/>
          <a:ln/>
        </p:spPr>
        <p:txBody>
          <a:bodyPr wrap="none" lIns="0" tIns="0" rIns="0" bIns="0" rtlCol="0" anchor="t"/>
          <a:lstStyle/>
          <a:p>
            <a:pPr algn="l" indent="0" marL="0">
              <a:lnSpc>
                <a:spcPct val="122000"/>
              </a:lnSpc>
              <a:buNone/>
            </a:pPr>
            <a:r>
              <a:rPr lang="en-US" sz="1200" dirty="0">
                <a:solidFill>
                  <a:srgbClr val="4C4C4D"/>
                </a:solidFill>
                <a:latin typeface="Heebo" pitchFamily="34" charset="0"/>
                <a:ea typeface="Heebo" pitchFamily="34" charset="-122"/>
                <a:cs typeface="Heebo" pitchFamily="34" charset="-120"/>
              </a:rPr>
              <a:t>DAST vulnerability scanning — security gate</a:t>
            </a:r>
            <a:endParaRPr lang="en-US" sz="1200" dirty="0"/>
          </a:p>
        </p:txBody>
      </p:sp>
      <p:sp>
        <p:nvSpPr>
          <p:cNvPr id="17" name="Shape 12"/>
          <p:cNvSpPr/>
          <p:nvPr/>
        </p:nvSpPr>
        <p:spPr>
          <a:xfrm>
            <a:off x="4328409" y="3896816"/>
            <a:ext cx="3534778" cy="1107579"/>
          </a:xfrm>
          <a:prstGeom prst="roundRect">
            <a:avLst>
              <a:gd name="adj" fmla="val 2142"/>
            </a:avLst>
          </a:prstGeom>
          <a:solidFill>
            <a:srgbClr val="F2EEEE"/>
          </a:solidFill>
          <a:ln/>
        </p:spPr>
      </p:sp>
      <p:sp>
        <p:nvSpPr>
          <p:cNvPr id="18" name="Text 13"/>
          <p:cNvSpPr/>
          <p:nvPr/>
        </p:nvSpPr>
        <p:spPr>
          <a:xfrm>
            <a:off x="4486560" y="4054971"/>
            <a:ext cx="3218477" cy="247154"/>
          </a:xfrm>
          <a:prstGeom prst="rect">
            <a:avLst/>
          </a:prstGeom>
          <a:noFill/>
          <a:ln/>
        </p:spPr>
        <p:txBody>
          <a:bodyPr wrap="none" lIns="0" tIns="0" rIns="0" bIns="0" rtlCol="0" anchor="t"/>
          <a:lstStyle/>
          <a:p>
            <a:pPr algn="l" indent="0" marL="0">
              <a:lnSpc>
                <a:spcPct val="104000"/>
              </a:lnSpc>
              <a:buNone/>
            </a:pPr>
            <a:r>
              <a:rPr lang="en-US" sz="15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 k6</a:t>
            </a:r>
            <a:endParaRPr lang="en-US" sz="1550" dirty="0"/>
          </a:p>
        </p:txBody>
      </p:sp>
      <p:sp>
        <p:nvSpPr>
          <p:cNvPr id="19" name="Text 14"/>
          <p:cNvSpPr/>
          <p:nvPr/>
        </p:nvSpPr>
        <p:spPr>
          <a:xfrm>
            <a:off x="4486560" y="4381500"/>
            <a:ext cx="3218477" cy="232370"/>
          </a:xfrm>
          <a:prstGeom prst="rect">
            <a:avLst/>
          </a:prstGeom>
          <a:noFill/>
          <a:ln/>
        </p:spPr>
        <p:txBody>
          <a:bodyPr wrap="none" lIns="0" tIns="0" rIns="0" bIns="0" rtlCol="0" anchor="t"/>
          <a:lstStyle/>
          <a:p>
            <a:pPr algn="l" indent="0" marL="0">
              <a:lnSpc>
                <a:spcPct val="122000"/>
              </a:lnSpc>
              <a:buNone/>
            </a:pPr>
            <a:r>
              <a:rPr lang="en-US" sz="1200" dirty="0">
                <a:solidFill>
                  <a:srgbClr val="4C4C4D"/>
                </a:solidFill>
                <a:latin typeface="Heebo" pitchFamily="34" charset="0"/>
                <a:ea typeface="Heebo" pitchFamily="34" charset="-122"/>
                <a:cs typeface="Heebo" pitchFamily="34" charset="-120"/>
              </a:rPr>
              <a:t>Load &amp; stress testing — performance gate</a:t>
            </a:r>
            <a:endParaRPr lang="en-US" sz="1200" dirty="0"/>
          </a:p>
        </p:txBody>
      </p:sp>
      <p:sp>
        <p:nvSpPr>
          <p:cNvPr id="20" name="Shape 15"/>
          <p:cNvSpPr/>
          <p:nvPr/>
        </p:nvSpPr>
        <p:spPr>
          <a:xfrm>
            <a:off x="7995442" y="3896816"/>
            <a:ext cx="3534679" cy="1107579"/>
          </a:xfrm>
          <a:prstGeom prst="roundRect">
            <a:avLst>
              <a:gd name="adj" fmla="val 2142"/>
            </a:avLst>
          </a:prstGeom>
          <a:solidFill>
            <a:srgbClr val="F2EEEE"/>
          </a:solidFill>
          <a:ln/>
        </p:spPr>
      </p:sp>
      <p:sp>
        <p:nvSpPr>
          <p:cNvPr id="21" name="Text 16"/>
          <p:cNvSpPr/>
          <p:nvPr/>
        </p:nvSpPr>
        <p:spPr>
          <a:xfrm>
            <a:off x="8153593" y="4054971"/>
            <a:ext cx="3218377" cy="247154"/>
          </a:xfrm>
          <a:prstGeom prst="rect">
            <a:avLst/>
          </a:prstGeom>
          <a:noFill/>
          <a:ln/>
        </p:spPr>
        <p:txBody>
          <a:bodyPr wrap="none" lIns="0" tIns="0" rIns="0" bIns="0" rtlCol="0" anchor="t"/>
          <a:lstStyle/>
          <a:p>
            <a:pPr algn="l" indent="0" marL="0">
              <a:lnSpc>
                <a:spcPct val="104000"/>
              </a:lnSpc>
              <a:buNone/>
            </a:pPr>
            <a:r>
              <a:rPr lang="en-US" sz="15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 BrowserStack</a:t>
            </a:r>
            <a:endParaRPr lang="en-US" sz="1550" dirty="0"/>
          </a:p>
        </p:txBody>
      </p:sp>
      <p:sp>
        <p:nvSpPr>
          <p:cNvPr id="22" name="Text 17"/>
          <p:cNvSpPr/>
          <p:nvPr/>
        </p:nvSpPr>
        <p:spPr>
          <a:xfrm>
            <a:off x="8153593" y="4381500"/>
            <a:ext cx="3218377" cy="464741"/>
          </a:xfrm>
          <a:prstGeom prst="rect">
            <a:avLst/>
          </a:prstGeom>
          <a:noFill/>
          <a:ln/>
        </p:spPr>
        <p:txBody>
          <a:bodyPr wrap="square" lIns="0" tIns="0" rIns="0" bIns="0" rtlCol="0" anchor="t">
            <a:normAutofit/>
          </a:bodyPr>
          <a:lstStyle/>
          <a:p>
            <a:pPr algn="l" indent="0" marL="0">
              <a:lnSpc>
                <a:spcPct val="122000"/>
              </a:lnSpc>
              <a:buNone/>
            </a:pPr>
            <a:r>
              <a:rPr lang="en-US" sz="1200" dirty="0">
                <a:solidFill>
                  <a:srgbClr val="4C4C4D"/>
                </a:solidFill>
                <a:latin typeface="Heebo" pitchFamily="34" charset="0"/>
                <a:ea typeface="Heebo" pitchFamily="34" charset="-122"/>
                <a:cs typeface="Heebo" pitchFamily="34" charset="-120"/>
              </a:rPr>
              <a:t>Chrome · Edge · Firefox · Safari — compatibility gate</a:t>
            </a:r>
            <a:endParaRPr lang="en-US" sz="1200" dirty="0"/>
          </a:p>
        </p:txBody>
      </p:sp>
      <p:sp>
        <p:nvSpPr>
          <p:cNvPr id="23" name="Shape 18"/>
          <p:cNvSpPr/>
          <p:nvPr/>
        </p:nvSpPr>
        <p:spPr>
          <a:xfrm>
            <a:off x="661475" y="5153223"/>
            <a:ext cx="3534679" cy="1145679"/>
          </a:xfrm>
          <a:prstGeom prst="roundRect">
            <a:avLst>
              <a:gd name="adj" fmla="val 2071"/>
            </a:avLst>
          </a:prstGeom>
          <a:solidFill>
            <a:srgbClr val="FFFFFF"/>
          </a:solidFill>
          <a:ln w="19050">
            <a:solidFill>
              <a:srgbClr val="D8D4D4"/>
            </a:solidFill>
            <a:prstDash val="solid"/>
          </a:ln>
        </p:spPr>
      </p:sp>
      <p:sp>
        <p:nvSpPr>
          <p:cNvPr id="24" name="Text 19"/>
          <p:cNvSpPr/>
          <p:nvPr/>
        </p:nvSpPr>
        <p:spPr>
          <a:xfrm>
            <a:off x="838675" y="5330428"/>
            <a:ext cx="3180278" cy="247154"/>
          </a:xfrm>
          <a:prstGeom prst="rect">
            <a:avLst/>
          </a:prstGeom>
          <a:noFill/>
          <a:ln/>
        </p:spPr>
        <p:txBody>
          <a:bodyPr wrap="none" lIns="0" tIns="0" rIns="0" bIns="0" rtlCol="0" anchor="t"/>
          <a:lstStyle/>
          <a:p>
            <a:pPr algn="l" indent="0" marL="0">
              <a:lnSpc>
                <a:spcPct val="104000"/>
              </a:lnSpc>
              <a:buNone/>
            </a:pPr>
            <a:r>
              <a:rPr lang="en-US" sz="15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 Slack Webhooks</a:t>
            </a:r>
            <a:endParaRPr lang="en-US" sz="1550" dirty="0"/>
          </a:p>
        </p:txBody>
      </p:sp>
      <p:sp>
        <p:nvSpPr>
          <p:cNvPr id="25" name="Text 20"/>
          <p:cNvSpPr/>
          <p:nvPr/>
        </p:nvSpPr>
        <p:spPr>
          <a:xfrm>
            <a:off x="838675" y="5656957"/>
            <a:ext cx="3180278" cy="464741"/>
          </a:xfrm>
          <a:prstGeom prst="rect">
            <a:avLst/>
          </a:prstGeom>
          <a:noFill/>
          <a:ln/>
        </p:spPr>
        <p:txBody>
          <a:bodyPr wrap="square" lIns="0" tIns="0" rIns="0" bIns="0" rtlCol="0" anchor="t">
            <a:normAutofit/>
          </a:bodyPr>
          <a:lstStyle/>
          <a:p>
            <a:pPr algn="l" indent="0" marL="0">
              <a:lnSpc>
                <a:spcPct val="122000"/>
              </a:lnSpc>
              <a:buNone/>
            </a:pPr>
            <a:r>
              <a:rPr lang="en-US" sz="1200" dirty="0">
                <a:solidFill>
                  <a:srgbClr val="4C4C4D"/>
                </a:solidFill>
                <a:latin typeface="Heebo" pitchFamily="34" charset="0"/>
                <a:ea typeface="Heebo" pitchFamily="34" charset="-122"/>
                <a:cs typeface="Heebo" pitchFamily="34" charset="-120"/>
              </a:rPr>
              <a:t>Real-time pass/fail alerts delivered to the team channel</a:t>
            </a:r>
            <a:endParaRPr lang="en-US" sz="1200" dirty="0"/>
          </a:p>
        </p:txBody>
      </p:sp>
      <p:sp>
        <p:nvSpPr>
          <p:cNvPr id="26" name="Shape 21"/>
          <p:cNvSpPr/>
          <p:nvPr/>
        </p:nvSpPr>
        <p:spPr>
          <a:xfrm>
            <a:off x="4328409" y="5153223"/>
            <a:ext cx="3534778" cy="1145679"/>
          </a:xfrm>
          <a:prstGeom prst="roundRect">
            <a:avLst>
              <a:gd name="adj" fmla="val 2071"/>
            </a:avLst>
          </a:prstGeom>
          <a:solidFill>
            <a:srgbClr val="FFFFFF"/>
          </a:solidFill>
          <a:ln w="19050">
            <a:solidFill>
              <a:srgbClr val="D8D4D4"/>
            </a:solidFill>
            <a:prstDash val="solid"/>
          </a:ln>
        </p:spPr>
      </p:sp>
      <p:sp>
        <p:nvSpPr>
          <p:cNvPr id="27" name="Text 22"/>
          <p:cNvSpPr/>
          <p:nvPr/>
        </p:nvSpPr>
        <p:spPr>
          <a:xfrm>
            <a:off x="4505609" y="5330428"/>
            <a:ext cx="3180377" cy="247154"/>
          </a:xfrm>
          <a:prstGeom prst="rect">
            <a:avLst/>
          </a:prstGeom>
          <a:noFill/>
          <a:ln/>
        </p:spPr>
        <p:txBody>
          <a:bodyPr wrap="none" lIns="0" tIns="0" rIns="0" bIns="0" rtlCol="0" anchor="t"/>
          <a:lstStyle/>
          <a:p>
            <a:pPr algn="l" indent="0" marL="0">
              <a:lnSpc>
                <a:spcPct val="104000"/>
              </a:lnSpc>
              <a:buNone/>
            </a:pPr>
            <a:r>
              <a:rPr lang="en-US" sz="15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 Allure Portal</a:t>
            </a:r>
            <a:endParaRPr lang="en-US" sz="1550" dirty="0"/>
          </a:p>
        </p:txBody>
      </p:sp>
      <p:sp>
        <p:nvSpPr>
          <p:cNvPr id="28" name="Text 23"/>
          <p:cNvSpPr/>
          <p:nvPr/>
        </p:nvSpPr>
        <p:spPr>
          <a:xfrm>
            <a:off x="4505609" y="5656957"/>
            <a:ext cx="3180377" cy="464741"/>
          </a:xfrm>
          <a:prstGeom prst="rect">
            <a:avLst/>
          </a:prstGeom>
          <a:noFill/>
          <a:ln/>
        </p:spPr>
        <p:txBody>
          <a:bodyPr wrap="square" lIns="0" tIns="0" rIns="0" bIns="0" rtlCol="0" anchor="t">
            <a:normAutofit/>
          </a:bodyPr>
          <a:lstStyle/>
          <a:p>
            <a:pPr algn="l" indent="0" marL="0">
              <a:lnSpc>
                <a:spcPct val="122000"/>
              </a:lnSpc>
              <a:buNone/>
            </a:pPr>
            <a:r>
              <a:rPr lang="en-US" sz="1200" dirty="0">
                <a:solidFill>
                  <a:srgbClr val="4C4C4D"/>
                </a:solidFill>
                <a:latin typeface="Heebo" pitchFamily="34" charset="0"/>
                <a:ea typeface="Heebo" pitchFamily="34" charset="-122"/>
                <a:cs typeface="Heebo" pitchFamily="34" charset="-120"/>
              </a:rPr>
              <a:t>Full trend history, screenshots and trace logs on demand</a:t>
            </a:r>
            <a:endParaRPr lang="en-US" sz="1200" dirty="0"/>
          </a:p>
        </p:txBody>
      </p:sp>
      <p:sp>
        <p:nvSpPr>
          <p:cNvPr id="29" name="Shape 24"/>
          <p:cNvSpPr/>
          <p:nvPr/>
        </p:nvSpPr>
        <p:spPr>
          <a:xfrm>
            <a:off x="7995442" y="5153223"/>
            <a:ext cx="3534679" cy="1145679"/>
          </a:xfrm>
          <a:prstGeom prst="roundRect">
            <a:avLst>
              <a:gd name="adj" fmla="val 2071"/>
            </a:avLst>
          </a:prstGeom>
          <a:solidFill>
            <a:srgbClr val="FFFFFF"/>
          </a:solidFill>
          <a:ln w="19050">
            <a:solidFill>
              <a:srgbClr val="D8D4D4"/>
            </a:solidFill>
            <a:prstDash val="solid"/>
          </a:ln>
        </p:spPr>
      </p:sp>
      <p:sp>
        <p:nvSpPr>
          <p:cNvPr id="30" name="Text 25"/>
          <p:cNvSpPr/>
          <p:nvPr/>
        </p:nvSpPr>
        <p:spPr>
          <a:xfrm>
            <a:off x="8172642" y="5330428"/>
            <a:ext cx="3180278" cy="247154"/>
          </a:xfrm>
          <a:prstGeom prst="rect">
            <a:avLst/>
          </a:prstGeom>
          <a:noFill/>
          <a:ln/>
        </p:spPr>
        <p:txBody>
          <a:bodyPr wrap="none" lIns="0" tIns="0" rIns="0" bIns="0" rtlCol="0" anchor="t"/>
          <a:lstStyle/>
          <a:p>
            <a:pPr algn="l" indent="0" marL="0">
              <a:lnSpc>
                <a:spcPct val="104000"/>
              </a:lnSpc>
              <a:buNone/>
            </a:pPr>
            <a:r>
              <a:rPr lang="en-US" sz="15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 Email Notifications</a:t>
            </a:r>
            <a:endParaRPr lang="en-US" sz="1550" dirty="0"/>
          </a:p>
        </p:txBody>
      </p:sp>
      <p:sp>
        <p:nvSpPr>
          <p:cNvPr id="31" name="Text 26"/>
          <p:cNvSpPr/>
          <p:nvPr/>
        </p:nvSpPr>
        <p:spPr>
          <a:xfrm>
            <a:off x="8172642" y="5656957"/>
            <a:ext cx="3180278" cy="464741"/>
          </a:xfrm>
          <a:prstGeom prst="rect">
            <a:avLst/>
          </a:prstGeom>
          <a:noFill/>
          <a:ln/>
        </p:spPr>
        <p:txBody>
          <a:bodyPr wrap="square" lIns="0" tIns="0" rIns="0" bIns="0" rtlCol="0" anchor="t">
            <a:normAutofit/>
          </a:bodyPr>
          <a:lstStyle/>
          <a:p>
            <a:pPr algn="l" indent="0" marL="0">
              <a:lnSpc>
                <a:spcPct val="122000"/>
              </a:lnSpc>
              <a:buNone/>
            </a:pPr>
            <a:r>
              <a:rPr lang="en-US" sz="1200" dirty="0">
                <a:solidFill>
                  <a:srgbClr val="4C4C4D"/>
                </a:solidFill>
                <a:latin typeface="Heebo" pitchFamily="34" charset="0"/>
                <a:ea typeface="Heebo" pitchFamily="34" charset="-122"/>
                <a:cs typeface="Heebo" pitchFamily="34" charset="-120"/>
              </a:rPr>
              <a:t>Detailed failure summaries sent directly to the team inbox</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99281"/>
            <a:ext cx="10868745" cy="299938"/>
          </a:xfrm>
          <a:prstGeom prst="rect">
            <a:avLst/>
          </a:prstGeom>
          <a:noFill/>
          <a:ln/>
        </p:spPr>
        <p:txBody>
          <a:bodyPr wrap="none" lIns="0" tIns="0" rIns="0" bIns="0" rtlCol="0" anchor="t"/>
          <a:lstStyle/>
          <a:p>
            <a:pPr algn="l" indent="0" marL="0">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Story-Based Test Execution</a:t>
            </a:r>
            <a:endParaRPr lang="en-US" sz="1850" dirty="0"/>
          </a:p>
        </p:txBody>
      </p:sp>
      <p:sp>
        <p:nvSpPr>
          <p:cNvPr id="3" name="Text 1"/>
          <p:cNvSpPr/>
          <p:nvPr/>
        </p:nvSpPr>
        <p:spPr>
          <a:xfrm>
            <a:off x="661475" y="996652"/>
            <a:ext cx="11478330" cy="115689"/>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Developers stay in their natural workflow — smart tag extraction handles the rest automatically.</a:t>
            </a:r>
            <a:endParaRPr lang="en-US" sz="750" dirty="0"/>
          </a:p>
        </p:txBody>
      </p:sp>
      <p:pic>
        <p:nvPicPr>
          <p:cNvPr id="4" name="Image 0" descr="preencoded.png">    </p:cNvPr>
          <p:cNvPicPr>
            <a:picLocks noChangeAspect="1"/>
          </p:cNvPicPr>
          <p:nvPr/>
        </p:nvPicPr>
        <p:blipFill>
          <a:blip r:embed="rId1"/>
          <a:stretch>
            <a:fillRect/>
          </a:stretch>
        </p:blipFill>
        <p:spPr>
          <a:xfrm>
            <a:off x="661475" y="1167110"/>
            <a:ext cx="3622882" cy="383877"/>
          </a:xfrm>
          <a:prstGeom prst="rect">
            <a:avLst/>
          </a:prstGeom>
        </p:spPr>
      </p:pic>
      <p:sp>
        <p:nvSpPr>
          <p:cNvPr id="5" name="Text 2"/>
          <p:cNvSpPr/>
          <p:nvPr/>
        </p:nvSpPr>
        <p:spPr>
          <a:xfrm>
            <a:off x="757417" y="1599704"/>
            <a:ext cx="3430998" cy="149920"/>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1. Name Your Branch</a:t>
            </a:r>
            <a:endParaRPr lang="en-US" sz="900" dirty="0"/>
          </a:p>
        </p:txBody>
      </p:sp>
      <p:sp>
        <p:nvSpPr>
          <p:cNvPr id="6" name="Text 3"/>
          <p:cNvSpPr/>
          <p:nvPr/>
        </p:nvSpPr>
        <p:spPr>
          <a:xfrm>
            <a:off x="757417" y="1778794"/>
            <a:ext cx="3430998" cy="122039"/>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highlight>
                  <a:srgbClr val="F2F2F2"/>
                </a:highlight>
                <a:latin typeface="Consolas" pitchFamily="34" charset="0"/>
                <a:ea typeface="Consolas" pitchFamily="34" charset="-122"/>
                <a:cs typeface="Consolas" pitchFamily="34" charset="-120"/>
              </a:rPr>
              <a:t>feature/AFCM-1234-fix-payment</a:t>
            </a:r>
            <a:endParaRPr lang="en-US" sz="750" dirty="0"/>
          </a:p>
        </p:txBody>
      </p:sp>
      <p:pic>
        <p:nvPicPr>
          <p:cNvPr id="7" name="Image 1" descr="preencoded.png">    </p:cNvPr>
          <p:cNvPicPr>
            <a:picLocks noChangeAspect="1"/>
          </p:cNvPicPr>
          <p:nvPr/>
        </p:nvPicPr>
        <p:blipFill>
          <a:blip r:embed="rId2"/>
          <a:stretch>
            <a:fillRect/>
          </a:stretch>
        </p:blipFill>
        <p:spPr>
          <a:xfrm>
            <a:off x="4284357" y="1167110"/>
            <a:ext cx="3622882" cy="383877"/>
          </a:xfrm>
          <a:prstGeom prst="rect">
            <a:avLst/>
          </a:prstGeom>
        </p:spPr>
      </p:pic>
      <p:sp>
        <p:nvSpPr>
          <p:cNvPr id="8" name="Text 4"/>
          <p:cNvSpPr/>
          <p:nvPr/>
        </p:nvSpPr>
        <p:spPr>
          <a:xfrm>
            <a:off x="4380299" y="1599704"/>
            <a:ext cx="3430998" cy="149920"/>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2. Push Code</a:t>
            </a:r>
            <a:endParaRPr lang="en-US" sz="900" dirty="0"/>
          </a:p>
        </p:txBody>
      </p:sp>
      <p:sp>
        <p:nvSpPr>
          <p:cNvPr id="9" name="Text 5"/>
          <p:cNvSpPr/>
          <p:nvPr/>
        </p:nvSpPr>
        <p:spPr>
          <a:xfrm>
            <a:off x="4380299" y="1778794"/>
            <a:ext cx="3430998" cy="115689"/>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GitLab CI pipeline triggers automatically on push</a:t>
            </a:r>
            <a:endParaRPr lang="en-US" sz="750" dirty="0"/>
          </a:p>
        </p:txBody>
      </p:sp>
      <p:pic>
        <p:nvPicPr>
          <p:cNvPr id="10" name="Image 2" descr="preencoded.png">    </p:cNvPr>
          <p:cNvPicPr>
            <a:picLocks noChangeAspect="1"/>
          </p:cNvPicPr>
          <p:nvPr/>
        </p:nvPicPr>
        <p:blipFill>
          <a:blip r:embed="rId3"/>
          <a:stretch>
            <a:fillRect/>
          </a:stretch>
        </p:blipFill>
        <p:spPr>
          <a:xfrm>
            <a:off x="7907239" y="1167110"/>
            <a:ext cx="3622882" cy="383877"/>
          </a:xfrm>
          <a:prstGeom prst="rect">
            <a:avLst/>
          </a:prstGeom>
        </p:spPr>
      </p:pic>
      <p:sp>
        <p:nvSpPr>
          <p:cNvPr id="11" name="Text 6"/>
          <p:cNvSpPr/>
          <p:nvPr/>
        </p:nvSpPr>
        <p:spPr>
          <a:xfrm>
            <a:off x="8003181" y="1599704"/>
            <a:ext cx="3430998" cy="149920"/>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3. Tag Extracted</a:t>
            </a:r>
            <a:endParaRPr lang="en-US" sz="900" dirty="0"/>
          </a:p>
        </p:txBody>
      </p:sp>
      <p:sp>
        <p:nvSpPr>
          <p:cNvPr id="12" name="Text 7"/>
          <p:cNvSpPr/>
          <p:nvPr/>
        </p:nvSpPr>
        <p:spPr>
          <a:xfrm>
            <a:off x="8003181" y="1778794"/>
            <a:ext cx="3430998" cy="122039"/>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Pipeline extracts </a:t>
            </a:r>
            <a:pPr algn="l" indent="0" marL="0">
              <a:lnSpc>
                <a:spcPct val="101000"/>
              </a:lnSpc>
              <a:buNone/>
            </a:pPr>
            <a:r>
              <a:rPr lang="en-US" sz="750" dirty="0">
                <a:solidFill>
                  <a:srgbClr val="4C4C4D"/>
                </a:solidFill>
                <a:highlight>
                  <a:srgbClr val="F2F2F2"/>
                </a:highlight>
                <a:latin typeface="Consolas" pitchFamily="34" charset="0"/>
                <a:ea typeface="Consolas" pitchFamily="34" charset="-122"/>
                <a:cs typeface="Consolas" pitchFamily="34" charset="-120"/>
              </a:rPr>
              <a:t>AFCM-1234</a:t>
            </a:r>
            <a:pPr algn="l" indent="0" marL="0">
              <a:lnSpc>
                <a:spcPct val="101000"/>
              </a:lnSpc>
              <a:buNone/>
            </a:pPr>
            <a:r>
              <a:rPr lang="en-US" sz="750" dirty="0">
                <a:solidFill>
                  <a:srgbClr val="4C4C4D"/>
                </a:solidFill>
                <a:latin typeface="Heebo" pitchFamily="34" charset="0"/>
                <a:ea typeface="Heebo" pitchFamily="34" charset="-122"/>
                <a:cs typeface="Heebo" pitchFamily="34" charset="-120"/>
              </a:rPr>
              <a:t> from branch name</a:t>
            </a:r>
            <a:endParaRPr lang="en-US" sz="750" dirty="0"/>
          </a:p>
        </p:txBody>
      </p:sp>
      <p:pic>
        <p:nvPicPr>
          <p:cNvPr id="13" name="Image 3" descr="preencoded.png">    </p:cNvPr>
          <p:cNvPicPr>
            <a:picLocks noChangeAspect="1"/>
          </p:cNvPicPr>
          <p:nvPr/>
        </p:nvPicPr>
        <p:blipFill>
          <a:blip r:embed="rId4"/>
          <a:stretch>
            <a:fillRect/>
          </a:stretch>
        </p:blipFill>
        <p:spPr>
          <a:xfrm>
            <a:off x="661475" y="1996777"/>
            <a:ext cx="3622882" cy="383877"/>
          </a:xfrm>
          <a:prstGeom prst="rect">
            <a:avLst/>
          </a:prstGeom>
        </p:spPr>
      </p:pic>
      <p:sp>
        <p:nvSpPr>
          <p:cNvPr id="14" name="Text 8"/>
          <p:cNvSpPr/>
          <p:nvPr/>
        </p:nvSpPr>
        <p:spPr>
          <a:xfrm>
            <a:off x="757417" y="2429371"/>
            <a:ext cx="3430998" cy="149920"/>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4. Targeted Tests Run</a:t>
            </a:r>
            <a:endParaRPr lang="en-US" sz="900" dirty="0"/>
          </a:p>
        </p:txBody>
      </p:sp>
      <p:sp>
        <p:nvSpPr>
          <p:cNvPr id="15" name="Text 9"/>
          <p:cNvSpPr/>
          <p:nvPr/>
        </p:nvSpPr>
        <p:spPr>
          <a:xfrm>
            <a:off x="757417" y="2608461"/>
            <a:ext cx="3430998" cy="122039"/>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Only tests tagged </a:t>
            </a:r>
            <a:pPr algn="l" indent="0" marL="0">
              <a:lnSpc>
                <a:spcPct val="101000"/>
              </a:lnSpc>
              <a:buNone/>
            </a:pPr>
            <a:r>
              <a:rPr lang="en-US" sz="750" dirty="0">
                <a:solidFill>
                  <a:srgbClr val="4C4C4D"/>
                </a:solidFill>
                <a:highlight>
                  <a:srgbClr val="F2F2F2"/>
                </a:highlight>
                <a:latin typeface="Consolas" pitchFamily="34" charset="0"/>
                <a:ea typeface="Consolas" pitchFamily="34" charset="-122"/>
                <a:cs typeface="Consolas" pitchFamily="34" charset="-120"/>
              </a:rPr>
              <a:t>@AFCM-1234</a:t>
            </a:r>
            <a:pPr algn="l" indent="0" marL="0">
              <a:lnSpc>
                <a:spcPct val="101000"/>
              </a:lnSpc>
              <a:buNone/>
            </a:pPr>
            <a:r>
              <a:rPr lang="en-US" sz="750" dirty="0">
                <a:solidFill>
                  <a:srgbClr val="4C4C4D"/>
                </a:solidFill>
                <a:latin typeface="Heebo" pitchFamily="34" charset="0"/>
                <a:ea typeface="Heebo" pitchFamily="34" charset="-122"/>
                <a:cs typeface="Heebo" pitchFamily="34" charset="-120"/>
              </a:rPr>
              <a:t> execute</a:t>
            </a:r>
            <a:endParaRPr lang="en-US" sz="750" dirty="0"/>
          </a:p>
        </p:txBody>
      </p:sp>
      <p:pic>
        <p:nvPicPr>
          <p:cNvPr id="16" name="Image 4" descr="preencoded.png">    </p:cNvPr>
          <p:cNvPicPr>
            <a:picLocks noChangeAspect="1"/>
          </p:cNvPicPr>
          <p:nvPr/>
        </p:nvPicPr>
        <p:blipFill>
          <a:blip r:embed="rId5"/>
          <a:stretch>
            <a:fillRect/>
          </a:stretch>
        </p:blipFill>
        <p:spPr>
          <a:xfrm>
            <a:off x="4284357" y="1996777"/>
            <a:ext cx="3622882" cy="383877"/>
          </a:xfrm>
          <a:prstGeom prst="rect">
            <a:avLst/>
          </a:prstGeom>
        </p:spPr>
      </p:pic>
      <p:sp>
        <p:nvSpPr>
          <p:cNvPr id="17" name="Text 10"/>
          <p:cNvSpPr/>
          <p:nvPr/>
        </p:nvSpPr>
        <p:spPr>
          <a:xfrm>
            <a:off x="4380299" y="2429371"/>
            <a:ext cx="3430998" cy="149920"/>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5. Check Slack</a:t>
            </a:r>
            <a:endParaRPr lang="en-US" sz="900" dirty="0"/>
          </a:p>
        </p:txBody>
      </p:sp>
      <p:sp>
        <p:nvSpPr>
          <p:cNvPr id="18" name="Text 11"/>
          <p:cNvSpPr/>
          <p:nvPr/>
        </p:nvSpPr>
        <p:spPr>
          <a:xfrm>
            <a:off x="4380299" y="2608461"/>
            <a:ext cx="3430998" cy="115689"/>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Pass/fail result delivered to team channel in &lt; 5 min</a:t>
            </a:r>
            <a:endParaRPr lang="en-US" sz="750" dirty="0"/>
          </a:p>
        </p:txBody>
      </p:sp>
      <p:sp>
        <p:nvSpPr>
          <p:cNvPr id="19" name="Shape 12"/>
          <p:cNvSpPr/>
          <p:nvPr/>
        </p:nvSpPr>
        <p:spPr>
          <a:xfrm>
            <a:off x="661475" y="2881213"/>
            <a:ext cx="10868745" cy="256084"/>
          </a:xfrm>
          <a:prstGeom prst="roundRect">
            <a:avLst>
              <a:gd name="adj" fmla="val 5622"/>
            </a:avLst>
          </a:prstGeom>
          <a:solidFill>
            <a:srgbClr val="CCD7FF"/>
          </a:solidFill>
          <a:ln/>
        </p:spPr>
      </p:sp>
      <p:pic>
        <p:nvPicPr>
          <p:cNvPr id="20" name="Image 5" descr="preencoded.png">    </p:cNvPr>
          <p:cNvPicPr>
            <a:picLocks noChangeAspect="1"/>
          </p:cNvPicPr>
          <p:nvPr/>
        </p:nvPicPr>
        <p:blipFill>
          <a:blip r:embed="rId6"/>
          <a:stretch>
            <a:fillRect/>
          </a:stretch>
        </p:blipFill>
        <p:spPr>
          <a:xfrm>
            <a:off x="757417" y="2953841"/>
            <a:ext cx="119952" cy="95945"/>
          </a:xfrm>
          <a:prstGeom prst="rect">
            <a:avLst/>
          </a:prstGeom>
        </p:spPr>
      </p:pic>
      <p:sp>
        <p:nvSpPr>
          <p:cNvPr id="21" name="Text 13"/>
          <p:cNvSpPr/>
          <p:nvPr/>
        </p:nvSpPr>
        <p:spPr>
          <a:xfrm>
            <a:off x="973312" y="2953841"/>
            <a:ext cx="11070551" cy="115689"/>
          </a:xfrm>
          <a:prstGeom prst="rect">
            <a:avLst/>
          </a:prstGeom>
          <a:noFill/>
          <a:ln/>
        </p:spPr>
        <p:txBody>
          <a:bodyPr wrap="none" lIns="0" tIns="0" rIns="0" bIns="0" rtlCol="0" anchor="t"/>
          <a:lstStyle/>
          <a:p>
            <a:pPr algn="l" indent="0" marL="0">
              <a:lnSpc>
                <a:spcPct val="101000"/>
              </a:lnSpc>
              <a:buNone/>
            </a:pPr>
            <a:r>
              <a:rPr lang="en-US" sz="750" dirty="0">
                <a:solidFill>
                  <a:srgbClr val="000000"/>
                </a:solidFill>
                <a:latin typeface="Heebo" pitchFamily="34" charset="0"/>
                <a:ea typeface="Heebo" pitchFamily="34" charset="-122"/>
                <a:cs typeface="Heebo" pitchFamily="34" charset="-120"/>
              </a:rPr>
              <a:t>Falls back to full regression automatically if no story tag is found in the branch name or commit message.</a:t>
            </a:r>
            <a:endParaRPr lang="en-US" sz="750" dirty="0"/>
          </a:p>
        </p:txBody>
      </p:sp>
      <p:sp>
        <p:nvSpPr>
          <p:cNvPr id="22" name="Text 14"/>
          <p:cNvSpPr/>
          <p:nvPr/>
        </p:nvSpPr>
        <p:spPr>
          <a:xfrm>
            <a:off x="661475" y="3240782"/>
            <a:ext cx="5317297" cy="149920"/>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 Manual Trigger Options</a:t>
            </a:r>
            <a:endParaRPr lang="en-US" sz="900" dirty="0"/>
          </a:p>
        </p:txBody>
      </p:sp>
      <p:sp>
        <p:nvSpPr>
          <p:cNvPr id="23" name="Text 15"/>
          <p:cNvSpPr/>
          <p:nvPr/>
        </p:nvSpPr>
        <p:spPr>
          <a:xfrm>
            <a:off x="661475" y="3439418"/>
            <a:ext cx="5926882" cy="115689"/>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When developers need more control, the pipeline offers a full manual trigger UI:</a:t>
            </a:r>
            <a:endParaRPr lang="en-US" sz="750" dirty="0"/>
          </a:p>
        </p:txBody>
      </p:sp>
      <p:sp>
        <p:nvSpPr>
          <p:cNvPr id="24" name="Text 16"/>
          <p:cNvSpPr/>
          <p:nvPr/>
        </p:nvSpPr>
        <p:spPr>
          <a:xfrm>
            <a:off x="661475" y="3598962"/>
            <a:ext cx="5317297" cy="791666"/>
          </a:xfrm>
          <a:prstGeom prst="rect">
            <a:avLst/>
          </a:prstGeom>
          <a:noFill/>
          <a:ln/>
        </p:spPr>
        <p:txBody>
          <a:bodyPr wrap="square" lIns="0" tIns="38394" rIns="0" bIns="0" rtlCol="0" anchor="t">
            <a:normAutofit/>
          </a:bodyPr>
          <a:lstStyle/>
          <a:p>
            <a:pPr algn="l" marL="152400" indent="-152400">
              <a:lnSpc>
                <a:spcPct val="101000"/>
              </a:lnSpc>
              <a:buSzPct val="100000"/>
              <a:buChar char="•"/>
            </a:pPr>
            <a:r>
              <a:rPr lang="en-US" sz="750" b="1" dirty="0">
                <a:solidFill>
                  <a:srgbClr val="4C4C4D"/>
                </a:solidFill>
                <a:latin typeface="Heebo Bold" pitchFamily="34" charset="0"/>
                <a:ea typeface="Heebo Bold" pitchFamily="34" charset="-122"/>
                <a:cs typeface="Heebo Bold" pitchFamily="34" charset="-120"/>
              </a:rPr>
              <a:t>Environment:</a:t>
            </a:r>
            <a:pPr algn="l" marL="152400" indent="-152400">
              <a:lnSpc>
                <a:spcPct val="101000"/>
              </a:lnSpc>
              <a:buSzPct val="100000"/>
              <a:buChar char="•"/>
            </a:pPr>
            <a:r>
              <a:rPr lang="en-US" sz="750" dirty="0">
                <a:solidFill>
                  <a:srgbClr val="4C4C4D"/>
                </a:solidFill>
                <a:latin typeface="Heebo" pitchFamily="34" charset="0"/>
                <a:ea typeface="Heebo" pitchFamily="34" charset="-122"/>
                <a:cs typeface="Heebo" pitchFamily="34" charset="-120"/>
              </a:rPr>
              <a:t> Select </a:t>
            </a:r>
            <a:pPr algn="l" marL="152400" indent="-152400">
              <a:lnSpc>
                <a:spcPct val="101000"/>
              </a:lnSpc>
              <a:buSzPct val="100000"/>
              <a:buChar char="•"/>
            </a:pPr>
            <a:r>
              <a:rPr lang="en-US" sz="750" dirty="0">
                <a:solidFill>
                  <a:srgbClr val="4C4C4D"/>
                </a:solidFill>
                <a:highlight>
                  <a:srgbClr val="F2F2F2"/>
                </a:highlight>
                <a:latin typeface="Consolas" pitchFamily="34" charset="0"/>
                <a:ea typeface="Consolas" pitchFamily="34" charset="-122"/>
                <a:cs typeface="Consolas" pitchFamily="34" charset="-120"/>
              </a:rPr>
              <a:t>dev</a:t>
            </a:r>
            <a:pPr algn="l" marL="152400" indent="-152400">
              <a:lnSpc>
                <a:spcPct val="101000"/>
              </a:lnSpc>
              <a:buSzPct val="100000"/>
              <a:buChar char="•"/>
            </a:pPr>
            <a:r>
              <a:rPr lang="en-US" sz="750" dirty="0">
                <a:solidFill>
                  <a:srgbClr val="4C4C4D"/>
                </a:solidFill>
                <a:latin typeface="Heebo" pitchFamily="34" charset="0"/>
                <a:ea typeface="Heebo" pitchFamily="34" charset="-122"/>
                <a:cs typeface="Heebo" pitchFamily="34" charset="-120"/>
              </a:rPr>
              <a:t>, </a:t>
            </a:r>
            <a:pPr algn="l" marL="152400" indent="-152400">
              <a:lnSpc>
                <a:spcPct val="101000"/>
              </a:lnSpc>
              <a:buSzPct val="100000"/>
              <a:buChar char="•"/>
            </a:pPr>
            <a:r>
              <a:rPr lang="en-US" sz="750" dirty="0">
                <a:solidFill>
                  <a:srgbClr val="4C4C4D"/>
                </a:solidFill>
                <a:highlight>
                  <a:srgbClr val="F2F2F2"/>
                </a:highlight>
                <a:latin typeface="Consolas" pitchFamily="34" charset="0"/>
                <a:ea typeface="Consolas" pitchFamily="34" charset="-122"/>
                <a:cs typeface="Consolas" pitchFamily="34" charset="-120"/>
              </a:rPr>
              <a:t>test</a:t>
            </a:r>
            <a:pPr algn="l" marL="152400" indent="-152400">
              <a:lnSpc>
                <a:spcPct val="101000"/>
              </a:lnSpc>
              <a:buSzPct val="100000"/>
              <a:buChar char="•"/>
            </a:pPr>
            <a:r>
              <a:rPr lang="en-US" sz="750" dirty="0">
                <a:solidFill>
                  <a:srgbClr val="4C4C4D"/>
                </a:solidFill>
                <a:latin typeface="Heebo" pitchFamily="34" charset="0"/>
                <a:ea typeface="Heebo" pitchFamily="34" charset="-122"/>
                <a:cs typeface="Heebo" pitchFamily="34" charset="-120"/>
              </a:rPr>
              <a:t>, or </a:t>
            </a:r>
            <a:pPr algn="l" marL="152400" indent="-152400">
              <a:lnSpc>
                <a:spcPct val="101000"/>
              </a:lnSpc>
              <a:buSzPct val="100000"/>
              <a:buChar char="•"/>
            </a:pPr>
            <a:r>
              <a:rPr lang="en-US" sz="750" dirty="0">
                <a:solidFill>
                  <a:srgbClr val="4C4C4D"/>
                </a:solidFill>
                <a:highlight>
                  <a:srgbClr val="F2F2F2"/>
                </a:highlight>
                <a:latin typeface="Consolas" pitchFamily="34" charset="0"/>
                <a:ea typeface="Consolas" pitchFamily="34" charset="-122"/>
                <a:cs typeface="Consolas" pitchFamily="34" charset="-120"/>
              </a:rPr>
              <a:t>staging</a:t>
            </a:r>
            <a:endParaRPr lang="en-US" sz="750" dirty="0"/>
          </a:p>
          <a:p>
            <a:pPr algn="l" marL="152400" indent="-152400">
              <a:lnSpc>
                <a:spcPct val="101000"/>
              </a:lnSpc>
              <a:buSzPct val="100000"/>
              <a:buChar char="•"/>
            </a:pPr>
            <a:r>
              <a:rPr lang="en-US" sz="750" b="1" dirty="0">
                <a:solidFill>
                  <a:srgbClr val="4C4C4D"/>
                </a:solidFill>
                <a:latin typeface="Heebo Bold" pitchFamily="34" charset="0"/>
                <a:ea typeface="Heebo Bold" pitchFamily="34" charset="-122"/>
                <a:cs typeface="Heebo Bold" pitchFamily="34" charset="-120"/>
              </a:rPr>
              <a:t>Test Tags:</a:t>
            </a:r>
            <a:pPr algn="l" marL="152400" indent="-152400">
              <a:lnSpc>
                <a:spcPct val="101000"/>
              </a:lnSpc>
              <a:buSzPct val="100000"/>
              <a:buChar char="•"/>
            </a:pPr>
            <a:r>
              <a:rPr lang="en-US" sz="750" dirty="0">
                <a:solidFill>
                  <a:srgbClr val="4C4C4D"/>
                </a:solidFill>
                <a:latin typeface="Heebo" pitchFamily="34" charset="0"/>
                <a:ea typeface="Heebo" pitchFamily="34" charset="-122"/>
                <a:cs typeface="Heebo" pitchFamily="34" charset="-120"/>
              </a:rPr>
              <a:t> Choose specific tags to run (e.g. </a:t>
            </a:r>
            <a:pPr algn="l" marL="152400" indent="-152400">
              <a:lnSpc>
                <a:spcPct val="101000"/>
              </a:lnSpc>
              <a:buSzPct val="100000"/>
              <a:buChar char="•"/>
            </a:pPr>
            <a:r>
              <a:rPr lang="en-US" sz="750" dirty="0">
                <a:solidFill>
                  <a:srgbClr val="4C4C4D"/>
                </a:solidFill>
                <a:highlight>
                  <a:srgbClr val="F2F2F2"/>
                </a:highlight>
                <a:latin typeface="Consolas" pitchFamily="34" charset="0"/>
                <a:ea typeface="Consolas" pitchFamily="34" charset="-122"/>
                <a:cs typeface="Consolas" pitchFamily="34" charset="-120"/>
              </a:rPr>
              <a:t>@smoke</a:t>
            </a:r>
            <a:pPr algn="l" marL="152400" indent="-152400">
              <a:lnSpc>
                <a:spcPct val="101000"/>
              </a:lnSpc>
              <a:buSzPct val="100000"/>
              <a:buChar char="•"/>
            </a:pPr>
            <a:r>
              <a:rPr lang="en-US" sz="750" dirty="0">
                <a:solidFill>
                  <a:srgbClr val="4C4C4D"/>
                </a:solidFill>
                <a:latin typeface="Heebo" pitchFamily="34" charset="0"/>
                <a:ea typeface="Heebo" pitchFamily="34" charset="-122"/>
                <a:cs typeface="Heebo" pitchFamily="34" charset="-120"/>
              </a:rPr>
              <a:t>, </a:t>
            </a:r>
            <a:pPr algn="l" marL="152400" indent="-152400">
              <a:lnSpc>
                <a:spcPct val="101000"/>
              </a:lnSpc>
              <a:buSzPct val="100000"/>
              <a:buChar char="•"/>
            </a:pPr>
            <a:r>
              <a:rPr lang="en-US" sz="750" dirty="0">
                <a:solidFill>
                  <a:srgbClr val="4C4C4D"/>
                </a:solidFill>
                <a:highlight>
                  <a:srgbClr val="F2F2F2"/>
                </a:highlight>
                <a:latin typeface="Consolas" pitchFamily="34" charset="0"/>
                <a:ea typeface="Consolas" pitchFamily="34" charset="-122"/>
                <a:cs typeface="Consolas" pitchFamily="34" charset="-120"/>
              </a:rPr>
              <a:t>@regression</a:t>
            </a:r>
            <a:pPr algn="l" marL="152400" indent="-152400">
              <a:lnSpc>
                <a:spcPct val="101000"/>
              </a:lnSpc>
              <a:buSzPct val="100000"/>
              <a:buChar char="•"/>
            </a:pPr>
            <a:r>
              <a:rPr lang="en-US" sz="750" dirty="0">
                <a:solidFill>
                  <a:srgbClr val="4C4C4D"/>
                </a:solidFill>
                <a:latin typeface="Heebo" pitchFamily="34" charset="0"/>
                <a:ea typeface="Heebo" pitchFamily="34" charset="-122"/>
                <a:cs typeface="Heebo" pitchFamily="34" charset="-120"/>
              </a:rPr>
              <a:t>, </a:t>
            </a:r>
            <a:pPr algn="l" marL="152400" indent="-152400">
              <a:lnSpc>
                <a:spcPct val="101000"/>
              </a:lnSpc>
              <a:buSzPct val="100000"/>
              <a:buChar char="•"/>
            </a:pPr>
            <a:r>
              <a:rPr lang="en-US" sz="750" dirty="0">
                <a:solidFill>
                  <a:srgbClr val="4C4C4D"/>
                </a:solidFill>
                <a:highlight>
                  <a:srgbClr val="F2F2F2"/>
                </a:highlight>
                <a:latin typeface="Consolas" pitchFamily="34" charset="0"/>
                <a:ea typeface="Consolas" pitchFamily="34" charset="-122"/>
                <a:cs typeface="Consolas" pitchFamily="34" charset="-120"/>
              </a:rPr>
              <a:t>@AFCM-1234</a:t>
            </a:r>
            <a:pPr algn="l" marL="152400" indent="-152400">
              <a:lnSpc>
                <a:spcPct val="101000"/>
              </a:lnSpc>
              <a:buSzPct val="100000"/>
              <a:buChar char="•"/>
            </a:pPr>
            <a:r>
              <a:rPr lang="en-US" sz="750" dirty="0">
                <a:solidFill>
                  <a:srgbClr val="4C4C4D"/>
                </a:solidFill>
                <a:latin typeface="Heebo" pitchFamily="34" charset="0"/>
                <a:ea typeface="Heebo" pitchFamily="34" charset="-122"/>
                <a:cs typeface="Heebo" pitchFamily="34" charset="-120"/>
              </a:rPr>
              <a:t>)</a:t>
            </a:r>
            <a:endParaRPr lang="en-US" sz="750" dirty="0"/>
          </a:p>
          <a:p>
            <a:pPr algn="l" marL="152400" indent="-152400">
              <a:lnSpc>
                <a:spcPct val="101000"/>
              </a:lnSpc>
              <a:buSzPct val="100000"/>
              <a:buChar char="•"/>
            </a:pPr>
            <a:r>
              <a:rPr lang="en-US" sz="750" b="1" dirty="0">
                <a:solidFill>
                  <a:srgbClr val="4C4C4D"/>
                </a:solidFill>
                <a:latin typeface="Heebo Bold" pitchFamily="34" charset="0"/>
                <a:ea typeface="Heebo Bold" pitchFamily="34" charset="-122"/>
                <a:cs typeface="Heebo Bold" pitchFamily="34" charset="-120"/>
              </a:rPr>
              <a:t>Security Gate:</a:t>
            </a:r>
            <a:pPr algn="l" marL="152400" indent="-152400">
              <a:lnSpc>
                <a:spcPct val="101000"/>
              </a:lnSpc>
              <a:buSzPct val="100000"/>
              <a:buChar char="•"/>
            </a:pPr>
            <a:r>
              <a:rPr lang="en-US" sz="750" dirty="0">
                <a:solidFill>
                  <a:srgbClr val="4C4C4D"/>
                </a:solidFill>
                <a:latin typeface="Heebo" pitchFamily="34" charset="0"/>
                <a:ea typeface="Heebo" pitchFamily="34" charset="-122"/>
                <a:cs typeface="Heebo" pitchFamily="34" charset="-120"/>
              </a:rPr>
              <a:t> Enable / disable OWASP ZAP DAST scanning</a:t>
            </a:r>
            <a:endParaRPr lang="en-US" sz="750" dirty="0"/>
          </a:p>
          <a:p>
            <a:pPr algn="l" marL="152400" indent="-152400">
              <a:lnSpc>
                <a:spcPct val="101000"/>
              </a:lnSpc>
              <a:buSzPct val="100000"/>
              <a:buChar char="•"/>
            </a:pPr>
            <a:r>
              <a:rPr lang="en-US" sz="750" b="1" dirty="0">
                <a:solidFill>
                  <a:srgbClr val="4C4C4D"/>
                </a:solidFill>
                <a:latin typeface="Heebo Bold" pitchFamily="34" charset="0"/>
                <a:ea typeface="Heebo Bold" pitchFamily="34" charset="-122"/>
                <a:cs typeface="Heebo Bold" pitchFamily="34" charset="-120"/>
              </a:rPr>
              <a:t>Performance Gate:</a:t>
            </a:r>
            <a:pPr algn="l" marL="152400" indent="-152400">
              <a:lnSpc>
                <a:spcPct val="101000"/>
              </a:lnSpc>
              <a:buSzPct val="100000"/>
              <a:buChar char="•"/>
            </a:pPr>
            <a:r>
              <a:rPr lang="en-US" sz="750" dirty="0">
                <a:solidFill>
                  <a:srgbClr val="4C4C4D"/>
                </a:solidFill>
                <a:latin typeface="Heebo" pitchFamily="34" charset="0"/>
                <a:ea typeface="Heebo" pitchFamily="34" charset="-122"/>
                <a:cs typeface="Heebo" pitchFamily="34" charset="-120"/>
              </a:rPr>
              <a:t> Enable / disable k6 load &amp; stress tests</a:t>
            </a:r>
            <a:endParaRPr lang="en-US" sz="750" dirty="0"/>
          </a:p>
          <a:p>
            <a:pPr algn="l" marL="152400" indent="-152400">
              <a:lnSpc>
                <a:spcPct val="101000"/>
              </a:lnSpc>
              <a:buSzPct val="100000"/>
              <a:buChar char="•"/>
            </a:pPr>
            <a:r>
              <a:rPr lang="en-US" sz="750" b="1" dirty="0">
                <a:solidFill>
                  <a:srgbClr val="4C4C4D"/>
                </a:solidFill>
                <a:latin typeface="Heebo Bold" pitchFamily="34" charset="0"/>
                <a:ea typeface="Heebo Bold" pitchFamily="34" charset="-122"/>
                <a:cs typeface="Heebo Bold" pitchFamily="34" charset="-120"/>
              </a:rPr>
              <a:t>Compatibility Gate:</a:t>
            </a:r>
            <a:pPr algn="l" marL="152400" indent="-152400">
              <a:lnSpc>
                <a:spcPct val="101000"/>
              </a:lnSpc>
              <a:buSzPct val="100000"/>
              <a:buChar char="•"/>
            </a:pPr>
            <a:r>
              <a:rPr lang="en-US" sz="750" dirty="0">
                <a:solidFill>
                  <a:srgbClr val="4C4C4D"/>
                </a:solidFill>
                <a:latin typeface="Heebo" pitchFamily="34" charset="0"/>
                <a:ea typeface="Heebo" pitchFamily="34" charset="-122"/>
                <a:cs typeface="Heebo" pitchFamily="34" charset="-120"/>
              </a:rPr>
              <a:t> Enable / disable BrowserStack cross-browser run</a:t>
            </a:r>
            <a:endParaRPr lang="en-US" sz="750" dirty="0"/>
          </a:p>
          <a:p>
            <a:pPr algn="l" marL="152400" indent="-152400">
              <a:lnSpc>
                <a:spcPct val="101000"/>
              </a:lnSpc>
              <a:buSzPct val="100000"/>
              <a:buChar char="•"/>
            </a:pPr>
            <a:r>
              <a:rPr lang="en-US" sz="750" b="1" dirty="0">
                <a:solidFill>
                  <a:srgbClr val="4C4C4D"/>
                </a:solidFill>
                <a:latin typeface="Heebo Bold" pitchFamily="34" charset="0"/>
                <a:ea typeface="Heebo Bold" pitchFamily="34" charset="-122"/>
                <a:cs typeface="Heebo Bold" pitchFamily="34" charset="-120"/>
              </a:rPr>
              <a:t>Story Tag Override:</a:t>
            </a:r>
            <a:pPr algn="l" marL="152400" indent="-152400">
              <a:lnSpc>
                <a:spcPct val="101000"/>
              </a:lnSpc>
              <a:buSzPct val="100000"/>
              <a:buChar char="•"/>
            </a:pPr>
            <a:r>
              <a:rPr lang="en-US" sz="750" dirty="0">
                <a:solidFill>
                  <a:srgbClr val="4C4C4D"/>
                </a:solidFill>
                <a:latin typeface="Heebo" pitchFamily="34" charset="0"/>
                <a:ea typeface="Heebo" pitchFamily="34" charset="-122"/>
                <a:cs typeface="Heebo" pitchFamily="34" charset="-120"/>
              </a:rPr>
              <a:t> Enter any story ID to run its specific tests on demand</a:t>
            </a:r>
            <a:endParaRPr lang="en-US" sz="750" dirty="0"/>
          </a:p>
        </p:txBody>
      </p:sp>
      <p:sp>
        <p:nvSpPr>
          <p:cNvPr id="25" name="Text 17"/>
          <p:cNvSpPr/>
          <p:nvPr/>
        </p:nvSpPr>
        <p:spPr>
          <a:xfrm>
            <a:off x="6219273" y="3240782"/>
            <a:ext cx="5317297" cy="149920"/>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 Smart Tag Extraction Rules</a:t>
            </a:r>
            <a:endParaRPr lang="en-US" sz="900" dirty="0"/>
          </a:p>
        </p:txBody>
      </p:sp>
      <p:sp>
        <p:nvSpPr>
          <p:cNvPr id="26" name="Shape 18"/>
          <p:cNvSpPr/>
          <p:nvPr/>
        </p:nvSpPr>
        <p:spPr>
          <a:xfrm>
            <a:off x="6219273" y="3445470"/>
            <a:ext cx="2634291" cy="537964"/>
          </a:xfrm>
          <a:prstGeom prst="roundRect">
            <a:avLst>
              <a:gd name="adj" fmla="val 2676"/>
            </a:avLst>
          </a:prstGeom>
          <a:solidFill>
            <a:srgbClr val="FFFFFF"/>
          </a:solidFill>
          <a:ln w="12700">
            <a:solidFill>
              <a:srgbClr val="D8D4D4"/>
            </a:solidFill>
            <a:prstDash val="solid"/>
          </a:ln>
        </p:spPr>
      </p:sp>
      <p:sp>
        <p:nvSpPr>
          <p:cNvPr id="27" name="Text 19"/>
          <p:cNvSpPr/>
          <p:nvPr/>
        </p:nvSpPr>
        <p:spPr>
          <a:xfrm>
            <a:off x="6327914" y="3554115"/>
            <a:ext cx="2417008" cy="149920"/>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Branch Name</a:t>
            </a:r>
            <a:endParaRPr lang="en-US" sz="900" dirty="0"/>
          </a:p>
        </p:txBody>
      </p:sp>
      <p:sp>
        <p:nvSpPr>
          <p:cNvPr id="28" name="Text 20"/>
          <p:cNvSpPr/>
          <p:nvPr/>
        </p:nvSpPr>
        <p:spPr>
          <a:xfrm>
            <a:off x="6327914" y="3752751"/>
            <a:ext cx="2417008" cy="122039"/>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highlight>
                  <a:srgbClr val="F2F2F2"/>
                </a:highlight>
                <a:latin typeface="Consolas" pitchFamily="34" charset="0"/>
                <a:ea typeface="Consolas" pitchFamily="34" charset="-122"/>
                <a:cs typeface="Consolas" pitchFamily="34" charset="-120"/>
              </a:rPr>
              <a:t>feature/AFCM-1234-my-change</a:t>
            </a:r>
            <a:pPr algn="l" indent="0" marL="0">
              <a:lnSpc>
                <a:spcPct val="101000"/>
              </a:lnSpc>
              <a:buNone/>
            </a:pPr>
            <a:r>
              <a:rPr lang="en-US" sz="750" dirty="0">
                <a:solidFill>
                  <a:srgbClr val="4C4C4D"/>
                </a:solidFill>
                <a:latin typeface="Heebo" pitchFamily="34" charset="0"/>
                <a:ea typeface="Heebo" pitchFamily="34" charset="-122"/>
                <a:cs typeface="Heebo" pitchFamily="34" charset="-120"/>
              </a:rPr>
              <a:t> → extracts </a:t>
            </a:r>
            <a:pPr algn="l" indent="0" marL="0">
              <a:lnSpc>
                <a:spcPct val="101000"/>
              </a:lnSpc>
              <a:buNone/>
            </a:pPr>
            <a:r>
              <a:rPr lang="en-US" sz="750" dirty="0">
                <a:solidFill>
                  <a:srgbClr val="4C4C4D"/>
                </a:solidFill>
                <a:highlight>
                  <a:srgbClr val="F2F2F2"/>
                </a:highlight>
                <a:latin typeface="Consolas" pitchFamily="34" charset="0"/>
                <a:ea typeface="Consolas" pitchFamily="34" charset="-122"/>
                <a:cs typeface="Consolas" pitchFamily="34" charset="-120"/>
              </a:rPr>
              <a:t>AFCM-1234</a:t>
            </a:r>
            <a:endParaRPr lang="en-US" sz="750" dirty="0"/>
          </a:p>
        </p:txBody>
      </p:sp>
      <p:sp>
        <p:nvSpPr>
          <p:cNvPr id="29" name="Shape 21"/>
          <p:cNvSpPr/>
          <p:nvPr/>
        </p:nvSpPr>
        <p:spPr>
          <a:xfrm>
            <a:off x="8902279" y="3445470"/>
            <a:ext cx="2634291" cy="537964"/>
          </a:xfrm>
          <a:prstGeom prst="roundRect">
            <a:avLst>
              <a:gd name="adj" fmla="val 2676"/>
            </a:avLst>
          </a:prstGeom>
          <a:solidFill>
            <a:srgbClr val="FFFFFF"/>
          </a:solidFill>
          <a:ln w="12700">
            <a:solidFill>
              <a:srgbClr val="D8D4D4"/>
            </a:solidFill>
            <a:prstDash val="solid"/>
          </a:ln>
        </p:spPr>
      </p:sp>
      <p:sp>
        <p:nvSpPr>
          <p:cNvPr id="30" name="Text 22"/>
          <p:cNvSpPr/>
          <p:nvPr/>
        </p:nvSpPr>
        <p:spPr>
          <a:xfrm>
            <a:off x="9010921" y="3554115"/>
            <a:ext cx="2417008" cy="149920"/>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Commit Message</a:t>
            </a:r>
            <a:endParaRPr lang="en-US" sz="900" dirty="0"/>
          </a:p>
        </p:txBody>
      </p:sp>
      <p:sp>
        <p:nvSpPr>
          <p:cNvPr id="31" name="Text 23"/>
          <p:cNvSpPr/>
          <p:nvPr/>
        </p:nvSpPr>
        <p:spPr>
          <a:xfrm>
            <a:off x="9010921" y="3752751"/>
            <a:ext cx="2417008" cy="122039"/>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highlight>
                  <a:srgbClr val="F2F2F2"/>
                </a:highlight>
                <a:latin typeface="Consolas" pitchFamily="34" charset="0"/>
                <a:ea typeface="Consolas" pitchFamily="34" charset="-122"/>
                <a:cs typeface="Consolas" pitchFamily="34" charset="-120"/>
              </a:rPr>
              <a:t>[AFCM-1234] fix null check</a:t>
            </a:r>
            <a:pPr algn="l" indent="0" marL="0">
              <a:lnSpc>
                <a:spcPct val="101000"/>
              </a:lnSpc>
              <a:buNone/>
            </a:pPr>
            <a:r>
              <a:rPr lang="en-US" sz="750" dirty="0">
                <a:solidFill>
                  <a:srgbClr val="4C4C4D"/>
                </a:solidFill>
                <a:latin typeface="Heebo" pitchFamily="34" charset="0"/>
                <a:ea typeface="Heebo" pitchFamily="34" charset="-122"/>
                <a:cs typeface="Heebo" pitchFamily="34" charset="-120"/>
              </a:rPr>
              <a:t> → extracts </a:t>
            </a:r>
            <a:pPr algn="l" indent="0" marL="0">
              <a:lnSpc>
                <a:spcPct val="101000"/>
              </a:lnSpc>
              <a:buNone/>
            </a:pPr>
            <a:r>
              <a:rPr lang="en-US" sz="750" dirty="0">
                <a:solidFill>
                  <a:srgbClr val="4C4C4D"/>
                </a:solidFill>
                <a:highlight>
                  <a:srgbClr val="F2F2F2"/>
                </a:highlight>
                <a:latin typeface="Consolas" pitchFamily="34" charset="0"/>
                <a:ea typeface="Consolas" pitchFamily="34" charset="-122"/>
                <a:cs typeface="Consolas" pitchFamily="34" charset="-120"/>
              </a:rPr>
              <a:t>AFCM-1234</a:t>
            </a:r>
            <a:endParaRPr lang="en-US" sz="750" dirty="0"/>
          </a:p>
        </p:txBody>
      </p:sp>
      <p:sp>
        <p:nvSpPr>
          <p:cNvPr id="32" name="Shape 24"/>
          <p:cNvSpPr/>
          <p:nvPr/>
        </p:nvSpPr>
        <p:spPr>
          <a:xfrm>
            <a:off x="6219273" y="4032151"/>
            <a:ext cx="5317297" cy="531614"/>
          </a:xfrm>
          <a:prstGeom prst="roundRect">
            <a:avLst>
              <a:gd name="adj" fmla="val 2708"/>
            </a:avLst>
          </a:prstGeom>
          <a:solidFill>
            <a:srgbClr val="FFFFFF"/>
          </a:solidFill>
          <a:ln w="12700">
            <a:solidFill>
              <a:srgbClr val="D8D4D4"/>
            </a:solidFill>
            <a:prstDash val="solid"/>
          </a:ln>
        </p:spPr>
      </p:sp>
      <p:sp>
        <p:nvSpPr>
          <p:cNvPr id="33" name="Text 25"/>
          <p:cNvSpPr/>
          <p:nvPr/>
        </p:nvSpPr>
        <p:spPr>
          <a:xfrm>
            <a:off x="6327914" y="4140795"/>
            <a:ext cx="5100014" cy="149920"/>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No Match Found</a:t>
            </a:r>
            <a:endParaRPr lang="en-US" sz="900" dirty="0"/>
          </a:p>
        </p:txBody>
      </p:sp>
      <p:sp>
        <p:nvSpPr>
          <p:cNvPr id="34" name="Text 26"/>
          <p:cNvSpPr/>
          <p:nvPr/>
        </p:nvSpPr>
        <p:spPr>
          <a:xfrm>
            <a:off x="6327914" y="4339431"/>
            <a:ext cx="5100014" cy="115689"/>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Full regression suite runs as fallback — nothing is skipped</a:t>
            </a:r>
            <a:endParaRPr lang="en-US" sz="750" dirty="0"/>
          </a:p>
        </p:txBody>
      </p:sp>
      <p:sp>
        <p:nvSpPr>
          <p:cNvPr id="35" name="Text 27"/>
          <p:cNvSpPr/>
          <p:nvPr/>
        </p:nvSpPr>
        <p:spPr>
          <a:xfrm>
            <a:off x="1607204" y="4721225"/>
            <a:ext cx="3512454" cy="316805"/>
          </a:xfrm>
          <a:prstGeom prst="rect">
            <a:avLst/>
          </a:prstGeom>
          <a:noFill/>
          <a:ln/>
        </p:spPr>
        <p:txBody>
          <a:bodyPr wrap="none" lIns="0" tIns="0" rIns="0" bIns="0" rtlCol="0" anchor="t"/>
          <a:lstStyle/>
          <a:p>
            <a:pPr algn="ctr" indent="0" marL="0">
              <a:lnSpc>
                <a:spcPct val="83000"/>
              </a:lnSpc>
              <a:buNone/>
            </a:pPr>
            <a:r>
              <a:rPr lang="en-US" sz="2450" dirty="0">
                <a:solidFill>
                  <a:srgbClr val="4C4C4D"/>
                </a:solidFill>
                <a:latin typeface="Crimson Pro SemiBold" pitchFamily="34" charset="0"/>
                <a:ea typeface="Crimson Pro SemiBold" pitchFamily="34" charset="-122"/>
                <a:cs typeface="Crimson Pro SemiBold" pitchFamily="34" charset="-120"/>
              </a:rPr>
              <a:t>90%</a:t>
            </a:r>
            <a:endParaRPr lang="en-US" sz="2450" dirty="0"/>
          </a:p>
        </p:txBody>
      </p:sp>
      <p:sp>
        <p:nvSpPr>
          <p:cNvPr id="36" name="Text 28"/>
          <p:cNvSpPr/>
          <p:nvPr/>
        </p:nvSpPr>
        <p:spPr>
          <a:xfrm>
            <a:off x="661475" y="5122466"/>
            <a:ext cx="5403913" cy="149920"/>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Faster Feedback</a:t>
            </a:r>
            <a:endParaRPr lang="en-US" sz="900" dirty="0"/>
          </a:p>
        </p:txBody>
      </p:sp>
      <p:sp>
        <p:nvSpPr>
          <p:cNvPr id="37" name="Text 29"/>
          <p:cNvSpPr/>
          <p:nvPr/>
        </p:nvSpPr>
        <p:spPr>
          <a:xfrm>
            <a:off x="661475" y="5301555"/>
            <a:ext cx="5403913" cy="115689"/>
          </a:xfrm>
          <a:prstGeom prst="rect">
            <a:avLst/>
          </a:prstGeom>
          <a:noFill/>
          <a:ln/>
        </p:spPr>
        <p:txBody>
          <a:bodyPr wrap="none" lIns="0" tIns="0" rIns="0" bIns="0" rtlCol="0" anchor="t"/>
          <a:lstStyle/>
          <a:p>
            <a:pPr algn="ctr" indent="0" marL="0">
              <a:lnSpc>
                <a:spcPct val="101000"/>
              </a:lnSpc>
              <a:buNone/>
            </a:pPr>
            <a:r>
              <a:rPr lang="en-US" sz="750" dirty="0">
                <a:solidFill>
                  <a:srgbClr val="4C4C4D"/>
                </a:solidFill>
                <a:latin typeface="Heebo" pitchFamily="34" charset="0"/>
                <a:ea typeface="Heebo" pitchFamily="34" charset="-122"/>
                <a:cs typeface="Heebo" pitchFamily="34" charset="-120"/>
              </a:rPr>
              <a:t>vs full regression run — developers know results before they switch context</a:t>
            </a:r>
            <a:endParaRPr lang="en-US" sz="750" dirty="0"/>
          </a:p>
        </p:txBody>
      </p:sp>
      <p:sp>
        <p:nvSpPr>
          <p:cNvPr id="38" name="Text 30"/>
          <p:cNvSpPr/>
          <p:nvPr/>
        </p:nvSpPr>
        <p:spPr>
          <a:xfrm>
            <a:off x="7072036" y="4721225"/>
            <a:ext cx="3512454" cy="316805"/>
          </a:xfrm>
          <a:prstGeom prst="rect">
            <a:avLst/>
          </a:prstGeom>
          <a:noFill/>
          <a:ln/>
        </p:spPr>
        <p:txBody>
          <a:bodyPr wrap="none" lIns="0" tIns="0" rIns="0" bIns="0" rtlCol="0" anchor="t"/>
          <a:lstStyle/>
          <a:p>
            <a:pPr algn="ctr" indent="0" marL="0">
              <a:lnSpc>
                <a:spcPct val="83000"/>
              </a:lnSpc>
              <a:buNone/>
            </a:pPr>
            <a:r>
              <a:rPr lang="en-US" sz="2450" dirty="0">
                <a:solidFill>
                  <a:srgbClr val="4C4C4D"/>
                </a:solidFill>
                <a:latin typeface="Crimson Pro SemiBold" pitchFamily="34" charset="0"/>
                <a:ea typeface="Crimson Pro SemiBold" pitchFamily="34" charset="-122"/>
                <a:cs typeface="Crimson Pro SemiBold" pitchFamily="34" charset="-120"/>
              </a:rPr>
              <a:t>&lt;5m</a:t>
            </a:r>
            <a:endParaRPr lang="en-US" sz="2450" dirty="0"/>
          </a:p>
        </p:txBody>
      </p:sp>
      <p:sp>
        <p:nvSpPr>
          <p:cNvPr id="39" name="Text 31"/>
          <p:cNvSpPr/>
          <p:nvPr/>
        </p:nvSpPr>
        <p:spPr>
          <a:xfrm>
            <a:off x="6126307" y="5122466"/>
            <a:ext cx="5403913" cy="149920"/>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Targeted Result</a:t>
            </a:r>
            <a:endParaRPr lang="en-US" sz="900" dirty="0"/>
          </a:p>
        </p:txBody>
      </p:sp>
      <p:sp>
        <p:nvSpPr>
          <p:cNvPr id="40" name="Text 32"/>
          <p:cNvSpPr/>
          <p:nvPr/>
        </p:nvSpPr>
        <p:spPr>
          <a:xfrm>
            <a:off x="6126307" y="5301555"/>
            <a:ext cx="5403913" cy="115689"/>
          </a:xfrm>
          <a:prstGeom prst="rect">
            <a:avLst/>
          </a:prstGeom>
          <a:noFill/>
          <a:ln/>
        </p:spPr>
        <p:txBody>
          <a:bodyPr wrap="none" lIns="0" tIns="0" rIns="0" bIns="0" rtlCol="0" anchor="t"/>
          <a:lstStyle/>
          <a:p>
            <a:pPr algn="ctr" indent="0" marL="0">
              <a:lnSpc>
                <a:spcPct val="101000"/>
              </a:lnSpc>
              <a:buNone/>
            </a:pPr>
            <a:r>
              <a:rPr lang="en-US" sz="750" dirty="0">
                <a:solidFill>
                  <a:srgbClr val="4C4C4D"/>
                </a:solidFill>
                <a:latin typeface="Heebo" pitchFamily="34" charset="0"/>
                <a:ea typeface="Heebo" pitchFamily="34" charset="-122"/>
                <a:cs typeface="Heebo" pitchFamily="34" charset="-120"/>
              </a:rPr>
              <a:t>per story-tagged execution delivered directly to Slack</a:t>
            </a:r>
            <a:endParaRPr lang="en-US" sz="750" dirty="0"/>
          </a:p>
        </p:txBody>
      </p:sp>
      <p:sp>
        <p:nvSpPr>
          <p:cNvPr id="41" name="Text 33"/>
          <p:cNvSpPr/>
          <p:nvPr/>
        </p:nvSpPr>
        <p:spPr>
          <a:xfrm>
            <a:off x="4339620" y="5562600"/>
            <a:ext cx="3512454" cy="316805"/>
          </a:xfrm>
          <a:prstGeom prst="rect">
            <a:avLst/>
          </a:prstGeom>
          <a:noFill/>
          <a:ln/>
        </p:spPr>
        <p:txBody>
          <a:bodyPr wrap="none" lIns="0" tIns="0" rIns="0" bIns="0" rtlCol="0" anchor="t"/>
          <a:lstStyle/>
          <a:p>
            <a:pPr algn="ctr" indent="0" marL="0">
              <a:lnSpc>
                <a:spcPct val="83000"/>
              </a:lnSpc>
              <a:buNone/>
            </a:pPr>
            <a:r>
              <a:rPr lang="en-US" sz="2450" dirty="0">
                <a:solidFill>
                  <a:srgbClr val="4C4C4D"/>
                </a:solidFill>
                <a:latin typeface="Crimson Pro SemiBold" pitchFamily="34" charset="0"/>
                <a:ea typeface="Crimson Pro SemiBold" pitchFamily="34" charset="-122"/>
                <a:cs typeface="Crimson Pro SemiBold" pitchFamily="34" charset="-120"/>
              </a:rPr>
              <a:t>0</a:t>
            </a:r>
            <a:endParaRPr lang="en-US" sz="2450" dirty="0"/>
          </a:p>
        </p:txBody>
      </p:sp>
      <p:sp>
        <p:nvSpPr>
          <p:cNvPr id="42" name="Text 34"/>
          <p:cNvSpPr/>
          <p:nvPr/>
        </p:nvSpPr>
        <p:spPr>
          <a:xfrm>
            <a:off x="3393891" y="5963841"/>
            <a:ext cx="5403913" cy="149920"/>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Extra Steps for Dev</a:t>
            </a:r>
            <a:endParaRPr lang="en-US" sz="900" dirty="0"/>
          </a:p>
        </p:txBody>
      </p:sp>
      <p:sp>
        <p:nvSpPr>
          <p:cNvPr id="43" name="Text 35"/>
          <p:cNvSpPr/>
          <p:nvPr/>
        </p:nvSpPr>
        <p:spPr>
          <a:xfrm>
            <a:off x="3393891" y="6142930"/>
            <a:ext cx="5403913" cy="115689"/>
          </a:xfrm>
          <a:prstGeom prst="rect">
            <a:avLst/>
          </a:prstGeom>
          <a:noFill/>
          <a:ln/>
        </p:spPr>
        <p:txBody>
          <a:bodyPr wrap="none" lIns="0" tIns="0" rIns="0" bIns="0" rtlCol="0" anchor="t"/>
          <a:lstStyle/>
          <a:p>
            <a:pPr algn="ctr" indent="0" marL="0">
              <a:lnSpc>
                <a:spcPct val="101000"/>
              </a:lnSpc>
              <a:buNone/>
            </a:pPr>
            <a:r>
              <a:rPr lang="en-US" sz="750" dirty="0">
                <a:solidFill>
                  <a:srgbClr val="4C4C4D"/>
                </a:solidFill>
                <a:latin typeface="Heebo" pitchFamily="34" charset="0"/>
                <a:ea typeface="Heebo" pitchFamily="34" charset="-122"/>
                <a:cs typeface="Heebo" pitchFamily="34" charset="-120"/>
              </a:rPr>
              <a:t>just name the branch correctly — everything else is automated</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51855"/>
            <a:ext cx="1013990" cy="148729"/>
          </a:xfrm>
          <a:prstGeom prst="roundRect">
            <a:avLst>
              <a:gd name="adj" fmla="val 7899"/>
            </a:avLst>
          </a:prstGeom>
          <a:solidFill>
            <a:srgbClr val="CCD7FF"/>
          </a:solidFill>
          <a:ln/>
        </p:spPr>
      </p:sp>
      <p:pic>
        <p:nvPicPr>
          <p:cNvPr id="3" name="Image 0" descr="preencoded.png">    </p:cNvPr>
          <p:cNvPicPr>
            <a:picLocks noChangeAspect="1"/>
          </p:cNvPicPr>
          <p:nvPr/>
        </p:nvPicPr>
        <p:blipFill>
          <a:blip r:embed="rId1"/>
          <a:stretch>
            <a:fillRect/>
          </a:stretch>
        </p:blipFill>
        <p:spPr>
          <a:xfrm>
            <a:off x="720211" y="587077"/>
            <a:ext cx="78282" cy="78284"/>
          </a:xfrm>
          <a:prstGeom prst="rect">
            <a:avLst/>
          </a:prstGeom>
        </p:spPr>
      </p:pic>
      <p:sp>
        <p:nvSpPr>
          <p:cNvPr id="4" name="Text 1"/>
          <p:cNvSpPr/>
          <p:nvPr/>
        </p:nvSpPr>
        <p:spPr>
          <a:xfrm>
            <a:off x="837584" y="581223"/>
            <a:ext cx="1388730" cy="89991"/>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SECURITY SHIFT-LEFT</a:t>
            </a:r>
            <a:endParaRPr lang="en-US" sz="600" dirty="0"/>
          </a:p>
        </p:txBody>
      </p:sp>
      <p:sp>
        <p:nvSpPr>
          <p:cNvPr id="5" name="Text 2"/>
          <p:cNvSpPr/>
          <p:nvPr/>
        </p:nvSpPr>
        <p:spPr>
          <a:xfrm>
            <a:off x="661475" y="720824"/>
            <a:ext cx="10868745" cy="305891"/>
          </a:xfrm>
          <a:prstGeom prst="rect">
            <a:avLst/>
          </a:prstGeom>
          <a:noFill/>
          <a:ln/>
        </p:spPr>
        <p:txBody>
          <a:bodyPr wrap="none" lIns="0" tIns="0" rIns="0" bIns="0" rtlCol="0" anchor="t"/>
          <a:lstStyle/>
          <a:p>
            <a:pPr algn="l" indent="0" marL="0">
              <a:lnSpc>
                <a:spcPct val="104000"/>
              </a:lnSpc>
              <a:buNone/>
            </a:pPr>
            <a:r>
              <a:rPr lang="en-US" sz="1900" dirty="0">
                <a:solidFill>
                  <a:srgbClr val="152D47"/>
                </a:solidFill>
                <a:latin typeface="Crimson Pro SemiBold" pitchFamily="34" charset="0"/>
                <a:ea typeface="Crimson Pro SemiBold" pitchFamily="34" charset="-122"/>
                <a:cs typeface="Crimson Pro SemiBold" pitchFamily="34" charset="-120"/>
              </a:rPr>
              <a:t>ZAP Integration — Security at Every Commit</a:t>
            </a:r>
            <a:endParaRPr lang="en-US" sz="1900" dirty="0"/>
          </a:p>
        </p:txBody>
      </p:sp>
      <p:sp>
        <p:nvSpPr>
          <p:cNvPr id="6" name="Text 3"/>
          <p:cNvSpPr/>
          <p:nvPr/>
        </p:nvSpPr>
        <p:spPr>
          <a:xfrm>
            <a:off x="661475" y="1153418"/>
            <a:ext cx="5870329" cy="152896"/>
          </a:xfrm>
          <a:prstGeom prst="rect">
            <a:avLst/>
          </a:prstGeom>
          <a:noFill/>
          <a:ln/>
        </p:spPr>
        <p:txBody>
          <a:bodyPr wrap="none" lIns="0" tIns="0" rIns="0" bIns="0" rtlCol="0" anchor="t"/>
          <a:lstStyle/>
          <a:p>
            <a:pPr algn="l" indent="0" marL="0">
              <a:lnSpc>
                <a:spcPct val="104000"/>
              </a:lnSpc>
              <a:buNone/>
            </a:pPr>
            <a:r>
              <a:rPr lang="en-US" sz="950" dirty="0">
                <a:solidFill>
                  <a:srgbClr val="152D47"/>
                </a:solidFill>
                <a:latin typeface="Crimson Pro SemiBold" pitchFamily="34" charset="0"/>
                <a:ea typeface="Crimson Pro SemiBold" pitchFamily="34" charset="-122"/>
                <a:cs typeface="Crimson Pro SemiBold" pitchFamily="34" charset="-120"/>
              </a:rPr>
              <a:t>Scanning Flow</a:t>
            </a:r>
            <a:endParaRPr lang="en-US" sz="950" dirty="0"/>
          </a:p>
        </p:txBody>
      </p:sp>
      <p:sp>
        <p:nvSpPr>
          <p:cNvPr id="7" name="Shape 4"/>
          <p:cNvSpPr/>
          <p:nvPr/>
        </p:nvSpPr>
        <p:spPr>
          <a:xfrm>
            <a:off x="661475" y="1363365"/>
            <a:ext cx="2909815" cy="981373"/>
          </a:xfrm>
          <a:prstGeom prst="roundRect">
            <a:avLst>
              <a:gd name="adj" fmla="val 1496"/>
            </a:avLst>
          </a:prstGeom>
          <a:solidFill>
            <a:srgbClr val="F2EEEE"/>
          </a:solidFill>
          <a:ln/>
        </p:spPr>
      </p:sp>
      <p:sp>
        <p:nvSpPr>
          <p:cNvPr id="8" name="Shape 5"/>
          <p:cNvSpPr/>
          <p:nvPr/>
        </p:nvSpPr>
        <p:spPr>
          <a:xfrm>
            <a:off x="759302" y="1461195"/>
            <a:ext cx="293680" cy="293688"/>
          </a:xfrm>
          <a:prstGeom prst="ellipse">
            <a:avLst/>
          </a:prstGeom>
          <a:solidFill>
            <a:srgbClr val="2150FE"/>
          </a:solidFill>
          <a:ln/>
        </p:spPr>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0064" y="1541859"/>
            <a:ext cx="132156" cy="132159"/>
          </a:xfrm>
          <a:prstGeom prst="rect">
            <a:avLst/>
          </a:prstGeom>
        </p:spPr>
      </p:pic>
      <p:sp>
        <p:nvSpPr>
          <p:cNvPr id="10" name="Text 6"/>
          <p:cNvSpPr/>
          <p:nvPr/>
        </p:nvSpPr>
        <p:spPr>
          <a:xfrm>
            <a:off x="759302" y="1805583"/>
            <a:ext cx="2714160" cy="152896"/>
          </a:xfrm>
          <a:prstGeom prst="rect">
            <a:avLst/>
          </a:prstGeom>
          <a:noFill/>
          <a:ln/>
        </p:spPr>
        <p:txBody>
          <a:bodyPr wrap="none" lIns="0" tIns="0" rIns="0" bIns="0" rtlCol="0" anchor="t"/>
          <a:lstStyle/>
          <a:p>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Browser Proxy</a:t>
            </a:r>
            <a:endParaRPr lang="en-US" sz="950" dirty="0"/>
          </a:p>
        </p:txBody>
      </p:sp>
      <p:sp>
        <p:nvSpPr>
          <p:cNvPr id="11" name="Text 7"/>
          <p:cNvSpPr/>
          <p:nvPr/>
        </p:nvSpPr>
        <p:spPr>
          <a:xfrm>
            <a:off x="759302" y="2009180"/>
            <a:ext cx="2714160" cy="237728"/>
          </a:xfrm>
          <a:prstGeom prst="rect">
            <a:avLst/>
          </a:prstGeom>
          <a:noFill/>
          <a:ln/>
        </p:spPr>
        <p:txBody>
          <a:bodyPr wrap="square" lIns="0" tIns="0" rIns="0" bIns="0" rtlCol="0" anchor="t">
            <a:normAutofit/>
          </a:bodyPr>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Playwright drives browser through ZAP proxy, capturing all traffic</a:t>
            </a:r>
            <a:endParaRPr lang="en-US" sz="750" dirty="0"/>
          </a:p>
        </p:txBody>
      </p:sp>
      <p:sp>
        <p:nvSpPr>
          <p:cNvPr id="12" name="Shape 8"/>
          <p:cNvSpPr/>
          <p:nvPr/>
        </p:nvSpPr>
        <p:spPr>
          <a:xfrm>
            <a:off x="3621989" y="1363365"/>
            <a:ext cx="2909815" cy="981373"/>
          </a:xfrm>
          <a:prstGeom prst="roundRect">
            <a:avLst>
              <a:gd name="adj" fmla="val 1496"/>
            </a:avLst>
          </a:prstGeom>
          <a:solidFill>
            <a:srgbClr val="F2EEEE"/>
          </a:solidFill>
          <a:ln/>
        </p:spPr>
      </p:sp>
      <p:sp>
        <p:nvSpPr>
          <p:cNvPr id="13" name="Shape 9"/>
          <p:cNvSpPr/>
          <p:nvPr/>
        </p:nvSpPr>
        <p:spPr>
          <a:xfrm>
            <a:off x="3719816" y="1461195"/>
            <a:ext cx="293680" cy="293688"/>
          </a:xfrm>
          <a:prstGeom prst="ellipse">
            <a:avLst/>
          </a:prstGeom>
          <a:solidFill>
            <a:srgbClr val="2150FE"/>
          </a:solidFill>
          <a:ln/>
        </p:spPr>
      </p:sp>
      <p:pic>
        <p:nvPicPr>
          <p:cNvPr id="14"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00578" y="1541859"/>
            <a:ext cx="132156" cy="132159"/>
          </a:xfrm>
          <a:prstGeom prst="rect">
            <a:avLst/>
          </a:prstGeom>
        </p:spPr>
      </p:pic>
      <p:sp>
        <p:nvSpPr>
          <p:cNvPr id="15" name="Text 10"/>
          <p:cNvSpPr/>
          <p:nvPr/>
        </p:nvSpPr>
        <p:spPr>
          <a:xfrm>
            <a:off x="3719816" y="1805583"/>
            <a:ext cx="2714160" cy="152896"/>
          </a:xfrm>
          <a:prstGeom prst="rect">
            <a:avLst/>
          </a:prstGeom>
          <a:noFill/>
          <a:ln/>
        </p:spPr>
        <p:txBody>
          <a:bodyPr wrap="none" lIns="0" tIns="0" rIns="0" bIns="0" rtlCol="0" anchor="t"/>
          <a:lstStyle/>
          <a:p>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Active Scan</a:t>
            </a:r>
            <a:endParaRPr lang="en-US" sz="950" dirty="0"/>
          </a:p>
        </p:txBody>
      </p:sp>
      <p:sp>
        <p:nvSpPr>
          <p:cNvPr id="16" name="Text 11"/>
          <p:cNvSpPr/>
          <p:nvPr/>
        </p:nvSpPr>
        <p:spPr>
          <a:xfrm>
            <a:off x="3719816" y="2009180"/>
            <a:ext cx="2714160" cy="118864"/>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ZAP crawls URLs and launches active vulnerability detection</a:t>
            </a:r>
            <a:endParaRPr lang="en-US" sz="750" dirty="0"/>
          </a:p>
        </p:txBody>
      </p:sp>
      <p:sp>
        <p:nvSpPr>
          <p:cNvPr id="17" name="Shape 12"/>
          <p:cNvSpPr/>
          <p:nvPr/>
        </p:nvSpPr>
        <p:spPr>
          <a:xfrm>
            <a:off x="661475" y="2395438"/>
            <a:ext cx="2909815" cy="862509"/>
          </a:xfrm>
          <a:prstGeom prst="roundRect">
            <a:avLst>
              <a:gd name="adj" fmla="val 1703"/>
            </a:avLst>
          </a:prstGeom>
          <a:solidFill>
            <a:srgbClr val="F2EEEE"/>
          </a:solidFill>
          <a:ln/>
        </p:spPr>
      </p:sp>
      <p:sp>
        <p:nvSpPr>
          <p:cNvPr id="18" name="Shape 13"/>
          <p:cNvSpPr/>
          <p:nvPr/>
        </p:nvSpPr>
        <p:spPr>
          <a:xfrm>
            <a:off x="759302" y="2493268"/>
            <a:ext cx="293680" cy="293688"/>
          </a:xfrm>
          <a:prstGeom prst="ellipse">
            <a:avLst/>
          </a:prstGeom>
          <a:solidFill>
            <a:srgbClr val="2150FE"/>
          </a:solidFill>
          <a:ln/>
        </p:spPr>
      </p:sp>
      <p:pic>
        <p:nvPicPr>
          <p:cNvPr id="1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0064" y="2573933"/>
            <a:ext cx="132156" cy="132159"/>
          </a:xfrm>
          <a:prstGeom prst="rect">
            <a:avLst/>
          </a:prstGeom>
        </p:spPr>
      </p:pic>
      <p:sp>
        <p:nvSpPr>
          <p:cNvPr id="20" name="Text 14"/>
          <p:cNvSpPr/>
          <p:nvPr/>
        </p:nvSpPr>
        <p:spPr>
          <a:xfrm>
            <a:off x="759302" y="2837656"/>
            <a:ext cx="2714160" cy="152896"/>
          </a:xfrm>
          <a:prstGeom prst="rect">
            <a:avLst/>
          </a:prstGeom>
          <a:noFill/>
          <a:ln/>
        </p:spPr>
        <p:txBody>
          <a:bodyPr wrap="none" lIns="0" tIns="0" rIns="0" bIns="0" rtlCol="0" anchor="t"/>
          <a:lstStyle/>
          <a:p>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Risk Triage</a:t>
            </a:r>
            <a:endParaRPr lang="en-US" sz="950" dirty="0"/>
          </a:p>
        </p:txBody>
      </p:sp>
      <p:sp>
        <p:nvSpPr>
          <p:cNvPr id="21" name="Text 15"/>
          <p:cNvSpPr/>
          <p:nvPr/>
        </p:nvSpPr>
        <p:spPr>
          <a:xfrm>
            <a:off x="759302" y="3041253"/>
            <a:ext cx="2714160" cy="118864"/>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Findings categorised: </a:t>
            </a:r>
            <a:pPr algn="l" indent="0" marL="0">
              <a:lnSpc>
                <a:spcPct val="101000"/>
              </a:lnSpc>
              <a:buNone/>
            </a:pPr>
            <a:r>
              <a:rPr lang="en-US" sz="750" b="1" dirty="0">
                <a:solidFill>
                  <a:srgbClr val="4C4C4D"/>
                </a:solidFill>
                <a:latin typeface="Heebo Bold" pitchFamily="34" charset="0"/>
                <a:ea typeface="Heebo Bold" pitchFamily="34" charset="-122"/>
                <a:cs typeface="Heebo Bold" pitchFamily="34" charset="-120"/>
              </a:rPr>
              <a:t>High / Medium / Low</a:t>
            </a:r>
            <a:pPr algn="l" indent="0" marL="0">
              <a:lnSpc>
                <a:spcPct val="101000"/>
              </a:lnSpc>
              <a:buNone/>
            </a:pPr>
            <a:r>
              <a:rPr lang="en-US" sz="750" dirty="0">
                <a:solidFill>
                  <a:srgbClr val="4C4C4D"/>
                </a:solidFill>
                <a:latin typeface="Heebo" pitchFamily="34" charset="0"/>
                <a:ea typeface="Heebo" pitchFamily="34" charset="-122"/>
                <a:cs typeface="Heebo" pitchFamily="34" charset="-120"/>
              </a:rPr>
              <a:t> severity</a:t>
            </a:r>
            <a:endParaRPr lang="en-US" sz="750" dirty="0"/>
          </a:p>
        </p:txBody>
      </p:sp>
      <p:sp>
        <p:nvSpPr>
          <p:cNvPr id="22" name="Shape 16"/>
          <p:cNvSpPr/>
          <p:nvPr/>
        </p:nvSpPr>
        <p:spPr>
          <a:xfrm>
            <a:off x="3621989" y="2395438"/>
            <a:ext cx="2909815" cy="862509"/>
          </a:xfrm>
          <a:prstGeom prst="roundRect">
            <a:avLst>
              <a:gd name="adj" fmla="val 1703"/>
            </a:avLst>
          </a:prstGeom>
          <a:solidFill>
            <a:srgbClr val="F2EEEE"/>
          </a:solidFill>
          <a:ln/>
        </p:spPr>
      </p:sp>
      <p:sp>
        <p:nvSpPr>
          <p:cNvPr id="23" name="Shape 17"/>
          <p:cNvSpPr/>
          <p:nvPr/>
        </p:nvSpPr>
        <p:spPr>
          <a:xfrm>
            <a:off x="3719816" y="2493268"/>
            <a:ext cx="293680" cy="293688"/>
          </a:xfrm>
          <a:prstGeom prst="ellipse">
            <a:avLst/>
          </a:prstGeom>
          <a:solidFill>
            <a:srgbClr val="2150FE"/>
          </a:solidFill>
          <a:ln/>
        </p:spPr>
      </p:sp>
      <p:pic>
        <p:nvPicPr>
          <p:cNvPr id="2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00578" y="2573933"/>
            <a:ext cx="132156" cy="132159"/>
          </a:xfrm>
          <a:prstGeom prst="rect">
            <a:avLst/>
          </a:prstGeom>
        </p:spPr>
      </p:pic>
      <p:sp>
        <p:nvSpPr>
          <p:cNvPr id="25" name="Text 18"/>
          <p:cNvSpPr/>
          <p:nvPr/>
        </p:nvSpPr>
        <p:spPr>
          <a:xfrm>
            <a:off x="3719816" y="2837656"/>
            <a:ext cx="2714160" cy="152896"/>
          </a:xfrm>
          <a:prstGeom prst="rect">
            <a:avLst/>
          </a:prstGeom>
          <a:noFill/>
          <a:ln/>
        </p:spPr>
        <p:txBody>
          <a:bodyPr wrap="none" lIns="0" tIns="0" rIns="0" bIns="0" rtlCol="0" anchor="t"/>
          <a:lstStyle/>
          <a:p>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Instant Alert</a:t>
            </a:r>
            <a:endParaRPr lang="en-US" sz="950" dirty="0"/>
          </a:p>
        </p:txBody>
      </p:sp>
      <p:sp>
        <p:nvSpPr>
          <p:cNvPr id="26" name="Text 19"/>
          <p:cNvSpPr/>
          <p:nvPr/>
        </p:nvSpPr>
        <p:spPr>
          <a:xfrm>
            <a:off x="3719816" y="3041253"/>
            <a:ext cx="2714160" cy="118864"/>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Slack notification + HTML report saved as pipeline artifact</a:t>
            </a:r>
            <a:endParaRPr lang="en-US" sz="750" dirty="0"/>
          </a:p>
        </p:txBody>
      </p:sp>
      <p:sp>
        <p:nvSpPr>
          <p:cNvPr id="27" name="Text 20"/>
          <p:cNvSpPr/>
          <p:nvPr/>
        </p:nvSpPr>
        <p:spPr>
          <a:xfrm>
            <a:off x="6776868" y="1153418"/>
            <a:ext cx="4759603" cy="152896"/>
          </a:xfrm>
          <a:prstGeom prst="rect">
            <a:avLst/>
          </a:prstGeom>
          <a:noFill/>
          <a:ln/>
        </p:spPr>
        <p:txBody>
          <a:bodyPr wrap="none" lIns="0" tIns="0" rIns="0" bIns="0" rtlCol="0" anchor="t"/>
          <a:lstStyle/>
          <a:p>
            <a:pPr algn="l" indent="0" marL="0">
              <a:lnSpc>
                <a:spcPct val="104000"/>
              </a:lnSpc>
              <a:buNone/>
            </a:pPr>
            <a:r>
              <a:rPr lang="en-US" sz="950" dirty="0">
                <a:solidFill>
                  <a:srgbClr val="152D47"/>
                </a:solidFill>
                <a:latin typeface="Crimson Pro SemiBold" pitchFamily="34" charset="0"/>
                <a:ea typeface="Crimson Pro SemiBold" pitchFamily="34" charset="-122"/>
                <a:cs typeface="Crimson Pro SemiBold" pitchFamily="34" charset="-120"/>
              </a:rPr>
              <a:t>Vulnerabilities Detected</a:t>
            </a:r>
            <a:endParaRPr lang="en-US" sz="950" dirty="0"/>
          </a:p>
        </p:txBody>
      </p:sp>
      <p:sp>
        <p:nvSpPr>
          <p:cNvPr id="28" name="Shape 21"/>
          <p:cNvSpPr/>
          <p:nvPr/>
        </p:nvSpPr>
        <p:spPr>
          <a:xfrm>
            <a:off x="6776868" y="1363365"/>
            <a:ext cx="2354402" cy="348555"/>
          </a:xfrm>
          <a:prstGeom prst="roundRect">
            <a:avLst>
              <a:gd name="adj" fmla="val 4213"/>
            </a:avLst>
          </a:prstGeom>
          <a:solidFill>
            <a:srgbClr val="F2EEEE"/>
          </a:solidFill>
          <a:ln/>
        </p:spPr>
      </p:sp>
      <p:sp>
        <p:nvSpPr>
          <p:cNvPr id="29" name="Text 22"/>
          <p:cNvSpPr/>
          <p:nvPr/>
        </p:nvSpPr>
        <p:spPr>
          <a:xfrm>
            <a:off x="6874695" y="1461195"/>
            <a:ext cx="2158748" cy="152896"/>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 SQL Injection</a:t>
            </a:r>
            <a:endParaRPr lang="en-US" sz="950" dirty="0"/>
          </a:p>
        </p:txBody>
      </p:sp>
      <p:sp>
        <p:nvSpPr>
          <p:cNvPr id="30" name="Shape 23"/>
          <p:cNvSpPr/>
          <p:nvPr/>
        </p:nvSpPr>
        <p:spPr>
          <a:xfrm>
            <a:off x="9181970" y="1363365"/>
            <a:ext cx="2354501" cy="348555"/>
          </a:xfrm>
          <a:prstGeom prst="roundRect">
            <a:avLst>
              <a:gd name="adj" fmla="val 4213"/>
            </a:avLst>
          </a:prstGeom>
          <a:solidFill>
            <a:srgbClr val="F2EEEE"/>
          </a:solidFill>
          <a:ln/>
        </p:spPr>
      </p:sp>
      <p:sp>
        <p:nvSpPr>
          <p:cNvPr id="31" name="Text 24"/>
          <p:cNvSpPr/>
          <p:nvPr/>
        </p:nvSpPr>
        <p:spPr>
          <a:xfrm>
            <a:off x="9279797" y="1461195"/>
            <a:ext cx="2158847" cy="152896"/>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 XSS</a:t>
            </a:r>
            <a:endParaRPr lang="en-US" sz="950" dirty="0"/>
          </a:p>
        </p:txBody>
      </p:sp>
      <p:sp>
        <p:nvSpPr>
          <p:cNvPr id="32" name="Shape 25"/>
          <p:cNvSpPr/>
          <p:nvPr/>
        </p:nvSpPr>
        <p:spPr>
          <a:xfrm>
            <a:off x="6776868" y="1768971"/>
            <a:ext cx="2354402" cy="373955"/>
          </a:xfrm>
          <a:prstGeom prst="roundRect">
            <a:avLst>
              <a:gd name="adj" fmla="val 3927"/>
            </a:avLst>
          </a:prstGeom>
          <a:solidFill>
            <a:srgbClr val="FFFFFF"/>
          </a:solidFill>
          <a:ln w="12700">
            <a:solidFill>
              <a:srgbClr val="D8D4D4"/>
            </a:solidFill>
            <a:prstDash val="solid"/>
          </a:ln>
        </p:spPr>
      </p:sp>
      <p:sp>
        <p:nvSpPr>
          <p:cNvPr id="33" name="Text 26"/>
          <p:cNvSpPr/>
          <p:nvPr/>
        </p:nvSpPr>
        <p:spPr>
          <a:xfrm>
            <a:off x="6887395" y="1879501"/>
            <a:ext cx="2133348" cy="152896"/>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 Misconfigurations</a:t>
            </a:r>
            <a:endParaRPr lang="en-US" sz="950" dirty="0"/>
          </a:p>
        </p:txBody>
      </p:sp>
      <p:sp>
        <p:nvSpPr>
          <p:cNvPr id="34" name="Shape 27"/>
          <p:cNvSpPr/>
          <p:nvPr/>
        </p:nvSpPr>
        <p:spPr>
          <a:xfrm>
            <a:off x="9181970" y="1768971"/>
            <a:ext cx="2354501" cy="373955"/>
          </a:xfrm>
          <a:prstGeom prst="roundRect">
            <a:avLst>
              <a:gd name="adj" fmla="val 3927"/>
            </a:avLst>
          </a:prstGeom>
          <a:solidFill>
            <a:srgbClr val="FFFFFF"/>
          </a:solidFill>
          <a:ln w="12700">
            <a:solidFill>
              <a:srgbClr val="D8D4D4"/>
            </a:solidFill>
            <a:prstDash val="solid"/>
          </a:ln>
        </p:spPr>
      </p:sp>
      <p:sp>
        <p:nvSpPr>
          <p:cNvPr id="35" name="Text 28"/>
          <p:cNvSpPr/>
          <p:nvPr/>
        </p:nvSpPr>
        <p:spPr>
          <a:xfrm>
            <a:off x="9292496" y="1879501"/>
            <a:ext cx="2133447" cy="152896"/>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 Missing Headers</a:t>
            </a:r>
            <a:endParaRPr lang="en-US" sz="950" dirty="0"/>
          </a:p>
        </p:txBody>
      </p:sp>
      <p:sp>
        <p:nvSpPr>
          <p:cNvPr id="36" name="Shape 29"/>
          <p:cNvSpPr/>
          <p:nvPr/>
        </p:nvSpPr>
        <p:spPr>
          <a:xfrm>
            <a:off x="6776868" y="2199977"/>
            <a:ext cx="4759603" cy="258961"/>
          </a:xfrm>
          <a:prstGeom prst="roundRect">
            <a:avLst>
              <a:gd name="adj" fmla="val 5671"/>
            </a:avLst>
          </a:prstGeom>
          <a:solidFill>
            <a:srgbClr val="B6FCB8"/>
          </a:solidFill>
          <a:ln/>
        </p:spPr>
      </p:sp>
      <p:pic>
        <p:nvPicPr>
          <p:cNvPr id="37" name="Image 5" descr="preencoded.png">    </p:cNvPr>
          <p:cNvPicPr>
            <a:picLocks noChangeAspect="1"/>
          </p:cNvPicPr>
          <p:nvPr/>
        </p:nvPicPr>
        <p:blipFill>
          <a:blip r:embed="rId10"/>
          <a:stretch>
            <a:fillRect/>
          </a:stretch>
        </p:blipFill>
        <p:spPr>
          <a:xfrm>
            <a:off x="6874695" y="2278360"/>
            <a:ext cx="122334" cy="97830"/>
          </a:xfrm>
          <a:prstGeom prst="rect">
            <a:avLst/>
          </a:prstGeom>
        </p:spPr>
      </p:pic>
      <p:sp>
        <p:nvSpPr>
          <p:cNvPr id="38" name="Text 30"/>
          <p:cNvSpPr/>
          <p:nvPr/>
        </p:nvSpPr>
        <p:spPr>
          <a:xfrm>
            <a:off x="7094856" y="2270026"/>
            <a:ext cx="4953372" cy="118864"/>
          </a:xfrm>
          <a:prstGeom prst="rect">
            <a:avLst/>
          </a:prstGeom>
          <a:noFill/>
          <a:ln/>
        </p:spPr>
        <p:txBody>
          <a:bodyPr wrap="none" lIns="0" tIns="0" rIns="0" bIns="0" rtlCol="0" anchor="t"/>
          <a:lstStyle/>
          <a:p>
            <a:pPr algn="l" indent="0" marL="0">
              <a:lnSpc>
                <a:spcPct val="101000"/>
              </a:lnSpc>
              <a:buNone/>
            </a:pPr>
            <a:r>
              <a:rPr lang="en-US" sz="750" dirty="0">
                <a:solidFill>
                  <a:srgbClr val="000000"/>
                </a:solidFill>
                <a:latin typeface="Heebo" pitchFamily="34" charset="0"/>
                <a:ea typeface="Heebo" pitchFamily="34" charset="-122"/>
                <a:cs typeface="Heebo" pitchFamily="34" charset="-120"/>
              </a:rPr>
              <a:t>🎯</a:t>
            </a:r>
            <a:pPr algn="l" indent="0" marL="0">
              <a:lnSpc>
                <a:spcPct val="101000"/>
              </a:lnSpc>
              <a:buNone/>
            </a:pPr>
            <a:r>
              <a:rPr lang="en-US" sz="750" b="1" dirty="0">
                <a:solidFill>
                  <a:srgbClr val="000000"/>
                </a:solidFill>
                <a:latin typeface="Heebo Bold" pitchFamily="34" charset="0"/>
                <a:ea typeface="Heebo Bold" pitchFamily="34" charset="-122"/>
                <a:cs typeface="Heebo Bold" pitchFamily="34" charset="-120"/>
              </a:rPr>
              <a:t> Impact:</a:t>
            </a:r>
            <a:pPr algn="l" indent="0" marL="0">
              <a:lnSpc>
                <a:spcPct val="101000"/>
              </a:lnSpc>
              <a:buNone/>
            </a:pPr>
            <a:r>
              <a:rPr lang="en-US" sz="750" dirty="0">
                <a:solidFill>
                  <a:srgbClr val="000000"/>
                </a:solidFill>
                <a:latin typeface="Heebo" pitchFamily="34" charset="0"/>
                <a:ea typeface="Heebo" pitchFamily="34" charset="-122"/>
                <a:cs typeface="Heebo" pitchFamily="34" charset="-120"/>
              </a:rPr>
              <a:t> Security issues caught at development time — not in production.</a:t>
            </a:r>
            <a:endParaRPr lang="en-US" sz="750" dirty="0"/>
          </a:p>
        </p:txBody>
      </p:sp>
      <p:sp>
        <p:nvSpPr>
          <p:cNvPr id="39" name="Text 31"/>
          <p:cNvSpPr/>
          <p:nvPr/>
        </p:nvSpPr>
        <p:spPr>
          <a:xfrm>
            <a:off x="7187822" y="2564904"/>
            <a:ext cx="1526244" cy="323056"/>
          </a:xfrm>
          <a:prstGeom prst="rect">
            <a:avLst/>
          </a:prstGeom>
          <a:noFill/>
          <a:ln/>
        </p:spPr>
        <p:txBody>
          <a:bodyPr wrap="none" lIns="0" tIns="0" rIns="0" bIns="0" rtlCol="0" anchor="t"/>
          <a:lstStyle/>
          <a:p>
            <a:pPr algn="ctr" indent="0" marL="0">
              <a:lnSpc>
                <a:spcPct val="83000"/>
              </a:lnSpc>
              <a:buNone/>
            </a:pPr>
            <a:r>
              <a:rPr lang="en-US" sz="2500" dirty="0">
                <a:solidFill>
                  <a:srgbClr val="4C4C4D"/>
                </a:solidFill>
                <a:latin typeface="Crimson Pro SemiBold" pitchFamily="34" charset="0"/>
                <a:ea typeface="Crimson Pro SemiBold" pitchFamily="34" charset="-122"/>
                <a:cs typeface="Crimson Pro SemiBold" pitchFamily="34" charset="-120"/>
              </a:rPr>
              <a:t>0</a:t>
            </a:r>
            <a:endParaRPr lang="en-US" sz="2500" dirty="0"/>
          </a:p>
        </p:txBody>
      </p:sp>
      <p:sp>
        <p:nvSpPr>
          <p:cNvPr id="40" name="Text 32"/>
          <p:cNvSpPr/>
          <p:nvPr/>
        </p:nvSpPr>
        <p:spPr>
          <a:xfrm>
            <a:off x="6776868" y="2974876"/>
            <a:ext cx="2348151" cy="152896"/>
          </a:xfrm>
          <a:prstGeom prst="rect">
            <a:avLst/>
          </a:prstGeom>
          <a:noFill/>
          <a:ln/>
        </p:spPr>
        <p:txBody>
          <a:bodyPr wrap="none" lIns="0" tIns="0" rIns="0" bIns="0" rtlCol="0" anchor="t"/>
          <a:lstStyle/>
          <a:p>
            <a:pPr algn="ctr"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Prod Escapes</a:t>
            </a:r>
            <a:endParaRPr lang="en-US" sz="950" dirty="0"/>
          </a:p>
        </p:txBody>
      </p:sp>
      <p:sp>
        <p:nvSpPr>
          <p:cNvPr id="41" name="Text 33"/>
          <p:cNvSpPr/>
          <p:nvPr/>
        </p:nvSpPr>
        <p:spPr>
          <a:xfrm>
            <a:off x="6776868" y="3178473"/>
            <a:ext cx="2348151" cy="118864"/>
          </a:xfrm>
          <a:prstGeom prst="rect">
            <a:avLst/>
          </a:prstGeom>
          <a:noFill/>
          <a:ln/>
        </p:spPr>
        <p:txBody>
          <a:bodyPr wrap="none" lIns="0" tIns="0" rIns="0" bIns="0" rtlCol="0" anchor="t"/>
          <a:lstStyle/>
          <a:p>
            <a:pPr algn="ctr" indent="0" marL="0">
              <a:lnSpc>
                <a:spcPct val="101000"/>
              </a:lnSpc>
              <a:buNone/>
            </a:pPr>
            <a:r>
              <a:rPr lang="en-US" sz="750" dirty="0">
                <a:solidFill>
                  <a:srgbClr val="4C4C4D"/>
                </a:solidFill>
                <a:latin typeface="Heebo" pitchFamily="34" charset="0"/>
                <a:ea typeface="Heebo" pitchFamily="34" charset="-122"/>
                <a:cs typeface="Heebo" pitchFamily="34" charset="-120"/>
              </a:rPr>
              <a:t>Security issues reaching live</a:t>
            </a:r>
            <a:endParaRPr lang="en-US" sz="750" dirty="0"/>
          </a:p>
        </p:txBody>
      </p:sp>
      <p:sp>
        <p:nvSpPr>
          <p:cNvPr id="42" name="Text 34"/>
          <p:cNvSpPr/>
          <p:nvPr/>
        </p:nvSpPr>
        <p:spPr>
          <a:xfrm>
            <a:off x="9599273" y="2564904"/>
            <a:ext cx="1526244" cy="323056"/>
          </a:xfrm>
          <a:prstGeom prst="rect">
            <a:avLst/>
          </a:prstGeom>
          <a:noFill/>
          <a:ln/>
        </p:spPr>
        <p:txBody>
          <a:bodyPr wrap="none" lIns="0" tIns="0" rIns="0" bIns="0" rtlCol="0" anchor="t"/>
          <a:lstStyle/>
          <a:p>
            <a:pPr algn="ctr" indent="0" marL="0">
              <a:lnSpc>
                <a:spcPct val="83000"/>
              </a:lnSpc>
              <a:buNone/>
            </a:pPr>
            <a:r>
              <a:rPr lang="en-US" sz="2500" dirty="0">
                <a:solidFill>
                  <a:srgbClr val="4C4C4D"/>
                </a:solidFill>
                <a:latin typeface="Crimson Pro SemiBold" pitchFamily="34" charset="0"/>
                <a:ea typeface="Crimson Pro SemiBold" pitchFamily="34" charset="-122"/>
                <a:cs typeface="Crimson Pro SemiBold" pitchFamily="34" charset="-120"/>
              </a:rPr>
              <a:t>100%</a:t>
            </a:r>
            <a:endParaRPr lang="en-US" sz="2500" dirty="0"/>
          </a:p>
        </p:txBody>
      </p:sp>
      <p:sp>
        <p:nvSpPr>
          <p:cNvPr id="43" name="Text 35"/>
          <p:cNvSpPr/>
          <p:nvPr/>
        </p:nvSpPr>
        <p:spPr>
          <a:xfrm>
            <a:off x="9188319" y="2974876"/>
            <a:ext cx="2348151" cy="152896"/>
          </a:xfrm>
          <a:prstGeom prst="rect">
            <a:avLst/>
          </a:prstGeom>
          <a:noFill/>
          <a:ln/>
        </p:spPr>
        <p:txBody>
          <a:bodyPr wrap="none" lIns="0" tIns="0" rIns="0" bIns="0" rtlCol="0" anchor="t"/>
          <a:lstStyle/>
          <a:p>
            <a:pPr algn="ctr"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CI Coverage</a:t>
            </a:r>
            <a:endParaRPr lang="en-US" sz="950" dirty="0"/>
          </a:p>
        </p:txBody>
      </p:sp>
      <p:sp>
        <p:nvSpPr>
          <p:cNvPr id="44" name="Text 36"/>
          <p:cNvSpPr/>
          <p:nvPr/>
        </p:nvSpPr>
        <p:spPr>
          <a:xfrm>
            <a:off x="9188319" y="3178473"/>
            <a:ext cx="2348151" cy="118864"/>
          </a:xfrm>
          <a:prstGeom prst="rect">
            <a:avLst/>
          </a:prstGeom>
          <a:noFill/>
          <a:ln/>
        </p:spPr>
        <p:txBody>
          <a:bodyPr wrap="none" lIns="0" tIns="0" rIns="0" bIns="0" rtlCol="0" anchor="t"/>
          <a:lstStyle/>
          <a:p>
            <a:pPr algn="ctr" indent="0" marL="0">
              <a:lnSpc>
                <a:spcPct val="101000"/>
              </a:lnSpc>
              <a:buNone/>
            </a:pPr>
            <a:r>
              <a:rPr lang="en-US" sz="750" dirty="0">
                <a:solidFill>
                  <a:srgbClr val="4C4C4D"/>
                </a:solidFill>
                <a:latin typeface="Heebo" pitchFamily="34" charset="0"/>
                <a:ea typeface="Heebo" pitchFamily="34" charset="-122"/>
                <a:cs typeface="Heebo" pitchFamily="34" charset="-120"/>
              </a:rPr>
              <a:t>Every PR scanned automatically</a:t>
            </a:r>
            <a:endParaRPr lang="en-US" sz="750" dirty="0"/>
          </a:p>
        </p:txBody>
      </p:sp>
      <p:sp>
        <p:nvSpPr>
          <p:cNvPr id="45" name="Shape 37"/>
          <p:cNvSpPr/>
          <p:nvPr/>
        </p:nvSpPr>
        <p:spPr>
          <a:xfrm>
            <a:off x="661475" y="3435846"/>
            <a:ext cx="10868745" cy="12700"/>
          </a:xfrm>
          <a:prstGeom prst="roundRect">
            <a:avLst>
              <a:gd name="adj" fmla="val 49999"/>
            </a:avLst>
          </a:prstGeom>
          <a:solidFill>
            <a:srgbClr val="4C4C4D">
              <a:alpha val="50000"/>
            </a:srgbClr>
          </a:solidFill>
          <a:ln/>
        </p:spPr>
      </p:sp>
      <p:sp>
        <p:nvSpPr>
          <p:cNvPr id="46" name="Text 38"/>
          <p:cNvSpPr/>
          <p:nvPr/>
        </p:nvSpPr>
        <p:spPr>
          <a:xfrm>
            <a:off x="661475" y="3548955"/>
            <a:ext cx="10868745" cy="152896"/>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50" dirty="0">
                <a:solidFill>
                  <a:srgbClr val="152D47"/>
                </a:solidFill>
                <a:latin typeface="Crimson Pro SemiBold" pitchFamily="34" charset="0"/>
                <a:ea typeface="Crimson Pro SemiBold" pitchFamily="34" charset="-122"/>
                <a:cs typeface="Crimson Pro SemiBold" pitchFamily="34" charset="-120"/>
              </a:rPr>
              <a:t> Mandatory Quality Gates — Pipeline Enforced</a:t>
            </a:r>
            <a:endParaRPr lang="en-US" sz="950" dirty="0"/>
          </a:p>
        </p:txBody>
      </p:sp>
      <p:sp>
        <p:nvSpPr>
          <p:cNvPr id="47" name="Text 39"/>
          <p:cNvSpPr/>
          <p:nvPr/>
        </p:nvSpPr>
        <p:spPr>
          <a:xfrm>
            <a:off x="661475" y="3828554"/>
            <a:ext cx="5315015" cy="152896"/>
          </a:xfrm>
          <a:prstGeom prst="rect">
            <a:avLst/>
          </a:prstGeom>
          <a:noFill/>
          <a:ln/>
        </p:spPr>
        <p:txBody>
          <a:bodyPr wrap="none" lIns="0" tIns="0" rIns="0" bIns="0" rtlCol="0" anchor="t"/>
          <a:lstStyle/>
          <a:p>
            <a:pPr algn="l" indent="0" marL="0">
              <a:lnSpc>
                <a:spcPct val="104000"/>
              </a:lnSpc>
              <a:buNone/>
            </a:pPr>
            <a:r>
              <a:rPr lang="en-US" sz="950" dirty="0">
                <a:solidFill>
                  <a:srgbClr val="152D47"/>
                </a:solidFill>
                <a:latin typeface="Crimson Pro SemiBold" pitchFamily="34" charset="0"/>
                <a:ea typeface="Crimson Pro SemiBold" pitchFamily="34" charset="-122"/>
                <a:cs typeface="Crimson Pro SemiBold" pitchFamily="34" charset="-120"/>
              </a:rPr>
              <a:t>Gate Criteria</a:t>
            </a:r>
            <a:endParaRPr lang="en-US" sz="950" dirty="0"/>
          </a:p>
        </p:txBody>
      </p:sp>
      <p:pic>
        <p:nvPicPr>
          <p:cNvPr id="48" name="Image 6"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61475" y="4038501"/>
            <a:ext cx="2632108" cy="662384"/>
          </a:xfrm>
          <a:prstGeom prst="rect">
            <a:avLst/>
          </a:prstGeom>
        </p:spPr>
      </p:pic>
      <p:sp>
        <p:nvSpPr>
          <p:cNvPr id="49" name="Text 40"/>
          <p:cNvSpPr/>
          <p:nvPr/>
        </p:nvSpPr>
        <p:spPr>
          <a:xfrm>
            <a:off x="822801" y="4149030"/>
            <a:ext cx="2360256" cy="152896"/>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 Functional Tests</a:t>
            </a:r>
            <a:endParaRPr lang="en-US" sz="950" dirty="0"/>
          </a:p>
        </p:txBody>
      </p:sp>
      <p:sp>
        <p:nvSpPr>
          <p:cNvPr id="50" name="Text 41"/>
          <p:cNvSpPr/>
          <p:nvPr/>
        </p:nvSpPr>
        <p:spPr>
          <a:xfrm>
            <a:off x="822801" y="4352627"/>
            <a:ext cx="2360256" cy="237728"/>
          </a:xfrm>
          <a:prstGeom prst="rect">
            <a:avLst/>
          </a:prstGeom>
          <a:noFill/>
          <a:ln/>
        </p:spPr>
        <p:txBody>
          <a:bodyPr wrap="square" lIns="0" tIns="0" rIns="0" bIns="0" rtlCol="0" anchor="t">
            <a:normAutofit/>
          </a:bodyPr>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All story-tagged and regression tests must pass before merge is permitted</a:t>
            </a:r>
            <a:endParaRPr lang="en-US" sz="750" dirty="0"/>
          </a:p>
        </p:txBody>
      </p:sp>
      <p:pic>
        <p:nvPicPr>
          <p:cNvPr id="51" name="Image 7"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344283" y="4038501"/>
            <a:ext cx="2632208" cy="662384"/>
          </a:xfrm>
          <a:prstGeom prst="rect">
            <a:avLst/>
          </a:prstGeom>
        </p:spPr>
      </p:pic>
      <p:sp>
        <p:nvSpPr>
          <p:cNvPr id="52" name="Text 42"/>
          <p:cNvSpPr/>
          <p:nvPr/>
        </p:nvSpPr>
        <p:spPr>
          <a:xfrm>
            <a:off x="3505608" y="4149030"/>
            <a:ext cx="2360355" cy="152896"/>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 Security Gate </a:t>
            </a:r>
            <a:pPr algn="l" indent="0" marL="0">
              <a:lnSpc>
                <a:spcPct val="104000"/>
              </a:lnSpc>
              <a:buNone/>
            </a:pPr>
            <a:r>
              <a:rPr lang="en-US" sz="950" i="1" dirty="0">
                <a:solidFill>
                  <a:srgbClr val="4C4C4D"/>
                </a:solidFill>
                <a:latin typeface="Crimson Pro SemiBold" pitchFamily="34" charset="0"/>
                <a:ea typeface="Crimson Pro SemiBold" pitchFamily="34" charset="-122"/>
                <a:cs typeface="Crimson Pro SemiBold" pitchFamily="34" charset="-120"/>
              </a:rPr>
              <a:t>(Mandatory)</a:t>
            </a:r>
            <a:endParaRPr lang="en-US" sz="950" dirty="0"/>
          </a:p>
        </p:txBody>
      </p:sp>
      <p:sp>
        <p:nvSpPr>
          <p:cNvPr id="53" name="Text 43"/>
          <p:cNvSpPr/>
          <p:nvPr/>
        </p:nvSpPr>
        <p:spPr>
          <a:xfrm>
            <a:off x="3505608" y="4352627"/>
            <a:ext cx="2360355" cy="237728"/>
          </a:xfrm>
          <a:prstGeom prst="rect">
            <a:avLst/>
          </a:prstGeom>
          <a:noFill/>
          <a:ln/>
        </p:spPr>
        <p:txBody>
          <a:bodyPr wrap="square" lIns="0" tIns="0" rIns="0" bIns="0" rtlCol="0" anchor="t">
            <a:normAutofit/>
          </a:bodyPr>
          <a:lstStyle/>
          <a:p>
            <a:pPr algn="l" indent="0" marL="0">
              <a:lnSpc>
                <a:spcPct val="101000"/>
              </a:lnSpc>
              <a:buNone/>
            </a:pPr>
            <a:r>
              <a:rPr lang="en-US" sz="750" b="1" dirty="0">
                <a:solidFill>
                  <a:srgbClr val="4C4C4D"/>
                </a:solidFill>
                <a:latin typeface="Heebo Bold" pitchFamily="34" charset="0"/>
                <a:ea typeface="Heebo Bold" pitchFamily="34" charset="-122"/>
                <a:cs typeface="Heebo Bold" pitchFamily="34" charset="-120"/>
              </a:rPr>
              <a:t>Zero high-severity vulnerabilities</a:t>
            </a:r>
            <a:pPr algn="l" indent="0" marL="0">
              <a:lnSpc>
                <a:spcPct val="101000"/>
              </a:lnSpc>
              <a:buNone/>
            </a:pPr>
            <a:r>
              <a:rPr lang="en-US" sz="750" dirty="0">
                <a:solidFill>
                  <a:srgbClr val="4C4C4D"/>
                </a:solidFill>
                <a:latin typeface="Heebo" pitchFamily="34" charset="0"/>
                <a:ea typeface="Heebo" pitchFamily="34" charset="-122"/>
                <a:cs typeface="Heebo" pitchFamily="34" charset="-120"/>
              </a:rPr>
              <a:t> allowed — any High finding blocks merge immediately</a:t>
            </a:r>
            <a:endParaRPr lang="en-US" sz="750" dirty="0"/>
          </a:p>
        </p:txBody>
      </p:sp>
      <p:pic>
        <p:nvPicPr>
          <p:cNvPr id="54" name="Image 8"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61475" y="4751586"/>
            <a:ext cx="2632108" cy="662384"/>
          </a:xfrm>
          <a:prstGeom prst="rect">
            <a:avLst/>
          </a:prstGeom>
        </p:spPr>
      </p:pic>
      <p:sp>
        <p:nvSpPr>
          <p:cNvPr id="55" name="Text 44"/>
          <p:cNvSpPr/>
          <p:nvPr/>
        </p:nvSpPr>
        <p:spPr>
          <a:xfrm>
            <a:off x="822801" y="4862116"/>
            <a:ext cx="2360256" cy="152896"/>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 Performance Thresholds</a:t>
            </a:r>
            <a:endParaRPr lang="en-US" sz="950" dirty="0"/>
          </a:p>
        </p:txBody>
      </p:sp>
      <p:sp>
        <p:nvSpPr>
          <p:cNvPr id="56" name="Text 45"/>
          <p:cNvSpPr/>
          <p:nvPr/>
        </p:nvSpPr>
        <p:spPr>
          <a:xfrm>
            <a:off x="822801" y="5065713"/>
            <a:ext cx="2360256" cy="237728"/>
          </a:xfrm>
          <a:prstGeom prst="rect">
            <a:avLst/>
          </a:prstGeom>
          <a:noFill/>
          <a:ln/>
        </p:spPr>
        <p:txBody>
          <a:bodyPr wrap="square" lIns="0" tIns="0" rIns="0" bIns="0" rtlCol="0" anchor="t">
            <a:normAutofit/>
          </a:bodyPr>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Response times and load metrics must remain within defined SLA bounds</a:t>
            </a:r>
            <a:endParaRPr lang="en-US" sz="750" dirty="0"/>
          </a:p>
        </p:txBody>
      </p:sp>
      <p:pic>
        <p:nvPicPr>
          <p:cNvPr id="57" name="Image 9"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344283" y="4751586"/>
            <a:ext cx="2632208" cy="662384"/>
          </a:xfrm>
          <a:prstGeom prst="rect">
            <a:avLst/>
          </a:prstGeom>
        </p:spPr>
      </p:pic>
      <p:sp>
        <p:nvSpPr>
          <p:cNvPr id="58" name="Text 46"/>
          <p:cNvSpPr/>
          <p:nvPr/>
        </p:nvSpPr>
        <p:spPr>
          <a:xfrm>
            <a:off x="3505608" y="4862116"/>
            <a:ext cx="2360355" cy="152896"/>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 Cross-Browser Compatibility</a:t>
            </a:r>
            <a:endParaRPr lang="en-US" sz="950" dirty="0"/>
          </a:p>
        </p:txBody>
      </p:sp>
      <p:sp>
        <p:nvSpPr>
          <p:cNvPr id="59" name="Text 47"/>
          <p:cNvSpPr/>
          <p:nvPr/>
        </p:nvSpPr>
        <p:spPr>
          <a:xfrm>
            <a:off x="3505608" y="5065713"/>
            <a:ext cx="2360355" cy="237728"/>
          </a:xfrm>
          <a:prstGeom prst="rect">
            <a:avLst/>
          </a:prstGeom>
          <a:noFill/>
          <a:ln/>
        </p:spPr>
        <p:txBody>
          <a:bodyPr wrap="square" lIns="0" tIns="0" rIns="0" bIns="0" rtlCol="0" anchor="t">
            <a:normAutofit/>
          </a:bodyPr>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Playwright suite verified across Chrome, Firefox, and Safari</a:t>
            </a:r>
            <a:endParaRPr lang="en-US" sz="750" dirty="0"/>
          </a:p>
        </p:txBody>
      </p:sp>
      <p:sp>
        <p:nvSpPr>
          <p:cNvPr id="60" name="Text 48"/>
          <p:cNvSpPr/>
          <p:nvPr/>
        </p:nvSpPr>
        <p:spPr>
          <a:xfrm>
            <a:off x="6221555" y="3828554"/>
            <a:ext cx="5315015" cy="152896"/>
          </a:xfrm>
          <a:prstGeom prst="rect">
            <a:avLst/>
          </a:prstGeom>
          <a:noFill/>
          <a:ln/>
        </p:spPr>
        <p:txBody>
          <a:bodyPr wrap="none" lIns="0" tIns="0" rIns="0" bIns="0" rtlCol="0" anchor="t"/>
          <a:lstStyle/>
          <a:p>
            <a:pPr algn="l" indent="0" marL="0">
              <a:lnSpc>
                <a:spcPct val="104000"/>
              </a:lnSpc>
              <a:buNone/>
            </a:pPr>
            <a:r>
              <a:rPr lang="en-US" sz="950" dirty="0">
                <a:solidFill>
                  <a:srgbClr val="152D47"/>
                </a:solidFill>
                <a:latin typeface="Crimson Pro SemiBold" pitchFamily="34" charset="0"/>
                <a:ea typeface="Crimson Pro SemiBold" pitchFamily="34" charset="-122"/>
                <a:cs typeface="Crimson Pro SemiBold" pitchFamily="34" charset="-120"/>
              </a:rPr>
              <a:t>Gate Failure Actions</a:t>
            </a:r>
            <a:endParaRPr lang="en-US" sz="950" dirty="0"/>
          </a:p>
        </p:txBody>
      </p:sp>
      <p:sp>
        <p:nvSpPr>
          <p:cNvPr id="61" name="Shape 49"/>
          <p:cNvSpPr/>
          <p:nvPr/>
        </p:nvSpPr>
        <p:spPr>
          <a:xfrm>
            <a:off x="6221555" y="4038501"/>
            <a:ext cx="2632108" cy="981373"/>
          </a:xfrm>
          <a:prstGeom prst="roundRect">
            <a:avLst>
              <a:gd name="adj" fmla="val 1496"/>
            </a:avLst>
          </a:prstGeom>
          <a:solidFill>
            <a:srgbClr val="F2EEEE"/>
          </a:solidFill>
          <a:ln/>
        </p:spPr>
      </p:sp>
      <p:sp>
        <p:nvSpPr>
          <p:cNvPr id="62" name="Shape 50"/>
          <p:cNvSpPr/>
          <p:nvPr/>
        </p:nvSpPr>
        <p:spPr>
          <a:xfrm>
            <a:off x="6319382" y="4136330"/>
            <a:ext cx="293680" cy="293688"/>
          </a:xfrm>
          <a:prstGeom prst="ellipse">
            <a:avLst/>
          </a:prstGeom>
          <a:solidFill>
            <a:srgbClr val="2150FE"/>
          </a:solidFill>
          <a:ln/>
        </p:spPr>
      </p:sp>
      <p:pic>
        <p:nvPicPr>
          <p:cNvPr id="63" name="Image 10"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400144" y="4216995"/>
            <a:ext cx="132156" cy="132159"/>
          </a:xfrm>
          <a:prstGeom prst="rect">
            <a:avLst/>
          </a:prstGeom>
        </p:spPr>
      </p:pic>
      <p:sp>
        <p:nvSpPr>
          <p:cNvPr id="64" name="Text 51"/>
          <p:cNvSpPr/>
          <p:nvPr/>
        </p:nvSpPr>
        <p:spPr>
          <a:xfrm>
            <a:off x="6319382" y="4480719"/>
            <a:ext cx="2436454" cy="152896"/>
          </a:xfrm>
          <a:prstGeom prst="rect">
            <a:avLst/>
          </a:prstGeom>
          <a:noFill/>
          <a:ln/>
        </p:spPr>
        <p:txBody>
          <a:bodyPr wrap="none" lIns="0" tIns="0" rIns="0" bIns="0" rtlCol="0" anchor="t"/>
          <a:lstStyle/>
          <a:p>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Pipeline Blocks Merge</a:t>
            </a:r>
            <a:endParaRPr lang="en-US" sz="950" dirty="0"/>
          </a:p>
        </p:txBody>
      </p:sp>
      <p:sp>
        <p:nvSpPr>
          <p:cNvPr id="65" name="Text 52"/>
          <p:cNvSpPr/>
          <p:nvPr/>
        </p:nvSpPr>
        <p:spPr>
          <a:xfrm>
            <a:off x="6319382" y="4684316"/>
            <a:ext cx="2436454" cy="237728"/>
          </a:xfrm>
          <a:prstGeom prst="rect">
            <a:avLst/>
          </a:prstGeom>
          <a:noFill/>
          <a:ln/>
        </p:spPr>
        <p:txBody>
          <a:bodyPr wrap="square" lIns="0" tIns="0" rIns="0" bIns="0" rtlCol="0" anchor="t">
            <a:normAutofit/>
          </a:bodyPr>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PR cannot be merged until all gates pass — no manual override without approval</a:t>
            </a:r>
            <a:endParaRPr lang="en-US" sz="750" dirty="0"/>
          </a:p>
        </p:txBody>
      </p:sp>
      <p:sp>
        <p:nvSpPr>
          <p:cNvPr id="66" name="Shape 53"/>
          <p:cNvSpPr/>
          <p:nvPr/>
        </p:nvSpPr>
        <p:spPr>
          <a:xfrm>
            <a:off x="8904362" y="4038501"/>
            <a:ext cx="2632208" cy="981373"/>
          </a:xfrm>
          <a:prstGeom prst="roundRect">
            <a:avLst>
              <a:gd name="adj" fmla="val 1496"/>
            </a:avLst>
          </a:prstGeom>
          <a:solidFill>
            <a:srgbClr val="F2EEEE"/>
          </a:solidFill>
          <a:ln/>
        </p:spPr>
      </p:sp>
      <p:sp>
        <p:nvSpPr>
          <p:cNvPr id="67" name="Shape 54"/>
          <p:cNvSpPr/>
          <p:nvPr/>
        </p:nvSpPr>
        <p:spPr>
          <a:xfrm>
            <a:off x="9002190" y="4136330"/>
            <a:ext cx="293680" cy="293688"/>
          </a:xfrm>
          <a:prstGeom prst="ellipse">
            <a:avLst/>
          </a:prstGeom>
          <a:solidFill>
            <a:srgbClr val="2150FE"/>
          </a:solidFill>
          <a:ln/>
        </p:spPr>
      </p:sp>
      <p:pic>
        <p:nvPicPr>
          <p:cNvPr id="68" name="Image 11"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082952" y="4216995"/>
            <a:ext cx="132156" cy="132159"/>
          </a:xfrm>
          <a:prstGeom prst="rect">
            <a:avLst/>
          </a:prstGeom>
        </p:spPr>
      </p:pic>
      <p:sp>
        <p:nvSpPr>
          <p:cNvPr id="69" name="Text 55"/>
          <p:cNvSpPr/>
          <p:nvPr/>
        </p:nvSpPr>
        <p:spPr>
          <a:xfrm>
            <a:off x="9002190" y="4480719"/>
            <a:ext cx="2436553" cy="152896"/>
          </a:xfrm>
          <a:prstGeom prst="rect">
            <a:avLst/>
          </a:prstGeom>
          <a:noFill/>
          <a:ln/>
        </p:spPr>
        <p:txBody>
          <a:bodyPr wrap="none" lIns="0" tIns="0" rIns="0" bIns="0" rtlCol="0" anchor="t"/>
          <a:lstStyle/>
          <a:p>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Slack Alert Fired</a:t>
            </a:r>
            <a:endParaRPr lang="en-US" sz="950" dirty="0"/>
          </a:p>
        </p:txBody>
      </p:sp>
      <p:sp>
        <p:nvSpPr>
          <p:cNvPr id="70" name="Text 56"/>
          <p:cNvSpPr/>
          <p:nvPr/>
        </p:nvSpPr>
        <p:spPr>
          <a:xfrm>
            <a:off x="9002190" y="4684316"/>
            <a:ext cx="2436553" cy="237728"/>
          </a:xfrm>
          <a:prstGeom prst="rect">
            <a:avLst/>
          </a:prstGeom>
          <a:noFill/>
          <a:ln/>
        </p:spPr>
        <p:txBody>
          <a:bodyPr wrap="square" lIns="0" tIns="0" rIns="0" bIns="0" rtlCol="0" anchor="t">
            <a:normAutofit/>
          </a:bodyPr>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Immediate team notification with gate name, severity, and branch details</a:t>
            </a:r>
            <a:endParaRPr lang="en-US" sz="750" dirty="0"/>
          </a:p>
        </p:txBody>
      </p:sp>
      <p:sp>
        <p:nvSpPr>
          <p:cNvPr id="71" name="Shape 57"/>
          <p:cNvSpPr/>
          <p:nvPr/>
        </p:nvSpPr>
        <p:spPr>
          <a:xfrm>
            <a:off x="6221555" y="5070574"/>
            <a:ext cx="5315015" cy="862509"/>
          </a:xfrm>
          <a:prstGeom prst="roundRect">
            <a:avLst>
              <a:gd name="adj" fmla="val 1703"/>
            </a:avLst>
          </a:prstGeom>
          <a:solidFill>
            <a:srgbClr val="F2EEEE"/>
          </a:solidFill>
          <a:ln/>
        </p:spPr>
      </p:sp>
      <p:sp>
        <p:nvSpPr>
          <p:cNvPr id="72" name="Shape 58"/>
          <p:cNvSpPr/>
          <p:nvPr/>
        </p:nvSpPr>
        <p:spPr>
          <a:xfrm>
            <a:off x="6319382" y="5168404"/>
            <a:ext cx="293680" cy="293688"/>
          </a:xfrm>
          <a:prstGeom prst="ellipse">
            <a:avLst/>
          </a:prstGeom>
          <a:solidFill>
            <a:srgbClr val="2150FE"/>
          </a:solidFill>
          <a:ln/>
        </p:spPr>
      </p:sp>
      <p:pic>
        <p:nvPicPr>
          <p:cNvPr id="73" name="Image 12"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400144" y="5249069"/>
            <a:ext cx="132156" cy="132159"/>
          </a:xfrm>
          <a:prstGeom prst="rect">
            <a:avLst/>
          </a:prstGeom>
        </p:spPr>
      </p:pic>
      <p:sp>
        <p:nvSpPr>
          <p:cNvPr id="74" name="Text 59"/>
          <p:cNvSpPr/>
          <p:nvPr/>
        </p:nvSpPr>
        <p:spPr>
          <a:xfrm>
            <a:off x="6319382" y="5512792"/>
            <a:ext cx="5119361" cy="152896"/>
          </a:xfrm>
          <a:prstGeom prst="rect">
            <a:avLst/>
          </a:prstGeom>
          <a:noFill/>
          <a:ln/>
        </p:spPr>
        <p:txBody>
          <a:bodyPr wrap="none" lIns="0" tIns="0" rIns="0" bIns="0" rtlCol="0" anchor="t"/>
          <a:lstStyle/>
          <a:p>
            <a:pPr algn="l"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Allure Report Available</a:t>
            </a:r>
            <a:endParaRPr lang="en-US" sz="950" dirty="0"/>
          </a:p>
        </p:txBody>
      </p:sp>
      <p:sp>
        <p:nvSpPr>
          <p:cNvPr id="75" name="Text 60"/>
          <p:cNvSpPr/>
          <p:nvPr/>
        </p:nvSpPr>
        <p:spPr>
          <a:xfrm>
            <a:off x="6319382" y="5716389"/>
            <a:ext cx="5119361" cy="118864"/>
          </a:xfrm>
          <a:prstGeom prst="rect">
            <a:avLst/>
          </a:prstGeom>
          <a:noFill/>
          <a:ln/>
        </p:spPr>
        <p:txBody>
          <a:bodyPr wrap="none" lIns="0" tIns="0" rIns="0" bIns="0" rtlCol="0" anchor="t"/>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Full test evidence published as pipeline artifact for rapid investigation</a:t>
            </a:r>
            <a:endParaRPr lang="en-US" sz="750" dirty="0"/>
          </a:p>
        </p:txBody>
      </p:sp>
      <p:sp>
        <p:nvSpPr>
          <p:cNvPr id="76" name="Shape 61"/>
          <p:cNvSpPr/>
          <p:nvPr/>
        </p:nvSpPr>
        <p:spPr>
          <a:xfrm>
            <a:off x="6221555" y="5990134"/>
            <a:ext cx="5315015" cy="258961"/>
          </a:xfrm>
          <a:prstGeom prst="roundRect">
            <a:avLst>
              <a:gd name="adj" fmla="val 5671"/>
            </a:avLst>
          </a:prstGeom>
          <a:solidFill>
            <a:srgbClr val="FFB3B4"/>
          </a:solidFill>
          <a:ln/>
        </p:spPr>
      </p:sp>
      <p:pic>
        <p:nvPicPr>
          <p:cNvPr id="77" name="Image 13" descr="preencoded.png">    </p:cNvPr>
          <p:cNvPicPr>
            <a:picLocks noChangeAspect="1"/>
          </p:cNvPicPr>
          <p:nvPr/>
        </p:nvPicPr>
        <p:blipFill>
          <a:blip r:embed="rId25"/>
          <a:stretch>
            <a:fillRect/>
          </a:stretch>
        </p:blipFill>
        <p:spPr>
          <a:xfrm>
            <a:off x="6319382" y="6068516"/>
            <a:ext cx="122334" cy="97830"/>
          </a:xfrm>
          <a:prstGeom prst="rect">
            <a:avLst/>
          </a:prstGeom>
        </p:spPr>
      </p:pic>
      <p:sp>
        <p:nvSpPr>
          <p:cNvPr id="78" name="Text 62"/>
          <p:cNvSpPr/>
          <p:nvPr/>
        </p:nvSpPr>
        <p:spPr>
          <a:xfrm>
            <a:off x="6539543" y="6060182"/>
            <a:ext cx="5508785" cy="118864"/>
          </a:xfrm>
          <a:prstGeom prst="rect">
            <a:avLst/>
          </a:prstGeom>
          <a:noFill/>
          <a:ln/>
        </p:spPr>
        <p:txBody>
          <a:bodyPr wrap="none" lIns="0" tIns="0" rIns="0" bIns="0" rtlCol="0" anchor="t"/>
          <a:lstStyle/>
          <a:p>
            <a:pPr algn="l" indent="0" marL="0">
              <a:lnSpc>
                <a:spcPct val="101000"/>
              </a:lnSpc>
              <a:buNone/>
            </a:pPr>
            <a:r>
              <a:rPr lang="en-US" sz="750" dirty="0">
                <a:solidFill>
                  <a:srgbClr val="000000"/>
                </a:solidFill>
                <a:latin typeface="Heebo" pitchFamily="34" charset="0"/>
                <a:ea typeface="Heebo" pitchFamily="34" charset="-122"/>
                <a:cs typeface="Heebo" pitchFamily="34" charset="-120"/>
              </a:rPr>
              <a:t>🔐</a:t>
            </a:r>
            <a:pPr algn="l" indent="0" marL="0">
              <a:lnSpc>
                <a:spcPct val="101000"/>
              </a:lnSpc>
              <a:buNone/>
            </a:pPr>
            <a:r>
              <a:rPr lang="en-US" sz="750" dirty="0">
                <a:solidFill>
                  <a:srgbClr val="000000"/>
                </a:solidFill>
                <a:latin typeface="Heebo" pitchFamily="34" charset="0"/>
                <a:ea typeface="Heebo" pitchFamily="34" charset="-122"/>
                <a:cs typeface="Heebo" pitchFamily="34" charset="-120"/>
              </a:rPr>
              <a:t> </a:t>
            </a:r>
            <a:pPr algn="l" indent="0" marL="0">
              <a:lnSpc>
                <a:spcPct val="101000"/>
              </a:lnSpc>
              <a:buNone/>
            </a:pPr>
            <a:r>
              <a:rPr lang="en-US" sz="750" b="1" dirty="0">
                <a:solidFill>
                  <a:srgbClr val="000000"/>
                </a:solidFill>
                <a:latin typeface="Heebo Bold" pitchFamily="34" charset="0"/>
                <a:ea typeface="Heebo Bold" pitchFamily="34" charset="-122"/>
                <a:cs typeface="Heebo Bold" pitchFamily="34" charset="-120"/>
              </a:rPr>
              <a:t>Security is non-negotiable:</a:t>
            </a:r>
            <a:pPr algn="l" indent="0" marL="0">
              <a:lnSpc>
                <a:spcPct val="101000"/>
              </a:lnSpc>
              <a:buNone/>
            </a:pPr>
            <a:r>
              <a:rPr lang="en-US" sz="750" dirty="0">
                <a:solidFill>
                  <a:srgbClr val="000000"/>
                </a:solidFill>
                <a:latin typeface="Heebo" pitchFamily="34" charset="0"/>
                <a:ea typeface="Heebo" pitchFamily="34" charset="-122"/>
                <a:cs typeface="Heebo" pitchFamily="34" charset="-120"/>
              </a:rPr>
              <a:t> High-severity findings = automatic merge block, no exceptions.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19807"/>
            <a:ext cx="10868745" cy="191988"/>
          </a:xfrm>
          <a:prstGeom prst="rect">
            <a:avLst/>
          </a:prstGeom>
          <a:noFill/>
          <a:ln/>
        </p:spPr>
        <p:txBody>
          <a:bodyPr wrap="none" lIns="0" tIns="0" rIns="0" bIns="0" rtlCol="0" anchor="t"/>
          <a:lstStyle/>
          <a:p>
            <a:pPr algn="l" indent="0" marL="0">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Performance Testing with k6</a:t>
            </a:r>
            <a:endParaRPr lang="en-US" sz="1200" dirty="0"/>
          </a:p>
        </p:txBody>
      </p:sp>
      <p:sp>
        <p:nvSpPr>
          <p:cNvPr id="3" name="Shape 1"/>
          <p:cNvSpPr/>
          <p:nvPr/>
        </p:nvSpPr>
        <p:spPr>
          <a:xfrm>
            <a:off x="661475" y="751681"/>
            <a:ext cx="795417" cy="93166"/>
          </a:xfrm>
          <a:prstGeom prst="roundRect">
            <a:avLst>
              <a:gd name="adj" fmla="val 7912"/>
            </a:avLst>
          </a:prstGeom>
          <a:solidFill>
            <a:srgbClr val="CCD7FF"/>
          </a:solidFill>
          <a:ln/>
        </p:spPr>
      </p:sp>
      <p:pic>
        <p:nvPicPr>
          <p:cNvPr id="4" name="Image 0" descr="preencoded.png">    </p:cNvPr>
          <p:cNvPicPr>
            <a:picLocks noChangeAspect="1"/>
          </p:cNvPicPr>
          <p:nvPr/>
        </p:nvPicPr>
        <p:blipFill>
          <a:blip r:embed="rId1"/>
          <a:stretch>
            <a:fillRect/>
          </a:stretch>
        </p:blipFill>
        <p:spPr>
          <a:xfrm>
            <a:off x="698284" y="773708"/>
            <a:ext cx="49112" cy="49113"/>
          </a:xfrm>
          <a:prstGeom prst="rect">
            <a:avLst/>
          </a:prstGeom>
        </p:spPr>
      </p:pic>
      <p:sp>
        <p:nvSpPr>
          <p:cNvPr id="5" name="Text 2"/>
          <p:cNvSpPr/>
          <p:nvPr/>
        </p:nvSpPr>
        <p:spPr>
          <a:xfrm>
            <a:off x="771903" y="770037"/>
            <a:ext cx="1257765" cy="56455"/>
          </a:xfrm>
          <a:prstGeom prst="rect">
            <a:avLst/>
          </a:prstGeom>
          <a:noFill/>
          <a:ln/>
        </p:spPr>
        <p:txBody>
          <a:bodyPr wrap="none" lIns="0" tIns="0" rIns="0" bIns="0" rtlCol="0" anchor="t"/>
          <a:lstStyle/>
          <a:p>
            <a:pPr algn="l" indent="0" marL="0">
              <a:lnSpc>
                <a:spcPct val="96000"/>
              </a:lnSpc>
              <a:buNone/>
            </a:pPr>
            <a:r>
              <a:rPr lang="en-US" sz="350" dirty="0">
                <a:solidFill>
                  <a:srgbClr val="4C4C4D"/>
                </a:solidFill>
                <a:latin typeface="Heebo" pitchFamily="34" charset="0"/>
                <a:ea typeface="Heebo" pitchFamily="34" charset="-122"/>
                <a:cs typeface="Heebo" pitchFamily="34" charset="-120"/>
              </a:rPr>
              <a:t>PERFORMANCE DASHBOARD</a:t>
            </a:r>
            <a:endParaRPr lang="en-US" sz="350" dirty="0"/>
          </a:p>
        </p:txBody>
      </p:sp>
      <p:sp>
        <p:nvSpPr>
          <p:cNvPr id="6" name="Text 3"/>
          <p:cNvSpPr/>
          <p:nvPr/>
        </p:nvSpPr>
        <p:spPr>
          <a:xfrm>
            <a:off x="1610280" y="897930"/>
            <a:ext cx="3524162" cy="202704"/>
          </a:xfrm>
          <a:prstGeom prst="rect">
            <a:avLst/>
          </a:prstGeom>
          <a:noFill/>
          <a:ln/>
        </p:spPr>
        <p:txBody>
          <a:bodyPr wrap="none" lIns="0" tIns="0" rIns="0" bIns="0" rtlCol="0" anchor="t"/>
          <a:lstStyle/>
          <a:p>
            <a:pPr algn="ctr" indent="0" marL="0">
              <a:lnSpc>
                <a:spcPct val="83000"/>
              </a:lnSpc>
              <a:buNone/>
            </a:pPr>
            <a:r>
              <a:rPr lang="en-US" sz="1550" dirty="0">
                <a:solidFill>
                  <a:srgbClr val="4C4C4D"/>
                </a:solidFill>
                <a:latin typeface="Crimson Pro SemiBold" pitchFamily="34" charset="0"/>
                <a:ea typeface="Crimson Pro SemiBold" pitchFamily="34" charset="-122"/>
                <a:cs typeface="Crimson Pro SemiBold" pitchFamily="34" charset="-120"/>
              </a:rPr>
              <a:t>2500ms</a:t>
            </a:r>
            <a:endParaRPr lang="en-US" sz="1550" dirty="0"/>
          </a:p>
        </p:txBody>
      </p:sp>
      <p:sp>
        <p:nvSpPr>
          <p:cNvPr id="7" name="Text 4"/>
          <p:cNvSpPr/>
          <p:nvPr/>
        </p:nvSpPr>
        <p:spPr>
          <a:xfrm>
            <a:off x="661475" y="1146175"/>
            <a:ext cx="5421871" cy="95945"/>
          </a:xfrm>
          <a:prstGeom prst="rect">
            <a:avLst/>
          </a:prstGeom>
          <a:noFill/>
          <a:ln/>
        </p:spPr>
        <p:txBody>
          <a:bodyPr wrap="none" lIns="0" tIns="0" rIns="0" bIns="0" rtlCol="0" anchor="t"/>
          <a:lstStyle/>
          <a:p>
            <a:pPr algn="ctr"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LCP Threshold</a:t>
            </a:r>
            <a:endParaRPr lang="en-US" sz="600" dirty="0"/>
          </a:p>
        </p:txBody>
      </p:sp>
      <p:sp>
        <p:nvSpPr>
          <p:cNvPr id="8" name="Text 5"/>
          <p:cNvSpPr/>
          <p:nvPr/>
        </p:nvSpPr>
        <p:spPr>
          <a:xfrm>
            <a:off x="661475" y="1254026"/>
            <a:ext cx="5421871"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Largest Contentful Paint target</a:t>
            </a:r>
            <a:endParaRPr lang="en-US" sz="450" dirty="0"/>
          </a:p>
        </p:txBody>
      </p:sp>
      <p:sp>
        <p:nvSpPr>
          <p:cNvPr id="9" name="Text 6"/>
          <p:cNvSpPr/>
          <p:nvPr/>
        </p:nvSpPr>
        <p:spPr>
          <a:xfrm>
            <a:off x="7057055" y="897930"/>
            <a:ext cx="3524261" cy="202704"/>
          </a:xfrm>
          <a:prstGeom prst="rect">
            <a:avLst/>
          </a:prstGeom>
          <a:noFill/>
          <a:ln/>
        </p:spPr>
        <p:txBody>
          <a:bodyPr wrap="none" lIns="0" tIns="0" rIns="0" bIns="0" rtlCol="0" anchor="t"/>
          <a:lstStyle/>
          <a:p>
            <a:pPr algn="ctr" indent="0" marL="0">
              <a:lnSpc>
                <a:spcPct val="83000"/>
              </a:lnSpc>
              <a:buNone/>
            </a:pPr>
            <a:r>
              <a:rPr lang="en-US" sz="1550" dirty="0">
                <a:solidFill>
                  <a:srgbClr val="4C4C4D"/>
                </a:solidFill>
                <a:latin typeface="Crimson Pro SemiBold" pitchFamily="34" charset="0"/>
                <a:ea typeface="Crimson Pro SemiBold" pitchFamily="34" charset="-122"/>
                <a:cs typeface="Crimson Pro SemiBold" pitchFamily="34" charset="-120"/>
              </a:rPr>
              <a:t>1800ms</a:t>
            </a:r>
            <a:endParaRPr lang="en-US" sz="1550" dirty="0"/>
          </a:p>
        </p:txBody>
      </p:sp>
      <p:sp>
        <p:nvSpPr>
          <p:cNvPr id="10" name="Text 7"/>
          <p:cNvSpPr/>
          <p:nvPr/>
        </p:nvSpPr>
        <p:spPr>
          <a:xfrm>
            <a:off x="6108250" y="1146175"/>
            <a:ext cx="5421971" cy="95945"/>
          </a:xfrm>
          <a:prstGeom prst="rect">
            <a:avLst/>
          </a:prstGeom>
          <a:noFill/>
          <a:ln/>
        </p:spPr>
        <p:txBody>
          <a:bodyPr wrap="none" lIns="0" tIns="0" rIns="0" bIns="0" rtlCol="0" anchor="t"/>
          <a:lstStyle/>
          <a:p>
            <a:pPr algn="ctr"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FCP Threshold</a:t>
            </a:r>
            <a:endParaRPr lang="en-US" sz="600" dirty="0"/>
          </a:p>
        </p:txBody>
      </p:sp>
      <p:sp>
        <p:nvSpPr>
          <p:cNvPr id="11" name="Text 8"/>
          <p:cNvSpPr/>
          <p:nvPr/>
        </p:nvSpPr>
        <p:spPr>
          <a:xfrm>
            <a:off x="6108250" y="1254026"/>
            <a:ext cx="5421971"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First Contentful Paint target</a:t>
            </a:r>
            <a:endParaRPr lang="en-US" sz="450" dirty="0"/>
          </a:p>
        </p:txBody>
      </p:sp>
      <p:sp>
        <p:nvSpPr>
          <p:cNvPr id="12" name="Text 9"/>
          <p:cNvSpPr/>
          <p:nvPr/>
        </p:nvSpPr>
        <p:spPr>
          <a:xfrm>
            <a:off x="1610280" y="1389658"/>
            <a:ext cx="3524162" cy="202704"/>
          </a:xfrm>
          <a:prstGeom prst="rect">
            <a:avLst/>
          </a:prstGeom>
          <a:noFill/>
          <a:ln/>
        </p:spPr>
        <p:txBody>
          <a:bodyPr wrap="none" lIns="0" tIns="0" rIns="0" bIns="0" rtlCol="0" anchor="t"/>
          <a:lstStyle/>
          <a:p>
            <a:pPr algn="ctr" indent="0" marL="0">
              <a:lnSpc>
                <a:spcPct val="83000"/>
              </a:lnSpc>
              <a:buNone/>
            </a:pPr>
            <a:r>
              <a:rPr lang="en-US" sz="1550" dirty="0">
                <a:solidFill>
                  <a:srgbClr val="4C4C4D"/>
                </a:solidFill>
                <a:latin typeface="Crimson Pro SemiBold" pitchFamily="34" charset="0"/>
                <a:ea typeface="Crimson Pro SemiBold" pitchFamily="34" charset="-122"/>
                <a:cs typeface="Crimson Pro SemiBold" pitchFamily="34" charset="-120"/>
              </a:rPr>
              <a:t>0.1</a:t>
            </a:r>
            <a:endParaRPr lang="en-US" sz="1550" dirty="0"/>
          </a:p>
        </p:txBody>
      </p:sp>
      <p:sp>
        <p:nvSpPr>
          <p:cNvPr id="13" name="Text 10"/>
          <p:cNvSpPr/>
          <p:nvPr/>
        </p:nvSpPr>
        <p:spPr>
          <a:xfrm>
            <a:off x="661475" y="1637903"/>
            <a:ext cx="5421871" cy="95945"/>
          </a:xfrm>
          <a:prstGeom prst="rect">
            <a:avLst/>
          </a:prstGeom>
          <a:noFill/>
          <a:ln/>
        </p:spPr>
        <p:txBody>
          <a:bodyPr wrap="none" lIns="0" tIns="0" rIns="0" bIns="0" rtlCol="0" anchor="t"/>
          <a:lstStyle/>
          <a:p>
            <a:pPr algn="ctr"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CLS Threshold</a:t>
            </a:r>
            <a:endParaRPr lang="en-US" sz="600" dirty="0"/>
          </a:p>
        </p:txBody>
      </p:sp>
      <p:sp>
        <p:nvSpPr>
          <p:cNvPr id="14" name="Text 11"/>
          <p:cNvSpPr/>
          <p:nvPr/>
        </p:nvSpPr>
        <p:spPr>
          <a:xfrm>
            <a:off x="661475" y="1745754"/>
            <a:ext cx="5421871"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Cumulative Layout Shift target</a:t>
            </a:r>
            <a:endParaRPr lang="en-US" sz="450" dirty="0"/>
          </a:p>
        </p:txBody>
      </p:sp>
      <p:sp>
        <p:nvSpPr>
          <p:cNvPr id="15" name="Text 12"/>
          <p:cNvSpPr/>
          <p:nvPr/>
        </p:nvSpPr>
        <p:spPr>
          <a:xfrm>
            <a:off x="7057055" y="1389658"/>
            <a:ext cx="3524261" cy="202704"/>
          </a:xfrm>
          <a:prstGeom prst="rect">
            <a:avLst/>
          </a:prstGeom>
          <a:noFill/>
          <a:ln/>
        </p:spPr>
        <p:txBody>
          <a:bodyPr wrap="none" lIns="0" tIns="0" rIns="0" bIns="0" rtlCol="0" anchor="t"/>
          <a:lstStyle/>
          <a:p>
            <a:pPr algn="ctr" indent="0" marL="0">
              <a:lnSpc>
                <a:spcPct val="83000"/>
              </a:lnSpc>
              <a:buNone/>
            </a:pPr>
            <a:r>
              <a:rPr lang="en-US" sz="1550" dirty="0">
                <a:solidFill>
                  <a:srgbClr val="4C4C4D"/>
                </a:solidFill>
                <a:latin typeface="Crimson Pro SemiBold" pitchFamily="34" charset="0"/>
                <a:ea typeface="Crimson Pro SemiBold" pitchFamily="34" charset="-122"/>
                <a:cs typeface="Crimson Pro SemiBold" pitchFamily="34" charset="-120"/>
              </a:rPr>
              <a:t>p95</a:t>
            </a:r>
            <a:endParaRPr lang="en-US" sz="1550" dirty="0"/>
          </a:p>
        </p:txBody>
      </p:sp>
      <p:sp>
        <p:nvSpPr>
          <p:cNvPr id="16" name="Text 13"/>
          <p:cNvSpPr/>
          <p:nvPr/>
        </p:nvSpPr>
        <p:spPr>
          <a:xfrm>
            <a:off x="6108250" y="1637903"/>
            <a:ext cx="5421971" cy="95945"/>
          </a:xfrm>
          <a:prstGeom prst="rect">
            <a:avLst/>
          </a:prstGeom>
          <a:noFill/>
          <a:ln/>
        </p:spPr>
        <p:txBody>
          <a:bodyPr wrap="none" lIns="0" tIns="0" rIns="0" bIns="0" rtlCol="0" anchor="t"/>
          <a:lstStyle/>
          <a:p>
            <a:pPr algn="ctr"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API Latency</a:t>
            </a:r>
            <a:endParaRPr lang="en-US" sz="600" dirty="0"/>
          </a:p>
        </p:txBody>
      </p:sp>
      <p:sp>
        <p:nvSpPr>
          <p:cNvPr id="17" name="Text 14"/>
          <p:cNvSpPr/>
          <p:nvPr/>
        </p:nvSpPr>
        <p:spPr>
          <a:xfrm>
            <a:off x="6108250" y="1745754"/>
            <a:ext cx="5421971"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Response time percentile tracked</a:t>
            </a:r>
            <a:endParaRPr lang="en-US" sz="450" dirty="0"/>
          </a:p>
        </p:txBody>
      </p:sp>
      <p:sp>
        <p:nvSpPr>
          <p:cNvPr id="18" name="Text 15"/>
          <p:cNvSpPr/>
          <p:nvPr/>
        </p:nvSpPr>
        <p:spPr>
          <a:xfrm>
            <a:off x="661475" y="1853208"/>
            <a:ext cx="5910313" cy="95945"/>
          </a:xfrm>
          <a:prstGeom prst="rect">
            <a:avLst/>
          </a:prstGeom>
          <a:noFill/>
          <a:ln/>
        </p:spPr>
        <p:txBody>
          <a:bodyPr wrap="none" lIns="0" tIns="0" rIns="0" bIns="0" rtlCol="0" anchor="t"/>
          <a:lstStyle/>
          <a:p>
            <a:pPr algn="l" indent="0" marL="0">
              <a:lnSpc>
                <a:spcPct val="104000"/>
              </a:lnSpc>
              <a:buNone/>
            </a:pPr>
            <a:r>
              <a:rPr lang="en-US" sz="600" dirty="0">
                <a:solidFill>
                  <a:srgbClr val="152D47"/>
                </a:solidFill>
                <a:latin typeface="Crimson Pro SemiBold" pitchFamily="34" charset="0"/>
                <a:ea typeface="Crimson Pro SemiBold" pitchFamily="34" charset="-122"/>
                <a:cs typeface="Crimson Pro SemiBold" pitchFamily="34" charset="-120"/>
              </a:rPr>
              <a:t>Web Vitals Targets</a:t>
            </a:r>
            <a:endParaRPr lang="en-US" sz="600" dirty="0"/>
          </a:p>
        </p:txBody>
      </p:sp>
      <p:sp>
        <p:nvSpPr>
          <p:cNvPr id="19" name="Shape 16"/>
          <p:cNvSpPr/>
          <p:nvPr/>
        </p:nvSpPr>
        <p:spPr>
          <a:xfrm>
            <a:off x="661475" y="2002234"/>
            <a:ext cx="3665743" cy="76696"/>
          </a:xfrm>
          <a:prstGeom prst="roundRect">
            <a:avLst>
              <a:gd name="adj" fmla="val 12014"/>
            </a:avLst>
          </a:prstGeom>
          <a:solidFill>
            <a:srgbClr val="F2EEEE"/>
          </a:solidFill>
          <a:ln/>
        </p:spPr>
      </p:sp>
      <p:sp>
        <p:nvSpPr>
          <p:cNvPr id="20" name="Shape 17"/>
          <p:cNvSpPr/>
          <p:nvPr/>
        </p:nvSpPr>
        <p:spPr>
          <a:xfrm>
            <a:off x="661475" y="2002234"/>
            <a:ext cx="2749283" cy="76696"/>
          </a:xfrm>
          <a:prstGeom prst="roundRect">
            <a:avLst>
              <a:gd name="adj" fmla="val 12014"/>
            </a:avLst>
          </a:prstGeom>
          <a:solidFill>
            <a:srgbClr val="2150FE"/>
          </a:solidFill>
          <a:ln/>
        </p:spPr>
      </p:sp>
      <p:sp>
        <p:nvSpPr>
          <p:cNvPr id="21" name="Text 18"/>
          <p:cNvSpPr/>
          <p:nvPr/>
        </p:nvSpPr>
        <p:spPr>
          <a:xfrm>
            <a:off x="4373255" y="2002135"/>
            <a:ext cx="129874" cy="76795"/>
          </a:xfrm>
          <a:prstGeom prst="rect">
            <a:avLst/>
          </a:prstGeom>
          <a:noFill/>
          <a:ln/>
        </p:spPr>
        <p:txBody>
          <a:bodyPr wrap="none" lIns="0" tIns="0" rIns="0" bIns="0" rtlCol="0" anchor="t"/>
          <a:lstStyle/>
          <a:p>
            <a:pPr algn="l" indent="0" marL="0">
              <a:lnSpc>
                <a:spcPct val="83000"/>
              </a:lnSpc>
              <a:buNone/>
            </a:pPr>
            <a:r>
              <a:rPr lang="en-US" sz="600" dirty="0">
                <a:solidFill>
                  <a:srgbClr val="4C4C4D"/>
                </a:solidFill>
                <a:latin typeface="Crimson Pro SemiBold" pitchFamily="34" charset="0"/>
                <a:ea typeface="Crimson Pro SemiBold" pitchFamily="34" charset="-122"/>
                <a:cs typeface="Crimson Pro SemiBold" pitchFamily="34" charset="-120"/>
              </a:rPr>
              <a:t>75%</a:t>
            </a:r>
            <a:endParaRPr lang="en-US" sz="600" dirty="0"/>
          </a:p>
        </p:txBody>
      </p:sp>
      <p:sp>
        <p:nvSpPr>
          <p:cNvPr id="22" name="Text 19"/>
          <p:cNvSpPr/>
          <p:nvPr/>
        </p:nvSpPr>
        <p:spPr>
          <a:xfrm>
            <a:off x="661475" y="2124472"/>
            <a:ext cx="5910313"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LCP &lt; 2500ms</a:t>
            </a:r>
            <a:endParaRPr lang="en-US" sz="600" dirty="0"/>
          </a:p>
        </p:txBody>
      </p:sp>
      <p:sp>
        <p:nvSpPr>
          <p:cNvPr id="23" name="Text 20"/>
          <p:cNvSpPr/>
          <p:nvPr/>
        </p:nvSpPr>
        <p:spPr>
          <a:xfrm>
            <a:off x="661475" y="2240359"/>
            <a:ext cx="5910313"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Largest Contentful Paint</a:t>
            </a:r>
            <a:endParaRPr lang="en-US" sz="450" dirty="0"/>
          </a:p>
        </p:txBody>
      </p:sp>
      <p:sp>
        <p:nvSpPr>
          <p:cNvPr id="24" name="Shape 21"/>
          <p:cNvSpPr/>
          <p:nvPr/>
        </p:nvSpPr>
        <p:spPr>
          <a:xfrm>
            <a:off x="661475" y="2375991"/>
            <a:ext cx="3658401" cy="76696"/>
          </a:xfrm>
          <a:prstGeom prst="roundRect">
            <a:avLst>
              <a:gd name="adj" fmla="val 12014"/>
            </a:avLst>
          </a:prstGeom>
          <a:solidFill>
            <a:srgbClr val="F2EEEE"/>
          </a:solidFill>
          <a:ln/>
        </p:spPr>
      </p:sp>
      <p:sp>
        <p:nvSpPr>
          <p:cNvPr id="25" name="Shape 22"/>
          <p:cNvSpPr/>
          <p:nvPr/>
        </p:nvSpPr>
        <p:spPr>
          <a:xfrm>
            <a:off x="661475" y="2375991"/>
            <a:ext cx="3109636" cy="76696"/>
          </a:xfrm>
          <a:prstGeom prst="roundRect">
            <a:avLst>
              <a:gd name="adj" fmla="val 12014"/>
            </a:avLst>
          </a:prstGeom>
          <a:solidFill>
            <a:srgbClr val="2150FE"/>
          </a:solidFill>
          <a:ln/>
        </p:spPr>
      </p:sp>
      <p:sp>
        <p:nvSpPr>
          <p:cNvPr id="26" name="Text 23"/>
          <p:cNvSpPr/>
          <p:nvPr/>
        </p:nvSpPr>
        <p:spPr>
          <a:xfrm>
            <a:off x="4365913" y="2375892"/>
            <a:ext cx="137216" cy="76795"/>
          </a:xfrm>
          <a:prstGeom prst="rect">
            <a:avLst/>
          </a:prstGeom>
          <a:noFill/>
          <a:ln/>
        </p:spPr>
        <p:txBody>
          <a:bodyPr wrap="none" lIns="0" tIns="0" rIns="0" bIns="0" rtlCol="0" anchor="t"/>
          <a:lstStyle/>
          <a:p>
            <a:pPr algn="l" indent="0" marL="0">
              <a:lnSpc>
                <a:spcPct val="83000"/>
              </a:lnSpc>
              <a:buNone/>
            </a:pPr>
            <a:r>
              <a:rPr lang="en-US" sz="600" dirty="0">
                <a:solidFill>
                  <a:srgbClr val="4C4C4D"/>
                </a:solidFill>
                <a:latin typeface="Crimson Pro SemiBold" pitchFamily="34" charset="0"/>
                <a:ea typeface="Crimson Pro SemiBold" pitchFamily="34" charset="-122"/>
                <a:cs typeface="Crimson Pro SemiBold" pitchFamily="34" charset="-120"/>
              </a:rPr>
              <a:t>85%</a:t>
            </a:r>
            <a:endParaRPr lang="en-US" sz="600" dirty="0"/>
          </a:p>
        </p:txBody>
      </p:sp>
      <p:sp>
        <p:nvSpPr>
          <p:cNvPr id="27" name="Text 24"/>
          <p:cNvSpPr/>
          <p:nvPr/>
        </p:nvSpPr>
        <p:spPr>
          <a:xfrm>
            <a:off x="661475" y="2498229"/>
            <a:ext cx="5910313"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FCP &lt; 1800ms</a:t>
            </a:r>
            <a:endParaRPr lang="en-US" sz="600" dirty="0"/>
          </a:p>
        </p:txBody>
      </p:sp>
      <p:sp>
        <p:nvSpPr>
          <p:cNvPr id="28" name="Text 25"/>
          <p:cNvSpPr/>
          <p:nvPr/>
        </p:nvSpPr>
        <p:spPr>
          <a:xfrm>
            <a:off x="661475" y="2614116"/>
            <a:ext cx="5910313"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First Contentful Paint</a:t>
            </a:r>
            <a:endParaRPr lang="en-US" sz="450" dirty="0"/>
          </a:p>
        </p:txBody>
      </p:sp>
      <p:sp>
        <p:nvSpPr>
          <p:cNvPr id="29" name="Shape 26"/>
          <p:cNvSpPr/>
          <p:nvPr/>
        </p:nvSpPr>
        <p:spPr>
          <a:xfrm>
            <a:off x="661475" y="2749748"/>
            <a:ext cx="3651059" cy="76696"/>
          </a:xfrm>
          <a:prstGeom prst="roundRect">
            <a:avLst>
              <a:gd name="adj" fmla="val 12014"/>
            </a:avLst>
          </a:prstGeom>
          <a:solidFill>
            <a:srgbClr val="F2EEEE"/>
          </a:solidFill>
          <a:ln/>
        </p:spPr>
      </p:sp>
      <p:sp>
        <p:nvSpPr>
          <p:cNvPr id="30" name="Shape 27"/>
          <p:cNvSpPr/>
          <p:nvPr/>
        </p:nvSpPr>
        <p:spPr>
          <a:xfrm>
            <a:off x="661475" y="2749748"/>
            <a:ext cx="3285944" cy="76696"/>
          </a:xfrm>
          <a:prstGeom prst="roundRect">
            <a:avLst>
              <a:gd name="adj" fmla="val 12014"/>
            </a:avLst>
          </a:prstGeom>
          <a:solidFill>
            <a:srgbClr val="2150FE"/>
          </a:solidFill>
          <a:ln/>
        </p:spPr>
      </p:sp>
      <p:sp>
        <p:nvSpPr>
          <p:cNvPr id="31" name="Text 28"/>
          <p:cNvSpPr/>
          <p:nvPr/>
        </p:nvSpPr>
        <p:spPr>
          <a:xfrm>
            <a:off x="4358571" y="2749649"/>
            <a:ext cx="144558" cy="76795"/>
          </a:xfrm>
          <a:prstGeom prst="rect">
            <a:avLst/>
          </a:prstGeom>
          <a:noFill/>
          <a:ln/>
        </p:spPr>
        <p:txBody>
          <a:bodyPr wrap="none" lIns="0" tIns="0" rIns="0" bIns="0" rtlCol="0" anchor="t"/>
          <a:lstStyle/>
          <a:p>
            <a:pPr algn="l" indent="0" marL="0">
              <a:lnSpc>
                <a:spcPct val="83000"/>
              </a:lnSpc>
              <a:buNone/>
            </a:pPr>
            <a:r>
              <a:rPr lang="en-US" sz="600" dirty="0">
                <a:solidFill>
                  <a:srgbClr val="4C4C4D"/>
                </a:solidFill>
                <a:latin typeface="Crimson Pro SemiBold" pitchFamily="34" charset="0"/>
                <a:ea typeface="Crimson Pro SemiBold" pitchFamily="34" charset="-122"/>
                <a:cs typeface="Crimson Pro SemiBold" pitchFamily="34" charset="-120"/>
              </a:rPr>
              <a:t>90%</a:t>
            </a:r>
            <a:endParaRPr lang="en-US" sz="600" dirty="0"/>
          </a:p>
        </p:txBody>
      </p:sp>
      <p:sp>
        <p:nvSpPr>
          <p:cNvPr id="32" name="Text 29"/>
          <p:cNvSpPr/>
          <p:nvPr/>
        </p:nvSpPr>
        <p:spPr>
          <a:xfrm>
            <a:off x="661475" y="2871986"/>
            <a:ext cx="5910313"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CLS &lt; 0.1</a:t>
            </a:r>
            <a:endParaRPr lang="en-US" sz="600" dirty="0"/>
          </a:p>
        </p:txBody>
      </p:sp>
      <p:sp>
        <p:nvSpPr>
          <p:cNvPr id="33" name="Text 30"/>
          <p:cNvSpPr/>
          <p:nvPr/>
        </p:nvSpPr>
        <p:spPr>
          <a:xfrm>
            <a:off x="661475" y="2987873"/>
            <a:ext cx="5910313"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Cumulative Layout Shift</a:t>
            </a:r>
            <a:endParaRPr lang="en-US" sz="450" dirty="0"/>
          </a:p>
        </p:txBody>
      </p:sp>
      <p:sp>
        <p:nvSpPr>
          <p:cNvPr id="34" name="Shape 31"/>
          <p:cNvSpPr/>
          <p:nvPr/>
        </p:nvSpPr>
        <p:spPr>
          <a:xfrm>
            <a:off x="661475" y="3123505"/>
            <a:ext cx="3648381" cy="76696"/>
          </a:xfrm>
          <a:prstGeom prst="roundRect">
            <a:avLst>
              <a:gd name="adj" fmla="val 12014"/>
            </a:avLst>
          </a:prstGeom>
          <a:solidFill>
            <a:srgbClr val="F2EEEE"/>
          </a:solidFill>
          <a:ln/>
        </p:spPr>
      </p:sp>
      <p:sp>
        <p:nvSpPr>
          <p:cNvPr id="35" name="Shape 32"/>
          <p:cNvSpPr/>
          <p:nvPr/>
        </p:nvSpPr>
        <p:spPr>
          <a:xfrm>
            <a:off x="661475" y="3123505"/>
            <a:ext cx="2918645" cy="76696"/>
          </a:xfrm>
          <a:prstGeom prst="roundRect">
            <a:avLst>
              <a:gd name="adj" fmla="val 12014"/>
            </a:avLst>
          </a:prstGeom>
          <a:solidFill>
            <a:srgbClr val="2150FE"/>
          </a:solidFill>
          <a:ln/>
        </p:spPr>
      </p:sp>
      <p:sp>
        <p:nvSpPr>
          <p:cNvPr id="36" name="Text 33"/>
          <p:cNvSpPr/>
          <p:nvPr/>
        </p:nvSpPr>
        <p:spPr>
          <a:xfrm>
            <a:off x="4355892" y="3123406"/>
            <a:ext cx="147237" cy="76795"/>
          </a:xfrm>
          <a:prstGeom prst="rect">
            <a:avLst/>
          </a:prstGeom>
          <a:noFill/>
          <a:ln/>
        </p:spPr>
        <p:txBody>
          <a:bodyPr wrap="none" lIns="0" tIns="0" rIns="0" bIns="0" rtlCol="0" anchor="t"/>
          <a:lstStyle/>
          <a:p>
            <a:pPr algn="l" indent="0" marL="0">
              <a:lnSpc>
                <a:spcPct val="83000"/>
              </a:lnSpc>
              <a:buNone/>
            </a:pPr>
            <a:r>
              <a:rPr lang="en-US" sz="600" dirty="0">
                <a:solidFill>
                  <a:srgbClr val="4C4C4D"/>
                </a:solidFill>
                <a:latin typeface="Crimson Pro SemiBold" pitchFamily="34" charset="0"/>
                <a:ea typeface="Crimson Pro SemiBold" pitchFamily="34" charset="-122"/>
                <a:cs typeface="Crimson Pro SemiBold" pitchFamily="34" charset="-120"/>
              </a:rPr>
              <a:t>80%</a:t>
            </a:r>
            <a:endParaRPr lang="en-US" sz="600" dirty="0"/>
          </a:p>
        </p:txBody>
      </p:sp>
      <p:sp>
        <p:nvSpPr>
          <p:cNvPr id="37" name="Text 34"/>
          <p:cNvSpPr/>
          <p:nvPr/>
        </p:nvSpPr>
        <p:spPr>
          <a:xfrm>
            <a:off x="661475" y="3245743"/>
            <a:ext cx="5910313"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TTFB &lt; 800ms</a:t>
            </a:r>
            <a:endParaRPr lang="en-US" sz="600" dirty="0"/>
          </a:p>
        </p:txBody>
      </p:sp>
      <p:sp>
        <p:nvSpPr>
          <p:cNvPr id="38" name="Text 35"/>
          <p:cNvSpPr/>
          <p:nvPr/>
        </p:nvSpPr>
        <p:spPr>
          <a:xfrm>
            <a:off x="661475" y="3361630"/>
            <a:ext cx="5910313"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Time to First Byte</a:t>
            </a:r>
            <a:endParaRPr lang="en-US" sz="450" dirty="0"/>
          </a:p>
        </p:txBody>
      </p:sp>
      <p:sp>
        <p:nvSpPr>
          <p:cNvPr id="39" name="Text 36"/>
          <p:cNvSpPr/>
          <p:nvPr/>
        </p:nvSpPr>
        <p:spPr>
          <a:xfrm>
            <a:off x="6727954" y="1853208"/>
            <a:ext cx="4808516" cy="95945"/>
          </a:xfrm>
          <a:prstGeom prst="rect">
            <a:avLst/>
          </a:prstGeom>
          <a:noFill/>
          <a:ln/>
        </p:spPr>
        <p:txBody>
          <a:bodyPr wrap="none" lIns="0" tIns="0" rIns="0" bIns="0" rtlCol="0" anchor="t"/>
          <a:lstStyle/>
          <a:p>
            <a:pPr algn="l" indent="0" marL="0">
              <a:lnSpc>
                <a:spcPct val="104000"/>
              </a:lnSpc>
              <a:buNone/>
            </a:pPr>
            <a:r>
              <a:rPr lang="en-US" sz="600" dirty="0">
                <a:solidFill>
                  <a:srgbClr val="152D47"/>
                </a:solidFill>
                <a:latin typeface="Crimson Pro SemiBold" pitchFamily="34" charset="0"/>
                <a:ea typeface="Crimson Pro SemiBold" pitchFamily="34" charset="-122"/>
                <a:cs typeface="Crimson Pro SemiBold" pitchFamily="34" charset="-120"/>
              </a:rPr>
              <a:t>API Load Test Metrics</a:t>
            </a:r>
            <a:endParaRPr lang="en-US" sz="600" dirty="0"/>
          </a:p>
        </p:txBody>
      </p:sp>
      <p:pic>
        <p:nvPicPr>
          <p:cNvPr id="40" name="Image 1" descr="preencoded.png">    </p:cNvPr>
          <p:cNvPicPr>
            <a:picLocks noChangeAspect="1"/>
          </p:cNvPicPr>
          <p:nvPr/>
        </p:nvPicPr>
        <p:blipFill>
          <a:blip r:embed="rId2"/>
          <a:stretch>
            <a:fillRect/>
          </a:stretch>
        </p:blipFill>
        <p:spPr>
          <a:xfrm>
            <a:off x="6727954" y="1971576"/>
            <a:ext cx="3125511" cy="2371427"/>
          </a:xfrm>
          <a:prstGeom prst="rect">
            <a:avLst/>
          </a:prstGeom>
        </p:spPr>
      </p:pic>
      <p:sp>
        <p:nvSpPr>
          <p:cNvPr id="41" name="Shape 37"/>
          <p:cNvSpPr/>
          <p:nvPr/>
        </p:nvSpPr>
        <p:spPr>
          <a:xfrm>
            <a:off x="661475" y="4387850"/>
            <a:ext cx="10868745" cy="133548"/>
          </a:xfrm>
          <a:prstGeom prst="roundRect">
            <a:avLst>
              <a:gd name="adj" fmla="val 6900"/>
            </a:avLst>
          </a:prstGeom>
          <a:solidFill>
            <a:srgbClr val="B6FCB8"/>
          </a:solidFill>
          <a:ln/>
        </p:spPr>
      </p:sp>
      <p:pic>
        <p:nvPicPr>
          <p:cNvPr id="42" name="Image 2" descr="preencoded.png">    </p:cNvPr>
          <p:cNvPicPr>
            <a:picLocks noChangeAspect="1"/>
          </p:cNvPicPr>
          <p:nvPr/>
        </p:nvPicPr>
        <p:blipFill>
          <a:blip r:embed="rId3"/>
          <a:stretch>
            <a:fillRect/>
          </a:stretch>
        </p:blipFill>
        <p:spPr>
          <a:xfrm>
            <a:off x="722890" y="4423073"/>
            <a:ext cx="76694" cy="61416"/>
          </a:xfrm>
          <a:prstGeom prst="rect">
            <a:avLst/>
          </a:prstGeom>
        </p:spPr>
      </p:pic>
      <p:sp>
        <p:nvSpPr>
          <p:cNvPr id="43" name="Text 38"/>
          <p:cNvSpPr/>
          <p:nvPr/>
        </p:nvSpPr>
        <p:spPr>
          <a:xfrm>
            <a:off x="860999" y="4423073"/>
            <a:ext cx="11217391" cy="65088"/>
          </a:xfrm>
          <a:prstGeom prst="rect">
            <a:avLst/>
          </a:prstGeom>
          <a:noFill/>
          <a:ln/>
        </p:spPr>
        <p:txBody>
          <a:bodyPr wrap="none" lIns="0" tIns="0" rIns="0" bIns="0" rtlCol="0" anchor="t"/>
          <a:lstStyle/>
          <a:p>
            <a:pPr algn="l" indent="0" marL="0">
              <a:lnSpc>
                <a:spcPct val="88000"/>
              </a:lnSpc>
              <a:buNone/>
            </a:pPr>
            <a:r>
              <a:rPr lang="en-US" sz="450" b="1" dirty="0">
                <a:solidFill>
                  <a:srgbClr val="000000"/>
                </a:solidFill>
                <a:latin typeface="Heebo Bold" pitchFamily="34" charset="0"/>
                <a:ea typeface="Heebo Bold" pitchFamily="34" charset="-122"/>
                <a:cs typeface="Heebo Bold" pitchFamily="34" charset="-120"/>
              </a:rPr>
              <a:t>Pipeline Gate:</a:t>
            </a:r>
            <a:pPr algn="l" indent="0" marL="0">
              <a:lnSpc>
                <a:spcPct val="88000"/>
              </a:lnSpc>
              <a:buNone/>
            </a:pPr>
            <a:r>
              <a:rPr lang="en-US" sz="450" dirty="0">
                <a:solidFill>
                  <a:srgbClr val="000000"/>
                </a:solidFill>
                <a:latin typeface="Heebo" pitchFamily="34" charset="0"/>
                <a:ea typeface="Heebo" pitchFamily="34" charset="-122"/>
                <a:cs typeface="Heebo" pitchFamily="34" charset="-120"/>
              </a:rPr>
              <a:t> Builds fail automatically if any Web Vital or API threshold is breached — performance regressions never reach production.</a:t>
            </a:r>
            <a:endParaRPr lang="en-US" sz="450" dirty="0"/>
          </a:p>
        </p:txBody>
      </p:sp>
      <p:sp>
        <p:nvSpPr>
          <p:cNvPr id="44" name="Text 39"/>
          <p:cNvSpPr/>
          <p:nvPr/>
        </p:nvSpPr>
        <p:spPr>
          <a:xfrm>
            <a:off x="661475" y="4551263"/>
            <a:ext cx="10868745" cy="153491"/>
          </a:xfrm>
          <a:prstGeom prst="rect">
            <a:avLst/>
          </a:prstGeom>
          <a:noFill/>
          <a:ln/>
        </p:spPr>
        <p:txBody>
          <a:bodyPr wrap="none" lIns="0" tIns="0" rIns="0" bIns="0" rtlCol="0" anchor="t"/>
          <a:lstStyle/>
          <a:p>
            <a:pPr algn="l" indent="0" marL="0">
              <a:lnSpc>
                <a:spcPct val="104000"/>
              </a:lnSpc>
              <a:buNone/>
            </a:pPr>
            <a:r>
              <a:rPr lang="en-US" sz="950" dirty="0">
                <a:solidFill>
                  <a:srgbClr val="152D47"/>
                </a:solidFill>
                <a:latin typeface="Crimson Pro SemiBold" pitchFamily="34" charset="0"/>
                <a:ea typeface="Crimson Pro SemiBold" pitchFamily="34" charset="-122"/>
                <a:cs typeface="Crimson Pro SemiBold" pitchFamily="34" charset="-120"/>
              </a:rPr>
              <a:t>Key Metrics &amp; KPIs</a:t>
            </a:r>
            <a:endParaRPr lang="en-US" sz="950" dirty="0"/>
          </a:p>
        </p:txBody>
      </p:sp>
      <p:sp>
        <p:nvSpPr>
          <p:cNvPr id="45" name="Text 40"/>
          <p:cNvSpPr/>
          <p:nvPr/>
        </p:nvSpPr>
        <p:spPr>
          <a:xfrm>
            <a:off x="661475" y="4734620"/>
            <a:ext cx="11478330"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Current pipeline performance vs. targets — tracking execution health, quality gates, and delivery speed across all automated test runs.</a:t>
            </a:r>
            <a:endParaRPr lang="en-US" sz="450" dirty="0"/>
          </a:p>
        </p:txBody>
      </p:sp>
      <p:pic>
        <p:nvPicPr>
          <p:cNvPr id="46" name="Image 3" descr="preencoded.png">    </p:cNvPr>
          <p:cNvPicPr>
            <a:picLocks noChangeAspect="1"/>
          </p:cNvPicPr>
          <p:nvPr/>
        </p:nvPicPr>
        <p:blipFill>
          <a:blip r:embed="rId4"/>
          <a:stretch>
            <a:fillRect/>
          </a:stretch>
        </p:blipFill>
        <p:spPr>
          <a:xfrm>
            <a:off x="661475" y="4822130"/>
            <a:ext cx="7064595" cy="3957737"/>
          </a:xfrm>
          <a:prstGeom prst="rect">
            <a:avLst/>
          </a:prstGeom>
        </p:spPr>
      </p:pic>
      <p:sp>
        <p:nvSpPr>
          <p:cNvPr id="47" name="Shape 41"/>
          <p:cNvSpPr/>
          <p:nvPr/>
        </p:nvSpPr>
        <p:spPr>
          <a:xfrm>
            <a:off x="661475" y="8802291"/>
            <a:ext cx="2702155" cy="360859"/>
          </a:xfrm>
          <a:prstGeom prst="roundRect">
            <a:avLst>
              <a:gd name="adj" fmla="val 2554"/>
            </a:avLst>
          </a:prstGeom>
          <a:solidFill>
            <a:srgbClr val="F2EEEE"/>
          </a:solidFill>
          <a:ln/>
        </p:spPr>
      </p:sp>
      <p:sp>
        <p:nvSpPr>
          <p:cNvPr id="48" name="Text 42"/>
          <p:cNvSpPr/>
          <p:nvPr/>
        </p:nvSpPr>
        <p:spPr>
          <a:xfrm>
            <a:off x="722890" y="8863707"/>
            <a:ext cx="2579325"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 Exec Time</a:t>
            </a:r>
            <a:endParaRPr lang="en-US" sz="600" dirty="0"/>
          </a:p>
        </p:txBody>
      </p:sp>
      <p:sp>
        <p:nvSpPr>
          <p:cNvPr id="49" name="Text 43"/>
          <p:cNvSpPr/>
          <p:nvPr/>
        </p:nvSpPr>
        <p:spPr>
          <a:xfrm>
            <a:off x="722890" y="8971558"/>
            <a:ext cx="2579325" cy="130175"/>
          </a:xfrm>
          <a:prstGeom prst="rect">
            <a:avLst/>
          </a:prstGeom>
          <a:noFill/>
          <a:ln/>
        </p:spPr>
        <p:txBody>
          <a:bodyPr wrap="square" lIns="0" tIns="0" rIns="0" bIns="0" rtlCol="0" anchor="t">
            <a:normAutofit/>
          </a:bodyPr>
          <a:lstStyle/>
          <a:p>
            <a:pPr algn="l"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5–12 min</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current</a:t>
            </a:r>
            <a:endParaRPr lang="en-US" sz="450" dirty="0"/>
          </a:p>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Target </a:t>
            </a:r>
            <a:pPr algn="l"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&lt;15 min</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a:t>
            </a:r>
            <a:pPr algn="l" indent="0" marL="0">
              <a:lnSpc>
                <a:spcPct val="88000"/>
              </a:lnSpc>
              <a:buNone/>
            </a:pPr>
            <a:r>
              <a:rPr lang="en-US" sz="450" dirty="0">
                <a:solidFill>
                  <a:srgbClr val="000000"/>
                </a:solidFill>
                <a:latin typeface="Heebo" pitchFamily="34" charset="0"/>
                <a:ea typeface="Heebo" pitchFamily="34" charset="-122"/>
                <a:cs typeface="Heebo" pitchFamily="34" charset="-120"/>
              </a:rPr>
              <a:t>✅</a:t>
            </a:r>
            <a:endParaRPr lang="en-US" sz="450" dirty="0"/>
          </a:p>
        </p:txBody>
      </p:sp>
      <p:sp>
        <p:nvSpPr>
          <p:cNvPr id="50" name="Shape 44"/>
          <p:cNvSpPr/>
          <p:nvPr/>
        </p:nvSpPr>
        <p:spPr>
          <a:xfrm>
            <a:off x="3383572" y="8802291"/>
            <a:ext cx="2702254" cy="360859"/>
          </a:xfrm>
          <a:prstGeom prst="roundRect">
            <a:avLst>
              <a:gd name="adj" fmla="val 2554"/>
            </a:avLst>
          </a:prstGeom>
          <a:solidFill>
            <a:srgbClr val="F2EEEE"/>
          </a:solidFill>
          <a:ln/>
        </p:spPr>
      </p:sp>
      <p:sp>
        <p:nvSpPr>
          <p:cNvPr id="51" name="Text 45"/>
          <p:cNvSpPr/>
          <p:nvPr/>
        </p:nvSpPr>
        <p:spPr>
          <a:xfrm>
            <a:off x="3444987" y="8863707"/>
            <a:ext cx="2579425"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 Pass Rate</a:t>
            </a:r>
            <a:endParaRPr lang="en-US" sz="600" dirty="0"/>
          </a:p>
        </p:txBody>
      </p:sp>
      <p:sp>
        <p:nvSpPr>
          <p:cNvPr id="52" name="Text 46"/>
          <p:cNvSpPr/>
          <p:nvPr/>
        </p:nvSpPr>
        <p:spPr>
          <a:xfrm>
            <a:off x="3444987" y="8971558"/>
            <a:ext cx="2579425" cy="130175"/>
          </a:xfrm>
          <a:prstGeom prst="rect">
            <a:avLst/>
          </a:prstGeom>
          <a:noFill/>
          <a:ln/>
        </p:spPr>
        <p:txBody>
          <a:bodyPr wrap="square" lIns="0" tIns="0" rIns="0" bIns="0" rtlCol="0" anchor="t">
            <a:normAutofit/>
          </a:bodyPr>
          <a:lstStyle/>
          <a:p>
            <a:pPr algn="l"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92–98%</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current</a:t>
            </a:r>
            <a:endParaRPr lang="en-US" sz="450" dirty="0"/>
          </a:p>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Target </a:t>
            </a:r>
            <a:pPr algn="l"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&gt;95%</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a:t>
            </a:r>
            <a:pPr algn="l" indent="0" marL="0">
              <a:lnSpc>
                <a:spcPct val="88000"/>
              </a:lnSpc>
              <a:buNone/>
            </a:pPr>
            <a:r>
              <a:rPr lang="en-US" sz="450" dirty="0">
                <a:solidFill>
                  <a:srgbClr val="000000"/>
                </a:solidFill>
                <a:latin typeface="Heebo" pitchFamily="34" charset="0"/>
                <a:ea typeface="Heebo" pitchFamily="34" charset="-122"/>
                <a:cs typeface="Heebo" pitchFamily="34" charset="-120"/>
              </a:rPr>
              <a:t>✅</a:t>
            </a:r>
            <a:endParaRPr lang="en-US" sz="450" dirty="0"/>
          </a:p>
        </p:txBody>
      </p:sp>
      <p:sp>
        <p:nvSpPr>
          <p:cNvPr id="53" name="Shape 47"/>
          <p:cNvSpPr/>
          <p:nvPr/>
        </p:nvSpPr>
        <p:spPr>
          <a:xfrm>
            <a:off x="6105769" y="8802291"/>
            <a:ext cx="2702254" cy="360859"/>
          </a:xfrm>
          <a:prstGeom prst="roundRect">
            <a:avLst>
              <a:gd name="adj" fmla="val 2554"/>
            </a:avLst>
          </a:prstGeom>
          <a:solidFill>
            <a:srgbClr val="F2EEEE"/>
          </a:solidFill>
          <a:ln/>
        </p:spPr>
      </p:sp>
      <p:sp>
        <p:nvSpPr>
          <p:cNvPr id="54" name="Text 48"/>
          <p:cNvSpPr/>
          <p:nvPr/>
        </p:nvSpPr>
        <p:spPr>
          <a:xfrm>
            <a:off x="6167184" y="8863707"/>
            <a:ext cx="2579425"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 Defect Escape</a:t>
            </a:r>
            <a:endParaRPr lang="en-US" sz="600" dirty="0"/>
          </a:p>
        </p:txBody>
      </p:sp>
      <p:sp>
        <p:nvSpPr>
          <p:cNvPr id="55" name="Text 49"/>
          <p:cNvSpPr/>
          <p:nvPr/>
        </p:nvSpPr>
        <p:spPr>
          <a:xfrm>
            <a:off x="6167184" y="8971558"/>
            <a:ext cx="2579425" cy="130175"/>
          </a:xfrm>
          <a:prstGeom prst="rect">
            <a:avLst/>
          </a:prstGeom>
          <a:noFill/>
          <a:ln/>
        </p:spPr>
        <p:txBody>
          <a:bodyPr wrap="square" lIns="0" tIns="0" rIns="0" bIns="0" rtlCol="0" anchor="t">
            <a:normAutofit/>
          </a:bodyPr>
          <a:lstStyle/>
          <a:p>
            <a:pPr algn="l"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~3%</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current</a:t>
            </a:r>
            <a:endParaRPr lang="en-US" sz="450" dirty="0"/>
          </a:p>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Target </a:t>
            </a:r>
            <a:pPr algn="l"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&lt;5%</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a:t>
            </a:r>
            <a:pPr algn="l" indent="0" marL="0">
              <a:lnSpc>
                <a:spcPct val="88000"/>
              </a:lnSpc>
              <a:buNone/>
            </a:pPr>
            <a:r>
              <a:rPr lang="en-US" sz="450" dirty="0">
                <a:solidFill>
                  <a:srgbClr val="000000"/>
                </a:solidFill>
                <a:latin typeface="Heebo" pitchFamily="34" charset="0"/>
                <a:ea typeface="Heebo" pitchFamily="34" charset="-122"/>
                <a:cs typeface="Heebo" pitchFamily="34" charset="-120"/>
              </a:rPr>
              <a:t>✅</a:t>
            </a:r>
            <a:endParaRPr lang="en-US" sz="450" dirty="0"/>
          </a:p>
        </p:txBody>
      </p:sp>
      <p:sp>
        <p:nvSpPr>
          <p:cNvPr id="56" name="Shape 50"/>
          <p:cNvSpPr/>
          <p:nvPr/>
        </p:nvSpPr>
        <p:spPr>
          <a:xfrm>
            <a:off x="8827966" y="8802291"/>
            <a:ext cx="2702254" cy="360859"/>
          </a:xfrm>
          <a:prstGeom prst="roundRect">
            <a:avLst>
              <a:gd name="adj" fmla="val 2554"/>
            </a:avLst>
          </a:prstGeom>
          <a:solidFill>
            <a:srgbClr val="F2EEEE"/>
          </a:solidFill>
          <a:ln/>
        </p:spPr>
      </p:sp>
      <p:sp>
        <p:nvSpPr>
          <p:cNvPr id="57" name="Text 51"/>
          <p:cNvSpPr/>
          <p:nvPr/>
        </p:nvSpPr>
        <p:spPr>
          <a:xfrm>
            <a:off x="8889381" y="8863707"/>
            <a:ext cx="2579425"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 MTTF</a:t>
            </a:r>
            <a:endParaRPr lang="en-US" sz="600" dirty="0"/>
          </a:p>
        </p:txBody>
      </p:sp>
      <p:sp>
        <p:nvSpPr>
          <p:cNvPr id="58" name="Text 52"/>
          <p:cNvSpPr/>
          <p:nvPr/>
        </p:nvSpPr>
        <p:spPr>
          <a:xfrm>
            <a:off x="8889381" y="8971558"/>
            <a:ext cx="2579425" cy="130175"/>
          </a:xfrm>
          <a:prstGeom prst="rect">
            <a:avLst/>
          </a:prstGeom>
          <a:noFill/>
          <a:ln/>
        </p:spPr>
        <p:txBody>
          <a:bodyPr wrap="square" lIns="0" tIns="0" rIns="0" bIns="0" rtlCol="0" anchor="t">
            <a:normAutofit/>
          </a:bodyPr>
          <a:lstStyle/>
          <a:p>
            <a:pPr algn="l"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5 min</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current</a:t>
            </a:r>
            <a:endParaRPr lang="en-US" sz="450" dirty="0"/>
          </a:p>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Target </a:t>
            </a:r>
            <a:pPr algn="l"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&lt;10 min</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a:t>
            </a:r>
            <a:pPr algn="l" indent="0" marL="0">
              <a:lnSpc>
                <a:spcPct val="88000"/>
              </a:lnSpc>
              <a:buNone/>
            </a:pPr>
            <a:r>
              <a:rPr lang="en-US" sz="450" dirty="0">
                <a:solidFill>
                  <a:srgbClr val="000000"/>
                </a:solidFill>
                <a:latin typeface="Heebo" pitchFamily="34" charset="0"/>
                <a:ea typeface="Heebo" pitchFamily="34" charset="-122"/>
                <a:cs typeface="Heebo" pitchFamily="34" charset="-120"/>
              </a:rPr>
              <a:t>✅</a:t>
            </a:r>
            <a:endParaRPr lang="en-US" sz="450" dirty="0"/>
          </a:p>
        </p:txBody>
      </p:sp>
      <p:sp>
        <p:nvSpPr>
          <p:cNvPr id="59" name="Shape 53"/>
          <p:cNvSpPr/>
          <p:nvPr/>
        </p:nvSpPr>
        <p:spPr>
          <a:xfrm>
            <a:off x="661475" y="9183092"/>
            <a:ext cx="5424352" cy="360859"/>
          </a:xfrm>
          <a:prstGeom prst="roundRect">
            <a:avLst>
              <a:gd name="adj" fmla="val 2554"/>
            </a:avLst>
          </a:prstGeom>
          <a:solidFill>
            <a:srgbClr val="F2EEEE"/>
          </a:solidFill>
          <a:ln/>
        </p:spPr>
      </p:sp>
      <p:sp>
        <p:nvSpPr>
          <p:cNvPr id="60" name="Text 54"/>
          <p:cNvSpPr/>
          <p:nvPr/>
        </p:nvSpPr>
        <p:spPr>
          <a:xfrm>
            <a:off x="722890" y="9244509"/>
            <a:ext cx="5301522"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 Reliability</a:t>
            </a:r>
            <a:endParaRPr lang="en-US" sz="600" dirty="0"/>
          </a:p>
        </p:txBody>
      </p:sp>
      <p:sp>
        <p:nvSpPr>
          <p:cNvPr id="61" name="Text 55"/>
          <p:cNvSpPr/>
          <p:nvPr/>
        </p:nvSpPr>
        <p:spPr>
          <a:xfrm>
            <a:off x="722890" y="9352359"/>
            <a:ext cx="5301522" cy="130175"/>
          </a:xfrm>
          <a:prstGeom prst="rect">
            <a:avLst/>
          </a:prstGeom>
          <a:noFill/>
          <a:ln/>
        </p:spPr>
        <p:txBody>
          <a:bodyPr wrap="square" lIns="0" tIns="0" rIns="0" bIns="0" rtlCol="0" anchor="t">
            <a:normAutofit/>
          </a:bodyPr>
          <a:lstStyle/>
          <a:p>
            <a:pPr algn="l"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~93%</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current</a:t>
            </a:r>
            <a:endParaRPr lang="en-US" sz="450" dirty="0"/>
          </a:p>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Target </a:t>
            </a:r>
            <a:pPr algn="l"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&gt;95%</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a:t>
            </a:r>
            <a:pPr algn="l" indent="0" marL="0">
              <a:lnSpc>
                <a:spcPct val="88000"/>
              </a:lnSpc>
              <a:buNone/>
            </a:pPr>
            <a:r>
              <a:rPr lang="en-US" sz="450" dirty="0">
                <a:solidFill>
                  <a:srgbClr val="000000"/>
                </a:solidFill>
                <a:latin typeface="Heebo" pitchFamily="34" charset="0"/>
                <a:ea typeface="Heebo" pitchFamily="34" charset="-122"/>
                <a:cs typeface="Heebo" pitchFamily="34" charset="-120"/>
              </a:rPr>
              <a:t>🔄</a:t>
            </a:r>
            <a:endParaRPr lang="en-US" sz="450" dirty="0"/>
          </a:p>
        </p:txBody>
      </p:sp>
      <p:sp>
        <p:nvSpPr>
          <p:cNvPr id="62" name="Shape 56"/>
          <p:cNvSpPr/>
          <p:nvPr/>
        </p:nvSpPr>
        <p:spPr>
          <a:xfrm>
            <a:off x="6105769" y="9183092"/>
            <a:ext cx="5424451" cy="360859"/>
          </a:xfrm>
          <a:prstGeom prst="roundRect">
            <a:avLst>
              <a:gd name="adj" fmla="val 2554"/>
            </a:avLst>
          </a:prstGeom>
          <a:solidFill>
            <a:srgbClr val="F2EEEE"/>
          </a:solidFill>
          <a:ln/>
        </p:spPr>
      </p:sp>
      <p:sp>
        <p:nvSpPr>
          <p:cNvPr id="63" name="Text 57"/>
          <p:cNvSpPr/>
          <p:nvPr/>
        </p:nvSpPr>
        <p:spPr>
          <a:xfrm>
            <a:off x="6167184" y="9244509"/>
            <a:ext cx="5301621"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 E2E Coverage</a:t>
            </a:r>
            <a:endParaRPr lang="en-US" sz="600" dirty="0"/>
          </a:p>
        </p:txBody>
      </p:sp>
      <p:sp>
        <p:nvSpPr>
          <p:cNvPr id="64" name="Text 58"/>
          <p:cNvSpPr/>
          <p:nvPr/>
        </p:nvSpPr>
        <p:spPr>
          <a:xfrm>
            <a:off x="6167184" y="9352359"/>
            <a:ext cx="5301621" cy="130175"/>
          </a:xfrm>
          <a:prstGeom prst="rect">
            <a:avLst/>
          </a:prstGeom>
          <a:noFill/>
          <a:ln/>
        </p:spPr>
        <p:txBody>
          <a:bodyPr wrap="square" lIns="0" tIns="0" rIns="0" bIns="0" rtlCol="0" anchor="t">
            <a:normAutofit/>
          </a:bodyPr>
          <a:lstStyle/>
          <a:p>
            <a:pPr algn="l"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~85%</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current</a:t>
            </a:r>
            <a:endParaRPr lang="en-US" sz="450" dirty="0"/>
          </a:p>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Target </a:t>
            </a:r>
            <a:pPr algn="l"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&gt;80%</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a:t>
            </a:r>
            <a:pPr algn="l" indent="0" marL="0">
              <a:lnSpc>
                <a:spcPct val="88000"/>
              </a:lnSpc>
              <a:buNone/>
            </a:pPr>
            <a:r>
              <a:rPr lang="en-US" sz="450" dirty="0">
                <a:solidFill>
                  <a:srgbClr val="000000"/>
                </a:solidFill>
                <a:latin typeface="Heebo" pitchFamily="34" charset="0"/>
                <a:ea typeface="Heebo" pitchFamily="34" charset="-122"/>
                <a:cs typeface="Heebo" pitchFamily="34" charset="-120"/>
              </a:rPr>
              <a:t>✅</a:t>
            </a:r>
            <a:endParaRPr lang="en-US" sz="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88566"/>
            <a:ext cx="10868745" cy="293886"/>
          </a:xfrm>
          <a:prstGeom prst="rect">
            <a:avLst/>
          </a:prstGeom>
          <a:noFill/>
          <a:ln/>
        </p:spPr>
        <p:txBody>
          <a:bodyPr wrap="none" lIns="0" tIns="0" rIns="0" bIns="0" rtlCol="0" anchor="t"/>
          <a:lstStyle/>
          <a:p>
            <a:pPr algn="l" indent="0" marL="0">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Cross-Browser Compatibility &amp; Real-Time Notifications</a:t>
            </a:r>
            <a:endParaRPr lang="en-US" sz="1850" dirty="0"/>
          </a:p>
        </p:txBody>
      </p:sp>
      <p:sp>
        <p:nvSpPr>
          <p:cNvPr id="3" name="Text 1"/>
          <p:cNvSpPr/>
          <p:nvPr/>
        </p:nvSpPr>
        <p:spPr>
          <a:xfrm>
            <a:off x="661475" y="976015"/>
            <a:ext cx="11478330" cy="112613"/>
          </a:xfrm>
          <a:prstGeom prst="rect">
            <a:avLst/>
          </a:prstGeom>
          <a:noFill/>
          <a:ln/>
        </p:spPr>
        <p:txBody>
          <a:bodyPr wrap="none" lIns="0" tIns="0" rIns="0" bIns="0" rtlCol="0" anchor="t"/>
          <a:lstStyle/>
          <a:p>
            <a:pPr algn="l" indent="0" marL="0">
              <a:lnSpc>
                <a:spcPct val="100000"/>
              </a:lnSpc>
              <a:buNone/>
            </a:pPr>
            <a:r>
              <a:rPr lang="en-US" sz="700" dirty="0">
                <a:solidFill>
                  <a:srgbClr val="4C4C4D"/>
                </a:solidFill>
                <a:latin typeface="Heebo" pitchFamily="34" charset="0"/>
                <a:ea typeface="Heebo" pitchFamily="34" charset="-122"/>
                <a:cs typeface="Heebo" pitchFamily="34" charset="-120"/>
              </a:rPr>
              <a:t>GDS-compliant rendering validated across all major browsers via BrowserStack cloud — with instant Slack alerts on every test run.</a:t>
            </a:r>
            <a:endParaRPr lang="en-US" sz="700" dirty="0"/>
          </a:p>
        </p:txBody>
      </p:sp>
      <p:sp>
        <p:nvSpPr>
          <p:cNvPr id="4" name="Shape 2"/>
          <p:cNvSpPr/>
          <p:nvPr/>
        </p:nvSpPr>
        <p:spPr>
          <a:xfrm>
            <a:off x="661475" y="1141214"/>
            <a:ext cx="2682113" cy="804664"/>
          </a:xfrm>
          <a:prstGeom prst="roundRect">
            <a:avLst>
              <a:gd name="adj" fmla="val 1754"/>
            </a:avLst>
          </a:prstGeom>
          <a:solidFill>
            <a:srgbClr val="F2EEEE"/>
          </a:solidFill>
          <a:ln/>
        </p:spPr>
      </p:sp>
      <p:sp>
        <p:nvSpPr>
          <p:cNvPr id="5" name="Shape 3"/>
          <p:cNvSpPr/>
          <p:nvPr/>
        </p:nvSpPr>
        <p:spPr>
          <a:xfrm>
            <a:off x="755532" y="1235273"/>
            <a:ext cx="282171" cy="282178"/>
          </a:xfrm>
          <a:prstGeom prst="ellipse">
            <a:avLst/>
          </a:prstGeom>
          <a:solidFill>
            <a:srgbClr val="2150FE"/>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3119" y="1312863"/>
            <a:ext cx="126898" cy="126901"/>
          </a:xfrm>
          <a:prstGeom prst="rect">
            <a:avLst/>
          </a:prstGeom>
        </p:spPr>
      </p:pic>
      <p:sp>
        <p:nvSpPr>
          <p:cNvPr id="7" name="Text 4"/>
          <p:cNvSpPr/>
          <p:nvPr/>
        </p:nvSpPr>
        <p:spPr>
          <a:xfrm>
            <a:off x="755532" y="1564184"/>
            <a:ext cx="2493999" cy="146943"/>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Chrome</a:t>
            </a:r>
            <a:endParaRPr lang="en-US" sz="900" dirty="0"/>
          </a:p>
        </p:txBody>
      </p:sp>
      <p:sp>
        <p:nvSpPr>
          <p:cNvPr id="8" name="Text 5"/>
          <p:cNvSpPr/>
          <p:nvPr/>
        </p:nvSpPr>
        <p:spPr>
          <a:xfrm>
            <a:off x="755532" y="1739205"/>
            <a:ext cx="2493999" cy="112613"/>
          </a:xfrm>
          <a:prstGeom prst="rect">
            <a:avLst/>
          </a:prstGeom>
          <a:noFill/>
          <a:ln/>
        </p:spPr>
        <p:txBody>
          <a:bodyPr wrap="none" lIns="0" tIns="0" rIns="0" bIns="0" rtlCol="0" anchor="t"/>
          <a:lstStyle/>
          <a:p>
            <a:pPr algn="l" indent="0" marL="0">
              <a:lnSpc>
                <a:spcPct val="100000"/>
              </a:lnSpc>
              <a:buNone/>
            </a:pPr>
            <a:r>
              <a:rPr lang="en-US" sz="700" dirty="0">
                <a:solidFill>
                  <a:srgbClr val="4C4C4D"/>
                </a:solidFill>
                <a:latin typeface="Heebo" pitchFamily="34" charset="0"/>
                <a:ea typeface="Heebo" pitchFamily="34" charset="-122"/>
                <a:cs typeface="Heebo" pitchFamily="34" charset="-120"/>
              </a:rPr>
              <a:t>Windows 11</a:t>
            </a:r>
            <a:endParaRPr lang="en-US" sz="700" dirty="0"/>
          </a:p>
        </p:txBody>
      </p:sp>
      <p:sp>
        <p:nvSpPr>
          <p:cNvPr id="9" name="Shape 6"/>
          <p:cNvSpPr/>
          <p:nvPr/>
        </p:nvSpPr>
        <p:spPr>
          <a:xfrm>
            <a:off x="3390319" y="1141214"/>
            <a:ext cx="2682113" cy="804664"/>
          </a:xfrm>
          <a:prstGeom prst="roundRect">
            <a:avLst>
              <a:gd name="adj" fmla="val 1754"/>
            </a:avLst>
          </a:prstGeom>
          <a:solidFill>
            <a:srgbClr val="F2EEEE"/>
          </a:solidFill>
          <a:ln/>
        </p:spPr>
      </p:sp>
      <p:sp>
        <p:nvSpPr>
          <p:cNvPr id="10" name="Shape 7"/>
          <p:cNvSpPr/>
          <p:nvPr/>
        </p:nvSpPr>
        <p:spPr>
          <a:xfrm>
            <a:off x="3484376" y="1235273"/>
            <a:ext cx="282171" cy="282178"/>
          </a:xfrm>
          <a:prstGeom prst="ellipse">
            <a:avLst/>
          </a:prstGeom>
          <a:solidFill>
            <a:srgbClr val="2150FE"/>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61963" y="1312863"/>
            <a:ext cx="126898" cy="126901"/>
          </a:xfrm>
          <a:prstGeom prst="rect">
            <a:avLst/>
          </a:prstGeom>
        </p:spPr>
      </p:pic>
      <p:sp>
        <p:nvSpPr>
          <p:cNvPr id="12" name="Text 8"/>
          <p:cNvSpPr/>
          <p:nvPr/>
        </p:nvSpPr>
        <p:spPr>
          <a:xfrm>
            <a:off x="3484376" y="1564184"/>
            <a:ext cx="2493999" cy="146943"/>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Edge</a:t>
            </a:r>
            <a:endParaRPr lang="en-US" sz="900" dirty="0"/>
          </a:p>
        </p:txBody>
      </p:sp>
      <p:sp>
        <p:nvSpPr>
          <p:cNvPr id="13" name="Text 9"/>
          <p:cNvSpPr/>
          <p:nvPr/>
        </p:nvSpPr>
        <p:spPr>
          <a:xfrm>
            <a:off x="3484376" y="1739205"/>
            <a:ext cx="2493999" cy="112613"/>
          </a:xfrm>
          <a:prstGeom prst="rect">
            <a:avLst/>
          </a:prstGeom>
          <a:noFill/>
          <a:ln/>
        </p:spPr>
        <p:txBody>
          <a:bodyPr wrap="none" lIns="0" tIns="0" rIns="0" bIns="0" rtlCol="0" anchor="t"/>
          <a:lstStyle/>
          <a:p>
            <a:pPr algn="l" indent="0" marL="0">
              <a:lnSpc>
                <a:spcPct val="100000"/>
              </a:lnSpc>
              <a:buNone/>
            </a:pPr>
            <a:r>
              <a:rPr lang="en-US" sz="700" dirty="0">
                <a:solidFill>
                  <a:srgbClr val="4C4C4D"/>
                </a:solidFill>
                <a:latin typeface="Heebo" pitchFamily="34" charset="0"/>
                <a:ea typeface="Heebo" pitchFamily="34" charset="-122"/>
                <a:cs typeface="Heebo" pitchFamily="34" charset="-120"/>
              </a:rPr>
              <a:t>Windows 11</a:t>
            </a:r>
            <a:endParaRPr lang="en-US" sz="700" dirty="0"/>
          </a:p>
        </p:txBody>
      </p:sp>
      <p:sp>
        <p:nvSpPr>
          <p:cNvPr id="14" name="Shape 10"/>
          <p:cNvSpPr/>
          <p:nvPr/>
        </p:nvSpPr>
        <p:spPr>
          <a:xfrm>
            <a:off x="6119163" y="1141214"/>
            <a:ext cx="2682113" cy="804664"/>
          </a:xfrm>
          <a:prstGeom prst="roundRect">
            <a:avLst>
              <a:gd name="adj" fmla="val 1754"/>
            </a:avLst>
          </a:prstGeom>
          <a:solidFill>
            <a:srgbClr val="F2EEEE"/>
          </a:solidFill>
          <a:ln/>
        </p:spPr>
      </p:sp>
      <p:sp>
        <p:nvSpPr>
          <p:cNvPr id="15" name="Shape 11"/>
          <p:cNvSpPr/>
          <p:nvPr/>
        </p:nvSpPr>
        <p:spPr>
          <a:xfrm>
            <a:off x="6213220" y="1235273"/>
            <a:ext cx="282171" cy="282178"/>
          </a:xfrm>
          <a:prstGeom prst="ellipse">
            <a:avLst/>
          </a:prstGeom>
          <a:solidFill>
            <a:srgbClr val="2150FE"/>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90807" y="1312863"/>
            <a:ext cx="126898" cy="126901"/>
          </a:xfrm>
          <a:prstGeom prst="rect">
            <a:avLst/>
          </a:prstGeom>
        </p:spPr>
      </p:pic>
      <p:sp>
        <p:nvSpPr>
          <p:cNvPr id="17" name="Text 12"/>
          <p:cNvSpPr/>
          <p:nvPr/>
        </p:nvSpPr>
        <p:spPr>
          <a:xfrm>
            <a:off x="6213220" y="1564184"/>
            <a:ext cx="2493999" cy="146943"/>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Firefox</a:t>
            </a:r>
            <a:endParaRPr lang="en-US" sz="900" dirty="0"/>
          </a:p>
        </p:txBody>
      </p:sp>
      <p:sp>
        <p:nvSpPr>
          <p:cNvPr id="18" name="Text 13"/>
          <p:cNvSpPr/>
          <p:nvPr/>
        </p:nvSpPr>
        <p:spPr>
          <a:xfrm>
            <a:off x="6213220" y="1739205"/>
            <a:ext cx="2493999" cy="112613"/>
          </a:xfrm>
          <a:prstGeom prst="rect">
            <a:avLst/>
          </a:prstGeom>
          <a:noFill/>
          <a:ln/>
        </p:spPr>
        <p:txBody>
          <a:bodyPr wrap="none" lIns="0" tIns="0" rIns="0" bIns="0" rtlCol="0" anchor="t"/>
          <a:lstStyle/>
          <a:p>
            <a:pPr algn="l" indent="0" marL="0">
              <a:lnSpc>
                <a:spcPct val="100000"/>
              </a:lnSpc>
              <a:buNone/>
            </a:pPr>
            <a:r>
              <a:rPr lang="en-US" sz="700" dirty="0">
                <a:solidFill>
                  <a:srgbClr val="4C4C4D"/>
                </a:solidFill>
                <a:latin typeface="Heebo" pitchFamily="34" charset="0"/>
                <a:ea typeface="Heebo" pitchFamily="34" charset="-122"/>
                <a:cs typeface="Heebo" pitchFamily="34" charset="-120"/>
              </a:rPr>
              <a:t>Windows 11</a:t>
            </a:r>
            <a:endParaRPr lang="en-US" sz="700" dirty="0"/>
          </a:p>
        </p:txBody>
      </p:sp>
      <p:sp>
        <p:nvSpPr>
          <p:cNvPr id="19" name="Shape 14"/>
          <p:cNvSpPr/>
          <p:nvPr/>
        </p:nvSpPr>
        <p:spPr>
          <a:xfrm>
            <a:off x="8848008" y="1141214"/>
            <a:ext cx="2682213" cy="804664"/>
          </a:xfrm>
          <a:prstGeom prst="roundRect">
            <a:avLst>
              <a:gd name="adj" fmla="val 1754"/>
            </a:avLst>
          </a:prstGeom>
          <a:solidFill>
            <a:srgbClr val="F2EEEE"/>
          </a:solidFill>
          <a:ln/>
        </p:spPr>
      </p:sp>
      <p:sp>
        <p:nvSpPr>
          <p:cNvPr id="20" name="Shape 15"/>
          <p:cNvSpPr/>
          <p:nvPr/>
        </p:nvSpPr>
        <p:spPr>
          <a:xfrm>
            <a:off x="8942065" y="1235273"/>
            <a:ext cx="282171" cy="282178"/>
          </a:xfrm>
          <a:prstGeom prst="ellipse">
            <a:avLst/>
          </a:prstGeom>
          <a:solidFill>
            <a:srgbClr val="2150FE"/>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19652" y="1312863"/>
            <a:ext cx="126898" cy="126901"/>
          </a:xfrm>
          <a:prstGeom prst="rect">
            <a:avLst/>
          </a:prstGeom>
        </p:spPr>
      </p:pic>
      <p:sp>
        <p:nvSpPr>
          <p:cNvPr id="22" name="Text 16"/>
          <p:cNvSpPr/>
          <p:nvPr/>
        </p:nvSpPr>
        <p:spPr>
          <a:xfrm>
            <a:off x="8942065" y="1564184"/>
            <a:ext cx="2494099" cy="146943"/>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Safari</a:t>
            </a:r>
            <a:endParaRPr lang="en-US" sz="900" dirty="0"/>
          </a:p>
        </p:txBody>
      </p:sp>
      <p:sp>
        <p:nvSpPr>
          <p:cNvPr id="23" name="Text 17"/>
          <p:cNvSpPr/>
          <p:nvPr/>
        </p:nvSpPr>
        <p:spPr>
          <a:xfrm>
            <a:off x="8942065" y="1739205"/>
            <a:ext cx="2494099" cy="112613"/>
          </a:xfrm>
          <a:prstGeom prst="rect">
            <a:avLst/>
          </a:prstGeom>
          <a:noFill/>
          <a:ln/>
        </p:spPr>
        <p:txBody>
          <a:bodyPr wrap="none" lIns="0" tIns="0" rIns="0" bIns="0" rtlCol="0" anchor="t"/>
          <a:lstStyle/>
          <a:p>
            <a:pPr algn="l" indent="0" marL="0">
              <a:lnSpc>
                <a:spcPct val="100000"/>
              </a:lnSpc>
              <a:buNone/>
            </a:pPr>
            <a:r>
              <a:rPr lang="en-US" sz="700" dirty="0">
                <a:solidFill>
                  <a:srgbClr val="4C4C4D"/>
                </a:solidFill>
                <a:latin typeface="Heebo" pitchFamily="34" charset="0"/>
                <a:ea typeface="Heebo" pitchFamily="34" charset="-122"/>
                <a:cs typeface="Heebo" pitchFamily="34" charset="-120"/>
              </a:rPr>
              <a:t>macOS Ventura</a:t>
            </a:r>
            <a:endParaRPr lang="en-US" sz="700" dirty="0"/>
          </a:p>
        </p:txBody>
      </p:sp>
      <p:sp>
        <p:nvSpPr>
          <p:cNvPr id="24" name="Text 18"/>
          <p:cNvSpPr/>
          <p:nvPr/>
        </p:nvSpPr>
        <p:spPr>
          <a:xfrm>
            <a:off x="661475" y="2045196"/>
            <a:ext cx="5319679" cy="146943"/>
          </a:xfrm>
          <a:prstGeom prst="rect">
            <a:avLst/>
          </a:prstGeom>
          <a:noFill/>
          <a:ln/>
        </p:spPr>
        <p:txBody>
          <a:bodyPr wrap="none" lIns="0" tIns="0" rIns="0" bIns="0" rtlCol="0" anchor="t"/>
          <a:lstStyle/>
          <a:p>
            <a:pPr algn="l" indent="0" marL="0">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BrowserStack Integration</a:t>
            </a:r>
            <a:endParaRPr lang="en-US" sz="900" dirty="0"/>
          </a:p>
        </p:txBody>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2244725"/>
            <a:ext cx="5319679" cy="519807"/>
          </a:xfrm>
          <a:prstGeom prst="rect">
            <a:avLst/>
          </a:prstGeom>
        </p:spPr>
      </p:pic>
      <p:sp>
        <p:nvSpPr>
          <p:cNvPr id="26" name="Text 19"/>
          <p:cNvSpPr/>
          <p:nvPr/>
        </p:nvSpPr>
        <p:spPr>
          <a:xfrm>
            <a:off x="819030" y="2351484"/>
            <a:ext cx="5055366" cy="146943"/>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CDP WebSocket</a:t>
            </a:r>
            <a:endParaRPr lang="en-US" sz="900" dirty="0"/>
          </a:p>
        </p:txBody>
      </p:sp>
      <p:sp>
        <p:nvSpPr>
          <p:cNvPr id="27" name="Text 20"/>
          <p:cNvSpPr/>
          <p:nvPr/>
        </p:nvSpPr>
        <p:spPr>
          <a:xfrm>
            <a:off x="819030" y="2545159"/>
            <a:ext cx="5055366" cy="112613"/>
          </a:xfrm>
          <a:prstGeom prst="rect">
            <a:avLst/>
          </a:prstGeom>
          <a:noFill/>
          <a:ln/>
        </p:spPr>
        <p:txBody>
          <a:bodyPr wrap="none" lIns="0" tIns="0" rIns="0" bIns="0" rtlCol="0" anchor="t"/>
          <a:lstStyle/>
          <a:p>
            <a:pPr algn="l" indent="0" marL="0">
              <a:lnSpc>
                <a:spcPct val="100000"/>
              </a:lnSpc>
              <a:buNone/>
            </a:pPr>
            <a:r>
              <a:rPr lang="en-US" sz="700" dirty="0">
                <a:solidFill>
                  <a:srgbClr val="4C4C4D"/>
                </a:solidFill>
                <a:latin typeface="Heebo" pitchFamily="34" charset="0"/>
                <a:ea typeface="Heebo" pitchFamily="34" charset="-122"/>
                <a:cs typeface="Heebo" pitchFamily="34" charset="-120"/>
              </a:rPr>
              <a:t>Live cloud connection to BrowserStack for real-time cross-browser rendering checks</a:t>
            </a:r>
            <a:endParaRPr lang="en-US" sz="700" dirty="0"/>
          </a:p>
        </p:txBody>
      </p:sp>
      <p:pic>
        <p:nvPicPr>
          <p:cNvPr id="2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61475" y="2811264"/>
            <a:ext cx="5319679" cy="519807"/>
          </a:xfrm>
          <a:prstGeom prst="rect">
            <a:avLst/>
          </a:prstGeom>
        </p:spPr>
      </p:pic>
      <p:sp>
        <p:nvSpPr>
          <p:cNvPr id="29" name="Text 21"/>
          <p:cNvSpPr/>
          <p:nvPr/>
        </p:nvSpPr>
        <p:spPr>
          <a:xfrm>
            <a:off x="819030" y="2918023"/>
            <a:ext cx="5055366" cy="146943"/>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Trigger</a:t>
            </a:r>
            <a:endParaRPr lang="en-US" sz="900" dirty="0"/>
          </a:p>
        </p:txBody>
      </p:sp>
      <p:sp>
        <p:nvSpPr>
          <p:cNvPr id="30" name="Text 22"/>
          <p:cNvSpPr/>
          <p:nvPr/>
        </p:nvSpPr>
        <p:spPr>
          <a:xfrm>
            <a:off x="819030" y="3111698"/>
            <a:ext cx="5055366" cy="112613"/>
          </a:xfrm>
          <a:prstGeom prst="rect">
            <a:avLst/>
          </a:prstGeom>
          <a:noFill/>
          <a:ln/>
        </p:spPr>
        <p:txBody>
          <a:bodyPr wrap="none" lIns="0" tIns="0" rIns="0" bIns="0" rtlCol="0" anchor="t"/>
          <a:lstStyle/>
          <a:p>
            <a:pPr algn="l" indent="0" marL="0">
              <a:lnSpc>
                <a:spcPct val="100000"/>
              </a:lnSpc>
              <a:buNone/>
            </a:pPr>
            <a:r>
              <a:rPr lang="en-US" sz="700" dirty="0">
                <a:solidFill>
                  <a:srgbClr val="4C4C4D"/>
                </a:solidFill>
                <a:latin typeface="Heebo" pitchFamily="34" charset="0"/>
                <a:ea typeface="Heebo" pitchFamily="34" charset="-122"/>
                <a:cs typeface="Heebo" pitchFamily="34" charset="-120"/>
              </a:rPr>
              <a:t>On-demand manual trigger or automatically per release pipeline</a:t>
            </a:r>
            <a:endParaRPr lang="en-US" sz="700" dirty="0"/>
          </a:p>
        </p:txBody>
      </p:sp>
      <p:pic>
        <p:nvPicPr>
          <p:cNvPr id="3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475" y="3377803"/>
            <a:ext cx="5319679" cy="519807"/>
          </a:xfrm>
          <a:prstGeom prst="rect">
            <a:avLst/>
          </a:prstGeom>
        </p:spPr>
      </p:pic>
      <p:sp>
        <p:nvSpPr>
          <p:cNvPr id="32" name="Text 23"/>
          <p:cNvSpPr/>
          <p:nvPr/>
        </p:nvSpPr>
        <p:spPr>
          <a:xfrm>
            <a:off x="819030" y="3484563"/>
            <a:ext cx="5055366" cy="146943"/>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Coverage</a:t>
            </a:r>
            <a:endParaRPr lang="en-US" sz="900" dirty="0"/>
          </a:p>
        </p:txBody>
      </p:sp>
      <p:sp>
        <p:nvSpPr>
          <p:cNvPr id="33" name="Text 24"/>
          <p:cNvSpPr/>
          <p:nvPr/>
        </p:nvSpPr>
        <p:spPr>
          <a:xfrm>
            <a:off x="819030" y="3678238"/>
            <a:ext cx="5055366" cy="112613"/>
          </a:xfrm>
          <a:prstGeom prst="rect">
            <a:avLst/>
          </a:prstGeom>
          <a:noFill/>
          <a:ln/>
        </p:spPr>
        <p:txBody>
          <a:bodyPr wrap="none" lIns="0" tIns="0" rIns="0" bIns="0" rtlCol="0" anchor="t"/>
          <a:lstStyle/>
          <a:p>
            <a:pPr algn="l" indent="0" marL="0">
              <a:lnSpc>
                <a:spcPct val="100000"/>
              </a:lnSpc>
              <a:buNone/>
            </a:pPr>
            <a:r>
              <a:rPr lang="en-US" sz="700" dirty="0">
                <a:solidFill>
                  <a:srgbClr val="4C4C4D"/>
                </a:solidFill>
                <a:latin typeface="Heebo" pitchFamily="34" charset="0"/>
                <a:ea typeface="Heebo" pitchFamily="34" charset="-122"/>
                <a:cs typeface="Heebo" pitchFamily="34" charset="-120"/>
              </a:rPr>
              <a:t>4 browsers × 2 OS platforms = full GDS compliance matrix</a:t>
            </a:r>
            <a:endParaRPr lang="en-US" sz="700" dirty="0"/>
          </a:p>
        </p:txBody>
      </p:sp>
      <p:sp>
        <p:nvSpPr>
          <p:cNvPr id="34" name="Text 25"/>
          <p:cNvSpPr/>
          <p:nvPr/>
        </p:nvSpPr>
        <p:spPr>
          <a:xfrm>
            <a:off x="6216891" y="2045196"/>
            <a:ext cx="5319679" cy="153293"/>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 Real-Time Slack Alerts</a:t>
            </a:r>
            <a:endParaRPr lang="en-US" sz="900" dirty="0"/>
          </a:p>
        </p:txBody>
      </p:sp>
      <p:pic>
        <p:nvPicPr>
          <p:cNvPr id="3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216891" y="2251075"/>
            <a:ext cx="5319679" cy="754658"/>
          </a:xfrm>
          <a:prstGeom prst="rect">
            <a:avLst/>
          </a:prstGeom>
        </p:spPr>
      </p:pic>
      <p:pic>
        <p:nvPicPr>
          <p:cNvPr id="36"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806138" y="2334220"/>
            <a:ext cx="141086" cy="141089"/>
          </a:xfrm>
          <a:prstGeom prst="rect">
            <a:avLst/>
          </a:prstGeom>
        </p:spPr>
      </p:pic>
      <p:sp>
        <p:nvSpPr>
          <p:cNvPr id="37" name="Text 26"/>
          <p:cNvSpPr/>
          <p:nvPr/>
        </p:nvSpPr>
        <p:spPr>
          <a:xfrm>
            <a:off x="6323648" y="2592685"/>
            <a:ext cx="5106165" cy="146943"/>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Test Results</a:t>
            </a:r>
            <a:endParaRPr lang="en-US" sz="900" dirty="0"/>
          </a:p>
        </p:txBody>
      </p:sp>
      <p:sp>
        <p:nvSpPr>
          <p:cNvPr id="38" name="Text 27"/>
          <p:cNvSpPr/>
          <p:nvPr/>
        </p:nvSpPr>
        <p:spPr>
          <a:xfrm>
            <a:off x="6323648" y="2786360"/>
            <a:ext cx="5106165" cy="112613"/>
          </a:xfrm>
          <a:prstGeom prst="rect">
            <a:avLst/>
          </a:prstGeom>
          <a:noFill/>
          <a:ln/>
        </p:spPr>
        <p:txBody>
          <a:bodyPr wrap="none" lIns="0" tIns="0" rIns="0" bIns="0" rtlCol="0" anchor="t"/>
          <a:lstStyle/>
          <a:p>
            <a:pPr algn="l" indent="0" marL="0">
              <a:lnSpc>
                <a:spcPct val="100000"/>
              </a:lnSpc>
              <a:buNone/>
            </a:pPr>
            <a:r>
              <a:rPr lang="en-US" sz="700" dirty="0">
                <a:solidFill>
                  <a:srgbClr val="000000"/>
                </a:solidFill>
                <a:latin typeface="Heebo" pitchFamily="34" charset="0"/>
                <a:ea typeface="Heebo" pitchFamily="34" charset="-122"/>
                <a:cs typeface="Heebo" pitchFamily="34" charset="-120"/>
              </a:rPr>
              <a:t>✅</a:t>
            </a:r>
            <a:pPr algn="l" indent="0" marL="0">
              <a:lnSpc>
                <a:spcPct val="100000"/>
              </a:lnSpc>
              <a:buNone/>
            </a:pPr>
            <a:r>
              <a:rPr lang="en-US" sz="700" dirty="0">
                <a:solidFill>
                  <a:srgbClr val="4C4C4D"/>
                </a:solidFill>
                <a:latin typeface="Heebo" pitchFamily="34" charset="0"/>
                <a:ea typeface="Heebo" pitchFamily="34" charset="-122"/>
                <a:cs typeface="Heebo" pitchFamily="34" charset="-120"/>
              </a:rPr>
              <a:t>/</a:t>
            </a:r>
            <a:pPr algn="l" indent="0" marL="0">
              <a:lnSpc>
                <a:spcPct val="100000"/>
              </a:lnSpc>
              <a:buNone/>
            </a:pPr>
            <a:r>
              <a:rPr lang="en-US" sz="700" dirty="0">
                <a:solidFill>
                  <a:srgbClr val="000000"/>
                </a:solidFill>
                <a:latin typeface="Heebo" pitchFamily="34" charset="0"/>
                <a:ea typeface="Heebo" pitchFamily="34" charset="-122"/>
                <a:cs typeface="Heebo" pitchFamily="34" charset="-120"/>
              </a:rPr>
              <a:t>❌</a:t>
            </a:r>
            <a:pPr algn="l" indent="0" marL="0">
              <a:lnSpc>
                <a:spcPct val="100000"/>
              </a:lnSpc>
              <a:buNone/>
            </a:pPr>
            <a:r>
              <a:rPr lang="en-US" sz="700" dirty="0">
                <a:solidFill>
                  <a:srgbClr val="4C4C4D"/>
                </a:solidFill>
                <a:latin typeface="Heebo" pitchFamily="34" charset="0"/>
                <a:ea typeface="Heebo" pitchFamily="34" charset="-122"/>
                <a:cs typeface="Heebo" pitchFamily="34" charset="-120"/>
              </a:rPr>
              <a:t> Pass/Fail with counts &amp; pass rate %, plus failed test names (deduplicated)</a:t>
            </a:r>
            <a:endParaRPr lang="en-US" sz="700" dirty="0"/>
          </a:p>
        </p:txBody>
      </p:sp>
      <p:pic>
        <p:nvPicPr>
          <p:cNvPr id="39"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216891" y="3052465"/>
            <a:ext cx="5319679" cy="754658"/>
          </a:xfrm>
          <a:prstGeom prst="rect">
            <a:avLst/>
          </a:prstGeom>
        </p:spPr>
      </p:pic>
      <p:pic>
        <p:nvPicPr>
          <p:cNvPr id="40"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806138" y="3135610"/>
            <a:ext cx="141086" cy="141089"/>
          </a:xfrm>
          <a:prstGeom prst="rect">
            <a:avLst/>
          </a:prstGeom>
        </p:spPr>
      </p:pic>
      <p:sp>
        <p:nvSpPr>
          <p:cNvPr id="41" name="Text 28"/>
          <p:cNvSpPr/>
          <p:nvPr/>
        </p:nvSpPr>
        <p:spPr>
          <a:xfrm>
            <a:off x="6323648" y="3394075"/>
            <a:ext cx="5106165" cy="146943"/>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Report Links</a:t>
            </a:r>
            <a:endParaRPr lang="en-US" sz="900" dirty="0"/>
          </a:p>
        </p:txBody>
      </p:sp>
      <p:sp>
        <p:nvSpPr>
          <p:cNvPr id="42" name="Text 29"/>
          <p:cNvSpPr/>
          <p:nvPr/>
        </p:nvSpPr>
        <p:spPr>
          <a:xfrm>
            <a:off x="6323648" y="3587750"/>
            <a:ext cx="5106165" cy="112613"/>
          </a:xfrm>
          <a:prstGeom prst="rect">
            <a:avLst/>
          </a:prstGeom>
          <a:noFill/>
          <a:ln/>
        </p:spPr>
        <p:txBody>
          <a:bodyPr wrap="none" lIns="0" tIns="0" rIns="0" bIns="0" rtlCol="0" anchor="t"/>
          <a:lstStyle/>
          <a:p>
            <a:pPr algn="l" indent="0" marL="0">
              <a:lnSpc>
                <a:spcPct val="100000"/>
              </a:lnSpc>
              <a:buNone/>
            </a:pPr>
            <a:r>
              <a:rPr lang="en-US" sz="700" dirty="0">
                <a:solidFill>
                  <a:srgbClr val="4C4C4D"/>
                </a:solidFill>
                <a:latin typeface="Heebo" pitchFamily="34" charset="0"/>
                <a:ea typeface="Heebo" pitchFamily="34" charset="-122"/>
                <a:cs typeface="Heebo" pitchFamily="34" charset="-120"/>
              </a:rPr>
              <a:t>Direct links to Allure report &amp; pipeline — duration included in every alert</a:t>
            </a:r>
            <a:endParaRPr lang="en-US" sz="700" dirty="0"/>
          </a:p>
        </p:txBody>
      </p:sp>
      <p:pic>
        <p:nvPicPr>
          <p:cNvPr id="43"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216891" y="3853855"/>
            <a:ext cx="5319679" cy="754658"/>
          </a:xfrm>
          <a:prstGeom prst="rect">
            <a:avLst/>
          </a:prstGeom>
        </p:spPr>
      </p:pic>
      <p:pic>
        <p:nvPicPr>
          <p:cNvPr id="44"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8806138" y="3937000"/>
            <a:ext cx="141086" cy="141089"/>
          </a:xfrm>
          <a:prstGeom prst="rect">
            <a:avLst/>
          </a:prstGeom>
        </p:spPr>
      </p:pic>
      <p:sp>
        <p:nvSpPr>
          <p:cNvPr id="45" name="Text 30"/>
          <p:cNvSpPr/>
          <p:nvPr/>
        </p:nvSpPr>
        <p:spPr>
          <a:xfrm>
            <a:off x="6323648" y="4195465"/>
            <a:ext cx="5106165" cy="146943"/>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Security Alerts</a:t>
            </a:r>
            <a:endParaRPr lang="en-US" sz="900" dirty="0"/>
          </a:p>
        </p:txBody>
      </p:sp>
      <p:sp>
        <p:nvSpPr>
          <p:cNvPr id="46" name="Text 31"/>
          <p:cNvSpPr/>
          <p:nvPr/>
        </p:nvSpPr>
        <p:spPr>
          <a:xfrm>
            <a:off x="6323648" y="4389140"/>
            <a:ext cx="5106165" cy="112613"/>
          </a:xfrm>
          <a:prstGeom prst="rect">
            <a:avLst/>
          </a:prstGeom>
          <a:noFill/>
          <a:ln/>
        </p:spPr>
        <p:txBody>
          <a:bodyPr wrap="none" lIns="0" tIns="0" rIns="0" bIns="0" rtlCol="0" anchor="t"/>
          <a:lstStyle/>
          <a:p>
            <a:pPr algn="l" indent="0" marL="0">
              <a:lnSpc>
                <a:spcPct val="100000"/>
              </a:lnSpc>
              <a:buNone/>
            </a:pPr>
            <a:r>
              <a:rPr lang="en-US" sz="700" dirty="0">
                <a:solidFill>
                  <a:srgbClr val="4C4C4D"/>
                </a:solidFill>
                <a:latin typeface="Heebo" pitchFamily="34" charset="0"/>
                <a:ea typeface="Heebo" pitchFamily="34" charset="-122"/>
                <a:cs typeface="Heebo" pitchFamily="34" charset="-120"/>
              </a:rPr>
              <a:t>High/Medium/Low vulnerability counts + ZAP HTML report &amp; k6 Web Vitals summary</a:t>
            </a:r>
            <a:endParaRPr lang="en-US" sz="700" dirty="0"/>
          </a:p>
        </p:txBody>
      </p:sp>
      <p:sp>
        <p:nvSpPr>
          <p:cNvPr id="47" name="Text 32"/>
          <p:cNvSpPr/>
          <p:nvPr/>
        </p:nvSpPr>
        <p:spPr>
          <a:xfrm>
            <a:off x="661475" y="4731246"/>
            <a:ext cx="10868745" cy="146943"/>
          </a:xfrm>
          <a:prstGeom prst="rect">
            <a:avLst/>
          </a:prstGeom>
          <a:noFill/>
          <a:ln/>
        </p:spPr>
        <p:txBody>
          <a:bodyPr wrap="none" lIns="0" tIns="0" rIns="0" bIns="0" rtlCol="0" anchor="t"/>
          <a:lstStyle/>
          <a:p>
            <a:pPr algn="l" indent="0" marL="0">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Coverage Across Projects — </a:t>
            </a:r>
            <a:pPr algn="l" indent="0" marL="0">
              <a:lnSpc>
                <a:spcPct val="104000"/>
              </a:lnSpc>
              <a:buNone/>
            </a:pPr>
            <a:r>
              <a:rPr lang="en-US" sz="900" dirty="0">
                <a:solidFill>
                  <a:srgbClr val="22C55E"/>
                </a:solidFill>
                <a:latin typeface="Crimson Pro SemiBold" pitchFamily="34" charset="0"/>
                <a:ea typeface="Crimson Pro SemiBold" pitchFamily="34" charset="-122"/>
                <a:cs typeface="Crimson Pro SemiBold" pitchFamily="34" charset="-120"/>
              </a:rPr>
              <a:t>200+ Automated Scenarios</a:t>
            </a:r>
            <a:endParaRPr lang="en-US" sz="900" dirty="0"/>
          </a:p>
        </p:txBody>
      </p:sp>
      <p:sp>
        <p:nvSpPr>
          <p:cNvPr id="48" name="Shape 33"/>
          <p:cNvSpPr/>
          <p:nvPr/>
        </p:nvSpPr>
        <p:spPr>
          <a:xfrm>
            <a:off x="661475" y="4948337"/>
            <a:ext cx="10868745" cy="1321098"/>
          </a:xfrm>
          <a:prstGeom prst="roundRect">
            <a:avLst>
              <a:gd name="adj" fmla="val 1068"/>
            </a:avLst>
          </a:prstGeom>
          <a:noFill/>
          <a:ln w="6350">
            <a:solidFill>
              <a:srgbClr val="000000">
                <a:alpha val="8000"/>
              </a:srgbClr>
            </a:solidFill>
            <a:prstDash val="solid"/>
          </a:ln>
        </p:spPr>
      </p:sp>
      <p:sp>
        <p:nvSpPr>
          <p:cNvPr id="49" name="Shape 34"/>
          <p:cNvSpPr/>
          <p:nvPr/>
        </p:nvSpPr>
        <p:spPr>
          <a:xfrm>
            <a:off x="661475" y="5139333"/>
            <a:ext cx="10868745" cy="6350"/>
          </a:xfrm>
          <a:prstGeom prst="rect">
            <a:avLst/>
          </a:prstGeom>
          <a:solidFill>
            <a:srgbClr val="000000">
              <a:alpha val="8000"/>
            </a:srgbClr>
          </a:solidFill>
          <a:ln/>
        </p:spPr>
      </p:sp>
      <p:sp>
        <p:nvSpPr>
          <p:cNvPr id="50" name="Shape 35"/>
          <p:cNvSpPr/>
          <p:nvPr/>
        </p:nvSpPr>
        <p:spPr>
          <a:xfrm>
            <a:off x="661475" y="5327154"/>
            <a:ext cx="10868745" cy="6350"/>
          </a:xfrm>
          <a:prstGeom prst="rect">
            <a:avLst/>
          </a:prstGeom>
          <a:solidFill>
            <a:srgbClr val="000000">
              <a:alpha val="8000"/>
            </a:srgbClr>
          </a:solidFill>
          <a:ln/>
        </p:spPr>
      </p:sp>
      <p:sp>
        <p:nvSpPr>
          <p:cNvPr id="51" name="Shape 36"/>
          <p:cNvSpPr/>
          <p:nvPr/>
        </p:nvSpPr>
        <p:spPr>
          <a:xfrm>
            <a:off x="661475" y="5514975"/>
            <a:ext cx="10868745" cy="6350"/>
          </a:xfrm>
          <a:prstGeom prst="rect">
            <a:avLst/>
          </a:prstGeom>
          <a:solidFill>
            <a:srgbClr val="000000">
              <a:alpha val="8000"/>
            </a:srgbClr>
          </a:solidFill>
          <a:ln/>
        </p:spPr>
      </p:sp>
      <p:sp>
        <p:nvSpPr>
          <p:cNvPr id="52" name="Shape 37"/>
          <p:cNvSpPr/>
          <p:nvPr/>
        </p:nvSpPr>
        <p:spPr>
          <a:xfrm>
            <a:off x="661475" y="5702796"/>
            <a:ext cx="10868745" cy="6350"/>
          </a:xfrm>
          <a:prstGeom prst="rect">
            <a:avLst/>
          </a:prstGeom>
          <a:solidFill>
            <a:srgbClr val="000000">
              <a:alpha val="8000"/>
            </a:srgbClr>
          </a:solidFill>
          <a:ln/>
        </p:spPr>
      </p:sp>
      <p:sp>
        <p:nvSpPr>
          <p:cNvPr id="53" name="Shape 38"/>
          <p:cNvSpPr/>
          <p:nvPr/>
        </p:nvSpPr>
        <p:spPr>
          <a:xfrm>
            <a:off x="661475" y="5890617"/>
            <a:ext cx="10868745" cy="6350"/>
          </a:xfrm>
          <a:prstGeom prst="rect">
            <a:avLst/>
          </a:prstGeom>
          <a:solidFill>
            <a:srgbClr val="000000">
              <a:alpha val="8000"/>
            </a:srgbClr>
          </a:solidFill>
          <a:ln/>
        </p:spPr>
      </p:sp>
      <p:sp>
        <p:nvSpPr>
          <p:cNvPr id="54" name="Shape 39"/>
          <p:cNvSpPr/>
          <p:nvPr/>
        </p:nvSpPr>
        <p:spPr>
          <a:xfrm>
            <a:off x="661475" y="6078438"/>
            <a:ext cx="10868745" cy="6350"/>
          </a:xfrm>
          <a:prstGeom prst="rect">
            <a:avLst/>
          </a:prstGeom>
          <a:solidFill>
            <a:srgbClr val="000000">
              <a:alpha val="8000"/>
            </a:srgbClr>
          </a:solidFill>
          <a:ln/>
        </p:spPr>
      </p:sp>
      <p:sp>
        <p:nvSpPr>
          <p:cNvPr id="55" name="Shape 40"/>
          <p:cNvSpPr/>
          <p:nvPr/>
        </p:nvSpPr>
        <p:spPr>
          <a:xfrm>
            <a:off x="3056357" y="4948337"/>
            <a:ext cx="6350" cy="1321098"/>
          </a:xfrm>
          <a:prstGeom prst="rect">
            <a:avLst/>
          </a:prstGeom>
          <a:solidFill>
            <a:srgbClr val="000000">
              <a:alpha val="8000"/>
            </a:srgbClr>
          </a:solidFill>
          <a:ln/>
        </p:spPr>
      </p:sp>
      <p:sp>
        <p:nvSpPr>
          <p:cNvPr id="56" name="Shape 41"/>
          <p:cNvSpPr/>
          <p:nvPr/>
        </p:nvSpPr>
        <p:spPr>
          <a:xfrm>
            <a:off x="4467609" y="4948337"/>
            <a:ext cx="6350" cy="1321098"/>
          </a:xfrm>
          <a:prstGeom prst="rect">
            <a:avLst/>
          </a:prstGeom>
          <a:solidFill>
            <a:srgbClr val="000000">
              <a:alpha val="8000"/>
            </a:srgbClr>
          </a:solidFill>
          <a:ln/>
        </p:spPr>
      </p:sp>
      <p:sp>
        <p:nvSpPr>
          <p:cNvPr id="57" name="Shape 42"/>
          <p:cNvSpPr/>
          <p:nvPr/>
        </p:nvSpPr>
        <p:spPr>
          <a:xfrm>
            <a:off x="5878862" y="4948337"/>
            <a:ext cx="6350" cy="1321098"/>
          </a:xfrm>
          <a:prstGeom prst="rect">
            <a:avLst/>
          </a:prstGeom>
          <a:solidFill>
            <a:srgbClr val="000000">
              <a:alpha val="8000"/>
            </a:srgbClr>
          </a:solidFill>
          <a:ln/>
        </p:spPr>
      </p:sp>
      <p:sp>
        <p:nvSpPr>
          <p:cNvPr id="58" name="Shape 43"/>
          <p:cNvSpPr/>
          <p:nvPr/>
        </p:nvSpPr>
        <p:spPr>
          <a:xfrm>
            <a:off x="7290114" y="4948337"/>
            <a:ext cx="6350" cy="1321098"/>
          </a:xfrm>
          <a:prstGeom prst="rect">
            <a:avLst/>
          </a:prstGeom>
          <a:solidFill>
            <a:srgbClr val="000000">
              <a:alpha val="8000"/>
            </a:srgbClr>
          </a:solidFill>
          <a:ln/>
        </p:spPr>
      </p:sp>
      <p:sp>
        <p:nvSpPr>
          <p:cNvPr id="59" name="Shape 44"/>
          <p:cNvSpPr/>
          <p:nvPr/>
        </p:nvSpPr>
        <p:spPr>
          <a:xfrm>
            <a:off x="8701366" y="4948337"/>
            <a:ext cx="6350" cy="1321098"/>
          </a:xfrm>
          <a:prstGeom prst="rect">
            <a:avLst/>
          </a:prstGeom>
          <a:solidFill>
            <a:srgbClr val="000000">
              <a:alpha val="8000"/>
            </a:srgbClr>
          </a:solidFill>
          <a:ln/>
        </p:spPr>
      </p:sp>
      <p:sp>
        <p:nvSpPr>
          <p:cNvPr id="60" name="Shape 45"/>
          <p:cNvSpPr/>
          <p:nvPr/>
        </p:nvSpPr>
        <p:spPr>
          <a:xfrm>
            <a:off x="10112618" y="4948337"/>
            <a:ext cx="6350" cy="1321098"/>
          </a:xfrm>
          <a:prstGeom prst="rect">
            <a:avLst/>
          </a:prstGeom>
          <a:solidFill>
            <a:srgbClr val="000000">
              <a:alpha val="8000"/>
            </a:srgbClr>
          </a:solidFill>
          <a:ln/>
        </p:spPr>
      </p:sp>
      <p:sp>
        <p:nvSpPr>
          <p:cNvPr id="61" name="Shape 46"/>
          <p:cNvSpPr/>
          <p:nvPr/>
        </p:nvSpPr>
        <p:spPr>
          <a:xfrm>
            <a:off x="668122" y="4954687"/>
            <a:ext cx="2388235" cy="184646"/>
          </a:xfrm>
          <a:custGeom>
            <a:avLst/>
            <a:gdLst/>
            <a:ahLst/>
            <a:cxnLst/>
            <a:rect l="l" t="t" r="r" b="b"/>
            <a:pathLst>
              <a:path w="2388235" h="184646">
                <a:moveTo>
                  <a:pt x="11758" y="0"/>
                </a:moveTo>
                <a:lnTo>
                  <a:pt x="2388235" y="0"/>
                </a:lnTo>
                <a:lnTo>
                  <a:pt x="2388235" y="184646"/>
                </a:lnTo>
                <a:lnTo>
                  <a:pt x="0" y="184646"/>
                </a:lnTo>
                <a:lnTo>
                  <a:pt x="0" y="11759"/>
                </a:lnTo>
                <a:arcTo hR="11759" wR="11758" stAng="10800000" swAng="5400000"/>
                <a:close/>
              </a:path>
            </a:pathLst>
          </a:custGeom>
          <a:solidFill>
            <a:srgbClr val="1E3A5F"/>
          </a:solidFill>
          <a:ln/>
        </p:spPr>
      </p:sp>
      <p:sp>
        <p:nvSpPr>
          <p:cNvPr id="62" name="Text 47"/>
          <p:cNvSpPr/>
          <p:nvPr/>
        </p:nvSpPr>
        <p:spPr>
          <a:xfrm>
            <a:off x="762179" y="4989116"/>
            <a:ext cx="2806531" cy="112613"/>
          </a:xfrm>
          <a:prstGeom prst="rect">
            <a:avLst/>
          </a:prstGeom>
          <a:noFill/>
          <a:ln/>
        </p:spPr>
        <p:txBody>
          <a:bodyPr wrap="none" lIns="0" tIns="0" rIns="0" bIns="0" rtlCol="0" anchor="t"/>
          <a:lstStyle/>
          <a:p>
            <a:pPr algn="l" indent="0" marL="0">
              <a:lnSpc>
                <a:spcPct val="100000"/>
              </a:lnSpc>
              <a:buNone/>
            </a:pPr>
            <a:r>
              <a:rPr lang="en-US" sz="700" b="1" dirty="0">
                <a:solidFill>
                  <a:srgbClr val="FFFFFF"/>
                </a:solidFill>
                <a:latin typeface="Heebo Bold" pitchFamily="34" charset="0"/>
                <a:ea typeface="Heebo Bold" pitchFamily="34" charset="-122"/>
                <a:cs typeface="Heebo Bold" pitchFamily="34" charset="-120"/>
              </a:rPr>
              <a:t>Project</a:t>
            </a:r>
            <a:endParaRPr lang="en-US" sz="700" dirty="0"/>
          </a:p>
        </p:txBody>
      </p:sp>
      <p:sp>
        <p:nvSpPr>
          <p:cNvPr id="63" name="Shape 48"/>
          <p:cNvSpPr/>
          <p:nvPr/>
        </p:nvSpPr>
        <p:spPr>
          <a:xfrm>
            <a:off x="3056357" y="4954687"/>
            <a:ext cx="1411252" cy="184646"/>
          </a:xfrm>
          <a:prstGeom prst="rect">
            <a:avLst/>
          </a:prstGeom>
          <a:solidFill>
            <a:srgbClr val="1E3A5F"/>
          </a:solidFill>
          <a:ln/>
        </p:spPr>
      </p:sp>
      <p:sp>
        <p:nvSpPr>
          <p:cNvPr id="64" name="Text 49"/>
          <p:cNvSpPr/>
          <p:nvPr/>
        </p:nvSpPr>
        <p:spPr>
          <a:xfrm>
            <a:off x="2848797" y="4989116"/>
            <a:ext cx="1826373" cy="112613"/>
          </a:xfrm>
          <a:prstGeom prst="rect">
            <a:avLst/>
          </a:prstGeom>
          <a:noFill/>
          <a:ln/>
        </p:spPr>
        <p:txBody>
          <a:bodyPr wrap="none" lIns="0" tIns="0" rIns="0" bIns="0" rtlCol="0" anchor="t"/>
          <a:lstStyle/>
          <a:p>
            <a:pPr algn="ctr" indent="0" marL="0">
              <a:lnSpc>
                <a:spcPct val="100000"/>
              </a:lnSpc>
              <a:buNone/>
            </a:pPr>
            <a:r>
              <a:rPr lang="en-US" sz="700" b="1" dirty="0">
                <a:solidFill>
                  <a:srgbClr val="FFFFFF"/>
                </a:solidFill>
                <a:latin typeface="Heebo Bold" pitchFamily="34" charset="0"/>
                <a:ea typeface="Heebo Bold" pitchFamily="34" charset="-122"/>
                <a:cs typeface="Heebo Bold" pitchFamily="34" charset="-120"/>
              </a:rPr>
              <a:t>E2E UI</a:t>
            </a:r>
            <a:endParaRPr lang="en-US" sz="700" dirty="0"/>
          </a:p>
        </p:txBody>
      </p:sp>
      <p:sp>
        <p:nvSpPr>
          <p:cNvPr id="65" name="Shape 50"/>
          <p:cNvSpPr/>
          <p:nvPr/>
        </p:nvSpPr>
        <p:spPr>
          <a:xfrm>
            <a:off x="4467609" y="4954687"/>
            <a:ext cx="1411252" cy="184646"/>
          </a:xfrm>
          <a:prstGeom prst="rect">
            <a:avLst/>
          </a:prstGeom>
          <a:solidFill>
            <a:srgbClr val="1E3A5F"/>
          </a:solidFill>
          <a:ln/>
        </p:spPr>
      </p:sp>
      <p:sp>
        <p:nvSpPr>
          <p:cNvPr id="66" name="Text 51"/>
          <p:cNvSpPr/>
          <p:nvPr/>
        </p:nvSpPr>
        <p:spPr>
          <a:xfrm>
            <a:off x="4260049" y="4989116"/>
            <a:ext cx="1826373" cy="112613"/>
          </a:xfrm>
          <a:prstGeom prst="rect">
            <a:avLst/>
          </a:prstGeom>
          <a:noFill/>
          <a:ln/>
        </p:spPr>
        <p:txBody>
          <a:bodyPr wrap="none" lIns="0" tIns="0" rIns="0" bIns="0" rtlCol="0" anchor="t"/>
          <a:lstStyle/>
          <a:p>
            <a:pPr algn="ctr" indent="0" marL="0">
              <a:lnSpc>
                <a:spcPct val="100000"/>
              </a:lnSpc>
              <a:buNone/>
            </a:pPr>
            <a:r>
              <a:rPr lang="en-US" sz="700" b="1" dirty="0">
                <a:solidFill>
                  <a:srgbClr val="FFFFFF"/>
                </a:solidFill>
                <a:latin typeface="Heebo Bold" pitchFamily="34" charset="0"/>
                <a:ea typeface="Heebo Bold" pitchFamily="34" charset="-122"/>
                <a:cs typeface="Heebo Bold" pitchFamily="34" charset="-120"/>
              </a:rPr>
              <a:t>API</a:t>
            </a:r>
            <a:endParaRPr lang="en-US" sz="700" dirty="0"/>
          </a:p>
        </p:txBody>
      </p:sp>
      <p:sp>
        <p:nvSpPr>
          <p:cNvPr id="67" name="Shape 52"/>
          <p:cNvSpPr/>
          <p:nvPr/>
        </p:nvSpPr>
        <p:spPr>
          <a:xfrm>
            <a:off x="5878862" y="4954687"/>
            <a:ext cx="1411252" cy="184646"/>
          </a:xfrm>
          <a:prstGeom prst="rect">
            <a:avLst/>
          </a:prstGeom>
          <a:solidFill>
            <a:srgbClr val="1E3A5F"/>
          </a:solidFill>
          <a:ln/>
        </p:spPr>
      </p:sp>
      <p:sp>
        <p:nvSpPr>
          <p:cNvPr id="68" name="Text 53"/>
          <p:cNvSpPr/>
          <p:nvPr/>
        </p:nvSpPr>
        <p:spPr>
          <a:xfrm>
            <a:off x="5671301" y="4989116"/>
            <a:ext cx="1826373" cy="112613"/>
          </a:xfrm>
          <a:prstGeom prst="rect">
            <a:avLst/>
          </a:prstGeom>
          <a:noFill/>
          <a:ln/>
        </p:spPr>
        <p:txBody>
          <a:bodyPr wrap="none" lIns="0" tIns="0" rIns="0" bIns="0" rtlCol="0" anchor="t"/>
          <a:lstStyle/>
          <a:p>
            <a:pPr algn="ctr" indent="0" marL="0">
              <a:lnSpc>
                <a:spcPct val="100000"/>
              </a:lnSpc>
              <a:buNone/>
            </a:pPr>
            <a:r>
              <a:rPr lang="en-US" sz="700" b="1" dirty="0">
                <a:solidFill>
                  <a:srgbClr val="FFFFFF"/>
                </a:solidFill>
                <a:latin typeface="Heebo Bold" pitchFamily="34" charset="0"/>
                <a:ea typeface="Heebo Bold" pitchFamily="34" charset="-122"/>
                <a:cs typeface="Heebo Bold" pitchFamily="34" charset="-120"/>
              </a:rPr>
              <a:t>ZAP</a:t>
            </a:r>
            <a:endParaRPr lang="en-US" sz="700" dirty="0"/>
          </a:p>
        </p:txBody>
      </p:sp>
      <p:sp>
        <p:nvSpPr>
          <p:cNvPr id="69" name="Shape 54"/>
          <p:cNvSpPr/>
          <p:nvPr/>
        </p:nvSpPr>
        <p:spPr>
          <a:xfrm>
            <a:off x="7290114" y="4954687"/>
            <a:ext cx="1411252" cy="184646"/>
          </a:xfrm>
          <a:prstGeom prst="rect">
            <a:avLst/>
          </a:prstGeom>
          <a:solidFill>
            <a:srgbClr val="1E3A5F"/>
          </a:solidFill>
          <a:ln/>
        </p:spPr>
      </p:sp>
      <p:sp>
        <p:nvSpPr>
          <p:cNvPr id="70" name="Text 55"/>
          <p:cNvSpPr/>
          <p:nvPr/>
        </p:nvSpPr>
        <p:spPr>
          <a:xfrm>
            <a:off x="7082553" y="4989116"/>
            <a:ext cx="1826373" cy="112613"/>
          </a:xfrm>
          <a:prstGeom prst="rect">
            <a:avLst/>
          </a:prstGeom>
          <a:noFill/>
          <a:ln/>
        </p:spPr>
        <p:txBody>
          <a:bodyPr wrap="none" lIns="0" tIns="0" rIns="0" bIns="0" rtlCol="0" anchor="t"/>
          <a:lstStyle/>
          <a:p>
            <a:pPr algn="ctr" indent="0" marL="0">
              <a:lnSpc>
                <a:spcPct val="100000"/>
              </a:lnSpc>
              <a:buNone/>
            </a:pPr>
            <a:r>
              <a:rPr lang="en-US" sz="700" b="1" dirty="0">
                <a:solidFill>
                  <a:srgbClr val="FFFFFF"/>
                </a:solidFill>
                <a:latin typeface="Heebo Bold" pitchFamily="34" charset="0"/>
                <a:ea typeface="Heebo Bold" pitchFamily="34" charset="-122"/>
                <a:cs typeface="Heebo Bold" pitchFamily="34" charset="-120"/>
              </a:rPr>
              <a:t>k6</a:t>
            </a:r>
            <a:endParaRPr lang="en-US" sz="700" dirty="0"/>
          </a:p>
        </p:txBody>
      </p:sp>
      <p:sp>
        <p:nvSpPr>
          <p:cNvPr id="71" name="Shape 56"/>
          <p:cNvSpPr/>
          <p:nvPr/>
        </p:nvSpPr>
        <p:spPr>
          <a:xfrm>
            <a:off x="8701366" y="4954687"/>
            <a:ext cx="1411252" cy="184646"/>
          </a:xfrm>
          <a:prstGeom prst="rect">
            <a:avLst/>
          </a:prstGeom>
          <a:solidFill>
            <a:srgbClr val="1E3A5F"/>
          </a:solidFill>
          <a:ln/>
        </p:spPr>
      </p:sp>
      <p:sp>
        <p:nvSpPr>
          <p:cNvPr id="72" name="Text 57"/>
          <p:cNvSpPr/>
          <p:nvPr/>
        </p:nvSpPr>
        <p:spPr>
          <a:xfrm>
            <a:off x="8493805" y="4989116"/>
            <a:ext cx="1826373" cy="112613"/>
          </a:xfrm>
          <a:prstGeom prst="rect">
            <a:avLst/>
          </a:prstGeom>
          <a:noFill/>
          <a:ln/>
        </p:spPr>
        <p:txBody>
          <a:bodyPr wrap="none" lIns="0" tIns="0" rIns="0" bIns="0" rtlCol="0" anchor="t"/>
          <a:lstStyle/>
          <a:p>
            <a:pPr algn="ctr" indent="0" marL="0">
              <a:lnSpc>
                <a:spcPct val="100000"/>
              </a:lnSpc>
              <a:buNone/>
            </a:pPr>
            <a:r>
              <a:rPr lang="en-US" sz="700" b="1" dirty="0">
                <a:solidFill>
                  <a:srgbClr val="FFFFFF"/>
                </a:solidFill>
                <a:latin typeface="Heebo Bold" pitchFamily="34" charset="0"/>
                <a:ea typeface="Heebo Bold" pitchFamily="34" charset="-122"/>
                <a:cs typeface="Heebo Bold" pitchFamily="34" charset="-120"/>
              </a:rPr>
              <a:t>BrowserStack</a:t>
            </a:r>
            <a:endParaRPr lang="en-US" sz="700" dirty="0"/>
          </a:p>
        </p:txBody>
      </p:sp>
      <p:sp>
        <p:nvSpPr>
          <p:cNvPr id="73" name="Shape 58"/>
          <p:cNvSpPr/>
          <p:nvPr/>
        </p:nvSpPr>
        <p:spPr>
          <a:xfrm>
            <a:off x="10112618" y="4954687"/>
            <a:ext cx="1411252" cy="184646"/>
          </a:xfrm>
          <a:custGeom>
            <a:avLst/>
            <a:gdLst/>
            <a:ahLst/>
            <a:cxnLst/>
            <a:rect l="l" t="t" r="r" b="b"/>
            <a:pathLst>
              <a:path w="1411252" h="184646">
                <a:moveTo>
                  <a:pt x="0" y="0"/>
                </a:moveTo>
                <a:lnTo>
                  <a:pt x="1399494" y="0"/>
                </a:lnTo>
                <a:arcTo hR="11759" wR="11758" stAng="16200000" swAng="5400000"/>
                <a:lnTo>
                  <a:pt x="1411252" y="184646"/>
                </a:lnTo>
                <a:lnTo>
                  <a:pt x="0" y="184646"/>
                </a:lnTo>
                <a:lnTo>
                  <a:pt x="0" y="0"/>
                </a:lnTo>
                <a:close/>
              </a:path>
            </a:pathLst>
          </a:custGeom>
          <a:solidFill>
            <a:srgbClr val="1E3A5F"/>
          </a:solidFill>
          <a:ln/>
        </p:spPr>
      </p:sp>
      <p:sp>
        <p:nvSpPr>
          <p:cNvPr id="74" name="Text 59"/>
          <p:cNvSpPr/>
          <p:nvPr/>
        </p:nvSpPr>
        <p:spPr>
          <a:xfrm>
            <a:off x="9905058" y="4989116"/>
            <a:ext cx="1829548" cy="112613"/>
          </a:xfrm>
          <a:prstGeom prst="rect">
            <a:avLst/>
          </a:prstGeom>
          <a:noFill/>
          <a:ln/>
        </p:spPr>
        <p:txBody>
          <a:bodyPr wrap="none" lIns="0" tIns="0" rIns="0" bIns="0" rtlCol="0" anchor="t"/>
          <a:lstStyle/>
          <a:p>
            <a:pPr algn="ctr" indent="0" marL="0">
              <a:lnSpc>
                <a:spcPct val="100000"/>
              </a:lnSpc>
              <a:buNone/>
            </a:pPr>
            <a:r>
              <a:rPr lang="en-US" sz="700" b="1" dirty="0">
                <a:solidFill>
                  <a:srgbClr val="FFFFFF"/>
                </a:solidFill>
                <a:latin typeface="Heebo Bold" pitchFamily="34" charset="0"/>
                <a:ea typeface="Heebo Bold" pitchFamily="34" charset="-122"/>
                <a:cs typeface="Heebo Bold" pitchFamily="34" charset="-120"/>
              </a:rPr>
              <a:t>Slack</a:t>
            </a:r>
            <a:endParaRPr lang="en-US" sz="700" dirty="0"/>
          </a:p>
        </p:txBody>
      </p:sp>
      <p:sp>
        <p:nvSpPr>
          <p:cNvPr id="75" name="Text 60"/>
          <p:cNvSpPr/>
          <p:nvPr/>
        </p:nvSpPr>
        <p:spPr>
          <a:xfrm>
            <a:off x="762179" y="5176937"/>
            <a:ext cx="2806531" cy="112613"/>
          </a:xfrm>
          <a:prstGeom prst="rect">
            <a:avLst/>
          </a:prstGeom>
          <a:noFill/>
          <a:ln/>
        </p:spPr>
        <p:txBody>
          <a:bodyPr wrap="none" lIns="0" tIns="0" rIns="0" bIns="0" rtlCol="0" anchor="t"/>
          <a:lstStyle/>
          <a:p>
            <a:pPr algn="l" indent="0" marL="0">
              <a:lnSpc>
                <a:spcPct val="100000"/>
              </a:lnSpc>
              <a:buNone/>
            </a:pPr>
            <a:r>
              <a:rPr lang="en-US" sz="700" b="1" dirty="0">
                <a:solidFill>
                  <a:srgbClr val="4C4C4D"/>
                </a:solidFill>
                <a:latin typeface="Heebo Bold" pitchFamily="34" charset="0"/>
                <a:ea typeface="Heebo Bold" pitchFamily="34" charset="-122"/>
                <a:cs typeface="Heebo Bold" pitchFamily="34" charset="-120"/>
              </a:rPr>
              <a:t>Enforcement</a:t>
            </a:r>
            <a:endParaRPr lang="en-US" sz="700" dirty="0"/>
          </a:p>
        </p:txBody>
      </p:sp>
      <p:sp>
        <p:nvSpPr>
          <p:cNvPr id="76" name="Text 61"/>
          <p:cNvSpPr/>
          <p:nvPr/>
        </p:nvSpPr>
        <p:spPr>
          <a:xfrm>
            <a:off x="2848797" y="5176937"/>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77" name="Text 62"/>
          <p:cNvSpPr/>
          <p:nvPr/>
        </p:nvSpPr>
        <p:spPr>
          <a:xfrm>
            <a:off x="4260049" y="5176937"/>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78" name="Text 63"/>
          <p:cNvSpPr/>
          <p:nvPr/>
        </p:nvSpPr>
        <p:spPr>
          <a:xfrm>
            <a:off x="5671301" y="5176937"/>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79" name="Text 64"/>
          <p:cNvSpPr/>
          <p:nvPr/>
        </p:nvSpPr>
        <p:spPr>
          <a:xfrm>
            <a:off x="7082553" y="5176937"/>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80" name="Text 65"/>
          <p:cNvSpPr/>
          <p:nvPr/>
        </p:nvSpPr>
        <p:spPr>
          <a:xfrm>
            <a:off x="8493805" y="5176937"/>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81" name="Text 66"/>
          <p:cNvSpPr/>
          <p:nvPr/>
        </p:nvSpPr>
        <p:spPr>
          <a:xfrm>
            <a:off x="9905058" y="5176937"/>
            <a:ext cx="1829548"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82" name="Text 67"/>
          <p:cNvSpPr/>
          <p:nvPr/>
        </p:nvSpPr>
        <p:spPr>
          <a:xfrm>
            <a:off x="762179" y="5364758"/>
            <a:ext cx="2806531" cy="112613"/>
          </a:xfrm>
          <a:prstGeom prst="rect">
            <a:avLst/>
          </a:prstGeom>
          <a:noFill/>
          <a:ln/>
        </p:spPr>
        <p:txBody>
          <a:bodyPr wrap="none" lIns="0" tIns="0" rIns="0" bIns="0" rtlCol="0" anchor="t"/>
          <a:lstStyle/>
          <a:p>
            <a:pPr algn="l" indent="0" marL="0">
              <a:lnSpc>
                <a:spcPct val="100000"/>
              </a:lnSpc>
              <a:buNone/>
            </a:pPr>
            <a:r>
              <a:rPr lang="en-US" sz="700" b="1" dirty="0">
                <a:solidFill>
                  <a:srgbClr val="4C4C4D"/>
                </a:solidFill>
                <a:latin typeface="Heebo Bold" pitchFamily="34" charset="0"/>
                <a:ea typeface="Heebo Bold" pitchFamily="34" charset="-122"/>
                <a:cs typeface="Heebo Bold" pitchFamily="34" charset="-120"/>
              </a:rPr>
              <a:t>Get Help Apply</a:t>
            </a:r>
            <a:endParaRPr lang="en-US" sz="700" dirty="0"/>
          </a:p>
        </p:txBody>
      </p:sp>
      <p:sp>
        <p:nvSpPr>
          <p:cNvPr id="83" name="Text 68"/>
          <p:cNvSpPr/>
          <p:nvPr/>
        </p:nvSpPr>
        <p:spPr>
          <a:xfrm>
            <a:off x="2848797" y="5364758"/>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84" name="Text 69"/>
          <p:cNvSpPr/>
          <p:nvPr/>
        </p:nvSpPr>
        <p:spPr>
          <a:xfrm>
            <a:off x="4260049" y="5364758"/>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85" name="Text 70"/>
          <p:cNvSpPr/>
          <p:nvPr/>
        </p:nvSpPr>
        <p:spPr>
          <a:xfrm>
            <a:off x="5671301" y="5364758"/>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4C4C4D"/>
                </a:solidFill>
                <a:latin typeface="Heebo" pitchFamily="34" charset="0"/>
                <a:ea typeface="Heebo" pitchFamily="34" charset="-122"/>
                <a:cs typeface="Heebo" pitchFamily="34" charset="-120"/>
              </a:rPr>
              <a:t>—</a:t>
            </a:r>
            <a:endParaRPr lang="en-US" sz="700" dirty="0"/>
          </a:p>
        </p:txBody>
      </p:sp>
      <p:sp>
        <p:nvSpPr>
          <p:cNvPr id="86" name="Text 71"/>
          <p:cNvSpPr/>
          <p:nvPr/>
        </p:nvSpPr>
        <p:spPr>
          <a:xfrm>
            <a:off x="7082553" y="5364758"/>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87" name="Text 72"/>
          <p:cNvSpPr/>
          <p:nvPr/>
        </p:nvSpPr>
        <p:spPr>
          <a:xfrm>
            <a:off x="8493805" y="5364758"/>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88" name="Text 73"/>
          <p:cNvSpPr/>
          <p:nvPr/>
        </p:nvSpPr>
        <p:spPr>
          <a:xfrm>
            <a:off x="9905058" y="5364758"/>
            <a:ext cx="1829548"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89" name="Text 74"/>
          <p:cNvSpPr/>
          <p:nvPr/>
        </p:nvSpPr>
        <p:spPr>
          <a:xfrm>
            <a:off x="762179" y="5552579"/>
            <a:ext cx="2806531" cy="112613"/>
          </a:xfrm>
          <a:prstGeom prst="rect">
            <a:avLst/>
          </a:prstGeom>
          <a:noFill/>
          <a:ln/>
        </p:spPr>
        <p:txBody>
          <a:bodyPr wrap="none" lIns="0" tIns="0" rIns="0" bIns="0" rtlCol="0" anchor="t"/>
          <a:lstStyle/>
          <a:p>
            <a:pPr algn="l" indent="0" marL="0">
              <a:lnSpc>
                <a:spcPct val="100000"/>
              </a:lnSpc>
              <a:buNone/>
            </a:pPr>
            <a:r>
              <a:rPr lang="en-US" sz="700" b="1" dirty="0">
                <a:solidFill>
                  <a:srgbClr val="4C4C4D"/>
                </a:solidFill>
                <a:latin typeface="Heebo Bold" pitchFamily="34" charset="0"/>
                <a:ea typeface="Heebo Bold" pitchFamily="34" charset="-122"/>
                <a:cs typeface="Heebo Bold" pitchFamily="34" charset="-120"/>
              </a:rPr>
              <a:t>Respond</a:t>
            </a:r>
            <a:endParaRPr lang="en-US" sz="700" dirty="0"/>
          </a:p>
        </p:txBody>
      </p:sp>
      <p:sp>
        <p:nvSpPr>
          <p:cNvPr id="90" name="Text 75"/>
          <p:cNvSpPr/>
          <p:nvPr/>
        </p:nvSpPr>
        <p:spPr>
          <a:xfrm>
            <a:off x="2848797" y="5552579"/>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91" name="Text 76"/>
          <p:cNvSpPr/>
          <p:nvPr/>
        </p:nvSpPr>
        <p:spPr>
          <a:xfrm>
            <a:off x="4260049" y="5552579"/>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4C4C4D"/>
                </a:solidFill>
                <a:latin typeface="Heebo" pitchFamily="34" charset="0"/>
                <a:ea typeface="Heebo" pitchFamily="34" charset="-122"/>
                <a:cs typeface="Heebo" pitchFamily="34" charset="-120"/>
              </a:rPr>
              <a:t>—</a:t>
            </a:r>
            <a:endParaRPr lang="en-US" sz="700" dirty="0"/>
          </a:p>
        </p:txBody>
      </p:sp>
      <p:sp>
        <p:nvSpPr>
          <p:cNvPr id="92" name="Text 77"/>
          <p:cNvSpPr/>
          <p:nvPr/>
        </p:nvSpPr>
        <p:spPr>
          <a:xfrm>
            <a:off x="5671301" y="5552579"/>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93" name="Text 78"/>
          <p:cNvSpPr/>
          <p:nvPr/>
        </p:nvSpPr>
        <p:spPr>
          <a:xfrm>
            <a:off x="7082553" y="5552579"/>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94" name="Text 79"/>
          <p:cNvSpPr/>
          <p:nvPr/>
        </p:nvSpPr>
        <p:spPr>
          <a:xfrm>
            <a:off x="8493805" y="5552579"/>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95" name="Text 80"/>
          <p:cNvSpPr/>
          <p:nvPr/>
        </p:nvSpPr>
        <p:spPr>
          <a:xfrm>
            <a:off x="9905058" y="5552579"/>
            <a:ext cx="1829548"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96" name="Text 81"/>
          <p:cNvSpPr/>
          <p:nvPr/>
        </p:nvSpPr>
        <p:spPr>
          <a:xfrm>
            <a:off x="762179" y="5740400"/>
            <a:ext cx="2806531" cy="112613"/>
          </a:xfrm>
          <a:prstGeom prst="rect">
            <a:avLst/>
          </a:prstGeom>
          <a:noFill/>
          <a:ln/>
        </p:spPr>
        <p:txBody>
          <a:bodyPr wrap="none" lIns="0" tIns="0" rIns="0" bIns="0" rtlCol="0" anchor="t"/>
          <a:lstStyle/>
          <a:p>
            <a:pPr algn="l" indent="0" marL="0">
              <a:lnSpc>
                <a:spcPct val="100000"/>
              </a:lnSpc>
              <a:buNone/>
            </a:pPr>
            <a:r>
              <a:rPr lang="en-US" sz="700" b="1" dirty="0">
                <a:solidFill>
                  <a:srgbClr val="4C4C4D"/>
                </a:solidFill>
                <a:latin typeface="Heebo Bold" pitchFamily="34" charset="0"/>
                <a:ea typeface="Heebo Bold" pitchFamily="34" charset="-122"/>
                <a:cs typeface="Heebo Bold" pitchFamily="34" charset="-120"/>
              </a:rPr>
              <a:t>Online Revive</a:t>
            </a:r>
            <a:endParaRPr lang="en-US" sz="700" dirty="0"/>
          </a:p>
        </p:txBody>
      </p:sp>
      <p:sp>
        <p:nvSpPr>
          <p:cNvPr id="97" name="Text 82"/>
          <p:cNvSpPr/>
          <p:nvPr/>
        </p:nvSpPr>
        <p:spPr>
          <a:xfrm>
            <a:off x="2848797" y="5740400"/>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98" name="Text 83"/>
          <p:cNvSpPr/>
          <p:nvPr/>
        </p:nvSpPr>
        <p:spPr>
          <a:xfrm>
            <a:off x="4260049" y="5740400"/>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99" name="Text 84"/>
          <p:cNvSpPr/>
          <p:nvPr/>
        </p:nvSpPr>
        <p:spPr>
          <a:xfrm>
            <a:off x="5671301" y="5740400"/>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4C4C4D"/>
                </a:solidFill>
                <a:latin typeface="Heebo" pitchFamily="34" charset="0"/>
                <a:ea typeface="Heebo" pitchFamily="34" charset="-122"/>
                <a:cs typeface="Heebo" pitchFamily="34" charset="-120"/>
              </a:rPr>
              <a:t>—</a:t>
            </a:r>
            <a:endParaRPr lang="en-US" sz="700" dirty="0"/>
          </a:p>
        </p:txBody>
      </p:sp>
      <p:sp>
        <p:nvSpPr>
          <p:cNvPr id="100" name="Text 85"/>
          <p:cNvSpPr/>
          <p:nvPr/>
        </p:nvSpPr>
        <p:spPr>
          <a:xfrm>
            <a:off x="7082553" y="5740400"/>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101" name="Text 86"/>
          <p:cNvSpPr/>
          <p:nvPr/>
        </p:nvSpPr>
        <p:spPr>
          <a:xfrm>
            <a:off x="8493805" y="5740400"/>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102" name="Text 87"/>
          <p:cNvSpPr/>
          <p:nvPr/>
        </p:nvSpPr>
        <p:spPr>
          <a:xfrm>
            <a:off x="9905058" y="5740400"/>
            <a:ext cx="1829548"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103" name="Text 88"/>
          <p:cNvSpPr/>
          <p:nvPr/>
        </p:nvSpPr>
        <p:spPr>
          <a:xfrm>
            <a:off x="762179" y="5928221"/>
            <a:ext cx="2806531" cy="112613"/>
          </a:xfrm>
          <a:prstGeom prst="rect">
            <a:avLst/>
          </a:prstGeom>
          <a:noFill/>
          <a:ln/>
        </p:spPr>
        <p:txBody>
          <a:bodyPr wrap="none" lIns="0" tIns="0" rIns="0" bIns="0" rtlCol="0" anchor="t"/>
          <a:lstStyle/>
          <a:p>
            <a:pPr algn="l" indent="0" marL="0">
              <a:lnSpc>
                <a:spcPct val="100000"/>
              </a:lnSpc>
              <a:buNone/>
            </a:pPr>
            <a:r>
              <a:rPr lang="en-US" sz="700" b="1" dirty="0">
                <a:solidFill>
                  <a:srgbClr val="4C4C4D"/>
                </a:solidFill>
                <a:latin typeface="Heebo Bold" pitchFamily="34" charset="0"/>
                <a:ea typeface="Heebo Bold" pitchFamily="34" charset="-122"/>
                <a:cs typeface="Heebo Bold" pitchFamily="34" charset="-120"/>
              </a:rPr>
              <a:t>Maternity</a:t>
            </a:r>
            <a:endParaRPr lang="en-US" sz="700" dirty="0"/>
          </a:p>
        </p:txBody>
      </p:sp>
      <p:sp>
        <p:nvSpPr>
          <p:cNvPr id="104" name="Text 89"/>
          <p:cNvSpPr/>
          <p:nvPr/>
        </p:nvSpPr>
        <p:spPr>
          <a:xfrm>
            <a:off x="2848797" y="5928221"/>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105" name="Text 90"/>
          <p:cNvSpPr/>
          <p:nvPr/>
        </p:nvSpPr>
        <p:spPr>
          <a:xfrm>
            <a:off x="4260049" y="5928221"/>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4C4C4D"/>
                </a:solidFill>
                <a:latin typeface="Heebo" pitchFamily="34" charset="0"/>
                <a:ea typeface="Heebo" pitchFamily="34" charset="-122"/>
                <a:cs typeface="Heebo" pitchFamily="34" charset="-120"/>
              </a:rPr>
              <a:t>—</a:t>
            </a:r>
            <a:endParaRPr lang="en-US" sz="700" dirty="0"/>
          </a:p>
        </p:txBody>
      </p:sp>
      <p:sp>
        <p:nvSpPr>
          <p:cNvPr id="106" name="Text 91"/>
          <p:cNvSpPr/>
          <p:nvPr/>
        </p:nvSpPr>
        <p:spPr>
          <a:xfrm>
            <a:off x="5671301" y="5928221"/>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107" name="Text 92"/>
          <p:cNvSpPr/>
          <p:nvPr/>
        </p:nvSpPr>
        <p:spPr>
          <a:xfrm>
            <a:off x="7082553" y="5928221"/>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108" name="Text 93"/>
          <p:cNvSpPr/>
          <p:nvPr/>
        </p:nvSpPr>
        <p:spPr>
          <a:xfrm>
            <a:off x="8493805" y="5928221"/>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109" name="Text 94"/>
          <p:cNvSpPr/>
          <p:nvPr/>
        </p:nvSpPr>
        <p:spPr>
          <a:xfrm>
            <a:off x="9905058" y="5928221"/>
            <a:ext cx="1829548"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110" name="Text 95"/>
          <p:cNvSpPr/>
          <p:nvPr/>
        </p:nvSpPr>
        <p:spPr>
          <a:xfrm>
            <a:off x="762179" y="6116042"/>
            <a:ext cx="2806531" cy="112613"/>
          </a:xfrm>
          <a:prstGeom prst="rect">
            <a:avLst/>
          </a:prstGeom>
          <a:noFill/>
          <a:ln/>
        </p:spPr>
        <p:txBody>
          <a:bodyPr wrap="none" lIns="0" tIns="0" rIns="0" bIns="0" rtlCol="0" anchor="t"/>
          <a:lstStyle/>
          <a:p>
            <a:pPr algn="l" indent="0" marL="0">
              <a:lnSpc>
                <a:spcPct val="100000"/>
              </a:lnSpc>
              <a:buNone/>
            </a:pPr>
            <a:r>
              <a:rPr lang="en-US" sz="700" b="1" dirty="0">
                <a:solidFill>
                  <a:srgbClr val="4C4C4D"/>
                </a:solidFill>
                <a:latin typeface="Heebo Bold" pitchFamily="34" charset="0"/>
                <a:ea typeface="Heebo Bold" pitchFamily="34" charset="-122"/>
                <a:cs typeface="Heebo Bold" pitchFamily="34" charset="-120"/>
              </a:rPr>
              <a:t>SED</a:t>
            </a:r>
            <a:endParaRPr lang="en-US" sz="700" dirty="0"/>
          </a:p>
        </p:txBody>
      </p:sp>
      <p:sp>
        <p:nvSpPr>
          <p:cNvPr id="111" name="Text 96"/>
          <p:cNvSpPr/>
          <p:nvPr/>
        </p:nvSpPr>
        <p:spPr>
          <a:xfrm>
            <a:off x="2848797" y="6116042"/>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112" name="Text 97"/>
          <p:cNvSpPr/>
          <p:nvPr/>
        </p:nvSpPr>
        <p:spPr>
          <a:xfrm>
            <a:off x="4260049" y="6116042"/>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4C4C4D"/>
                </a:solidFill>
                <a:latin typeface="Heebo" pitchFamily="34" charset="0"/>
                <a:ea typeface="Heebo" pitchFamily="34" charset="-122"/>
                <a:cs typeface="Heebo" pitchFamily="34" charset="-120"/>
              </a:rPr>
              <a:t>—</a:t>
            </a:r>
            <a:endParaRPr lang="en-US" sz="700" dirty="0"/>
          </a:p>
        </p:txBody>
      </p:sp>
      <p:sp>
        <p:nvSpPr>
          <p:cNvPr id="113" name="Text 98"/>
          <p:cNvSpPr/>
          <p:nvPr/>
        </p:nvSpPr>
        <p:spPr>
          <a:xfrm>
            <a:off x="5671301" y="6116042"/>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114" name="Text 99"/>
          <p:cNvSpPr/>
          <p:nvPr/>
        </p:nvSpPr>
        <p:spPr>
          <a:xfrm>
            <a:off x="7082553" y="6116042"/>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115" name="Text 100"/>
          <p:cNvSpPr/>
          <p:nvPr/>
        </p:nvSpPr>
        <p:spPr>
          <a:xfrm>
            <a:off x="8493805" y="6116042"/>
            <a:ext cx="1826373" cy="112613"/>
          </a:xfrm>
          <a:prstGeom prst="rect">
            <a:avLst/>
          </a:prstGeom>
          <a:noFill/>
          <a:ln/>
        </p:spPr>
        <p:txBody>
          <a:bodyPr wrap="none" lIns="0" tIns="0" rIns="0" bIns="0" rtlCol="0" anchor="t"/>
          <a:lstStyle/>
          <a:p>
            <a:pPr algn="ctr" indent="0" marL="0">
              <a:lnSpc>
                <a:spcPct val="100000"/>
              </a:lnSpc>
              <a:buNone/>
            </a:pPr>
            <a:r>
              <a:rPr lang="en-US" sz="700" dirty="0">
                <a:solidFill>
                  <a:srgbClr val="000000"/>
                </a:solidFill>
                <a:latin typeface="Heebo" pitchFamily="34" charset="0"/>
                <a:ea typeface="Heebo" pitchFamily="34" charset="-122"/>
                <a:cs typeface="Heebo" pitchFamily="34" charset="-120"/>
              </a:rPr>
              <a:t>✅</a:t>
            </a:r>
            <a:endParaRPr lang="en-US" sz="700" dirty="0"/>
          </a:p>
        </p:txBody>
      </p:sp>
      <p:sp>
        <p:nvSpPr>
          <p:cNvPr id="116" name="Text 101"/>
          <p:cNvSpPr/>
          <p:nvPr/>
        </p:nvSpPr>
        <p:spPr>
          <a:xfrm>
            <a:off x="9905058" y="6116042"/>
            <a:ext cx="1829548" cy="112613"/>
          </a:xfrm>
          <a:prstGeom prst="rect">
            <a:avLst/>
          </a:prstGeom>
          <a:noFill/>
          <a:ln/>
        </p:spPr>
        <p:txBody>
          <a:bodyPr wrap="none" lIns="0" tIns="0" rIns="0" bIns="0" rtlCol="0" anchor="t"/>
          <a:lstStyle/>
          <a:p>
            <a:pPr algn="ctr" indent="0" marL="0">
              <a:lnSpc>
                <a:spcPct val="100000"/>
              </a:lnSpc>
              <a:buNone/>
            </a:pPr>
            <a:r>
              <a:rPr lang="en-US" sz="700" dirty="0">
                <a:solidFill>
                  <a:srgbClr val="4C4C4D"/>
                </a:solidFill>
                <a:latin typeface="Heebo" pitchFamily="34" charset="0"/>
                <a:ea typeface="Heebo" pitchFamily="34" charset="-122"/>
                <a:cs typeface="Heebo" pitchFamily="34" charset="-120"/>
              </a:rPr>
              <a:t>—</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519807"/>
            <a:ext cx="699276" cy="93166"/>
          </a:xfrm>
          <a:prstGeom prst="roundRect">
            <a:avLst>
              <a:gd name="adj" fmla="val 7912"/>
            </a:avLst>
          </a:prstGeom>
          <a:solidFill>
            <a:srgbClr val="CCD7FF"/>
          </a:solidFill>
          <a:ln/>
        </p:spPr>
      </p:sp>
      <p:pic>
        <p:nvPicPr>
          <p:cNvPr id="3" name="Image 0" descr="preencoded.png">    </p:cNvPr>
          <p:cNvPicPr>
            <a:picLocks noChangeAspect="1"/>
          </p:cNvPicPr>
          <p:nvPr/>
        </p:nvPicPr>
        <p:blipFill>
          <a:blip r:embed="rId1"/>
          <a:stretch>
            <a:fillRect/>
          </a:stretch>
        </p:blipFill>
        <p:spPr>
          <a:xfrm>
            <a:off x="698284" y="541834"/>
            <a:ext cx="49112" cy="49113"/>
          </a:xfrm>
          <a:prstGeom prst="rect">
            <a:avLst/>
          </a:prstGeom>
        </p:spPr>
      </p:pic>
      <p:sp>
        <p:nvSpPr>
          <p:cNvPr id="4" name="Text 1"/>
          <p:cNvSpPr/>
          <p:nvPr/>
        </p:nvSpPr>
        <p:spPr>
          <a:xfrm>
            <a:off x="771903" y="538163"/>
            <a:ext cx="1161624" cy="56455"/>
          </a:xfrm>
          <a:prstGeom prst="rect">
            <a:avLst/>
          </a:prstGeom>
          <a:noFill/>
          <a:ln/>
        </p:spPr>
        <p:txBody>
          <a:bodyPr wrap="none" lIns="0" tIns="0" rIns="0" bIns="0" rtlCol="0" anchor="t"/>
          <a:lstStyle/>
          <a:p>
            <a:pPr algn="l" indent="0" marL="0">
              <a:lnSpc>
                <a:spcPct val="96000"/>
              </a:lnSpc>
              <a:buNone/>
            </a:pPr>
            <a:r>
              <a:rPr lang="en-US" sz="350" dirty="0">
                <a:solidFill>
                  <a:srgbClr val="4C4C4D"/>
                </a:solidFill>
                <a:latin typeface="Heebo" pitchFamily="34" charset="0"/>
                <a:ea typeface="Heebo" pitchFamily="34" charset="-122"/>
                <a:cs typeface="Heebo" pitchFamily="34" charset="-120"/>
              </a:rPr>
              <a:t>ZERO MANUAL LOGGING</a:t>
            </a:r>
            <a:endParaRPr lang="en-US" sz="350" dirty="0"/>
          </a:p>
        </p:txBody>
      </p:sp>
      <p:sp>
        <p:nvSpPr>
          <p:cNvPr id="5" name="Text 2"/>
          <p:cNvSpPr/>
          <p:nvPr/>
        </p:nvSpPr>
        <p:spPr>
          <a:xfrm>
            <a:off x="661475" y="620911"/>
            <a:ext cx="10868745" cy="191988"/>
          </a:xfrm>
          <a:prstGeom prst="rect">
            <a:avLst/>
          </a:prstGeom>
          <a:noFill/>
          <a:ln/>
        </p:spPr>
        <p:txBody>
          <a:bodyPr wrap="none" lIns="0" tIns="0" rIns="0" bIns="0" rtlCol="0" anchor="t"/>
          <a:lstStyle/>
          <a:p>
            <a:pPr algn="l" indent="0" marL="0">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Automated Failure Reporting &amp; Migration from Legacy</a:t>
            </a:r>
            <a:endParaRPr lang="en-US" sz="1200" dirty="0"/>
          </a:p>
        </p:txBody>
      </p:sp>
      <p:sp>
        <p:nvSpPr>
          <p:cNvPr id="6" name="Text 3"/>
          <p:cNvSpPr/>
          <p:nvPr/>
        </p:nvSpPr>
        <p:spPr>
          <a:xfrm>
            <a:off x="661475" y="842764"/>
            <a:ext cx="11478330"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When tests fail, the system instantly captures and broadcasts everything your team needs — no human intervention required. Built on a modernised stack migrated from legacy tooling.</a:t>
            </a:r>
            <a:endParaRPr lang="en-US" sz="450" dirty="0"/>
          </a:p>
        </p:txBody>
      </p:sp>
      <p:sp>
        <p:nvSpPr>
          <p:cNvPr id="7" name="Shape 4"/>
          <p:cNvSpPr/>
          <p:nvPr/>
        </p:nvSpPr>
        <p:spPr>
          <a:xfrm>
            <a:off x="617224" y="930275"/>
            <a:ext cx="4125710" cy="1196677"/>
          </a:xfrm>
          <a:prstGeom prst="roundRect">
            <a:avLst>
              <a:gd name="adj" fmla="val 770"/>
            </a:avLst>
          </a:prstGeom>
          <a:solidFill>
            <a:srgbClr val="6366F1"/>
          </a:solidFill>
          <a:ln/>
        </p:spPr>
      </p:sp>
      <p:sp>
        <p:nvSpPr>
          <p:cNvPr id="8" name="Text 5"/>
          <p:cNvSpPr/>
          <p:nvPr/>
        </p:nvSpPr>
        <p:spPr>
          <a:xfrm>
            <a:off x="678639" y="950218"/>
            <a:ext cx="4002880"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600" dirty="0">
                <a:solidFill>
                  <a:srgbClr val="000000"/>
                </a:solidFill>
                <a:latin typeface="Crimson Pro SemiBold" pitchFamily="34" charset="0"/>
                <a:ea typeface="Crimson Pro SemiBold" pitchFamily="34" charset="-122"/>
                <a:cs typeface="Crimson Pro SemiBold" pitchFamily="34" charset="-120"/>
              </a:rPr>
              <a:t> Triggers Automatically When</a:t>
            </a:r>
            <a:endParaRPr lang="en-US" sz="6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8639" y="1068586"/>
            <a:ext cx="4002880" cy="316508"/>
          </a:xfrm>
          <a:prstGeom prst="rect">
            <a:avLst/>
          </a:prstGeom>
        </p:spPr>
      </p:pic>
      <p:sp>
        <p:nvSpPr>
          <p:cNvPr id="10" name="Text 6"/>
          <p:cNvSpPr/>
          <p:nvPr/>
        </p:nvSpPr>
        <p:spPr>
          <a:xfrm>
            <a:off x="771803" y="1136352"/>
            <a:ext cx="3841952"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Crimson Pro SemiBold" pitchFamily="34" charset="0"/>
                <a:ea typeface="Crimson Pro SemiBold" pitchFamily="34" charset="-122"/>
                <a:cs typeface="Crimson Pro SemiBold" pitchFamily="34" charset="-120"/>
              </a:rPr>
              <a:t>Functional Test Fails</a:t>
            </a:r>
            <a:endParaRPr lang="en-US" sz="600" dirty="0"/>
          </a:p>
        </p:txBody>
      </p:sp>
      <p:sp>
        <p:nvSpPr>
          <p:cNvPr id="11" name="Text 7"/>
          <p:cNvSpPr/>
          <p:nvPr/>
        </p:nvSpPr>
        <p:spPr>
          <a:xfrm>
            <a:off x="771803" y="1252240"/>
            <a:ext cx="3841952" cy="65088"/>
          </a:xfrm>
          <a:prstGeom prst="rect">
            <a:avLst/>
          </a:prstGeom>
          <a:noFill/>
          <a:ln/>
        </p:spPr>
        <p:txBody>
          <a:bodyPr wrap="none" lIns="0" tIns="0" rIns="0" bIns="0" rtlCol="0" anchor="t"/>
          <a:lstStyle/>
          <a:p>
            <a:pPr algn="l" indent="0" marL="0">
              <a:lnSpc>
                <a:spcPct val="88000"/>
              </a:lnSpc>
              <a:buNone/>
            </a:pPr>
            <a:r>
              <a:rPr lang="en-US" sz="450" dirty="0">
                <a:solidFill>
                  <a:srgbClr val="000000"/>
                </a:solidFill>
                <a:latin typeface="Heebo" pitchFamily="34" charset="0"/>
                <a:ea typeface="Heebo" pitchFamily="34" charset="-122"/>
                <a:cs typeface="Heebo" pitchFamily="34" charset="-120"/>
              </a:rPr>
              <a:t>Any failing Cypress or integration test triggers the pipeline</a:t>
            </a:r>
            <a:endParaRPr lang="en-US" sz="45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8639" y="1405037"/>
            <a:ext cx="4002880" cy="316508"/>
          </a:xfrm>
          <a:prstGeom prst="rect">
            <a:avLst/>
          </a:prstGeom>
        </p:spPr>
      </p:pic>
      <p:sp>
        <p:nvSpPr>
          <p:cNvPr id="13" name="Text 8"/>
          <p:cNvSpPr/>
          <p:nvPr/>
        </p:nvSpPr>
        <p:spPr>
          <a:xfrm>
            <a:off x="771803" y="1472803"/>
            <a:ext cx="3841952"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Crimson Pro SemiBold" pitchFamily="34" charset="0"/>
                <a:ea typeface="Crimson Pro SemiBold" pitchFamily="34" charset="-122"/>
                <a:cs typeface="Crimson Pro SemiBold" pitchFamily="34" charset="-120"/>
              </a:rPr>
              <a:t>Allure Report Shows Failures</a:t>
            </a:r>
            <a:endParaRPr lang="en-US" sz="600" dirty="0"/>
          </a:p>
        </p:txBody>
      </p:sp>
      <p:sp>
        <p:nvSpPr>
          <p:cNvPr id="14" name="Text 9"/>
          <p:cNvSpPr/>
          <p:nvPr/>
        </p:nvSpPr>
        <p:spPr>
          <a:xfrm>
            <a:off x="771803" y="1588691"/>
            <a:ext cx="3841952" cy="65088"/>
          </a:xfrm>
          <a:prstGeom prst="rect">
            <a:avLst/>
          </a:prstGeom>
          <a:noFill/>
          <a:ln/>
        </p:spPr>
        <p:txBody>
          <a:bodyPr wrap="none" lIns="0" tIns="0" rIns="0" bIns="0" rtlCol="0" anchor="t"/>
          <a:lstStyle/>
          <a:p>
            <a:pPr algn="l" indent="0" marL="0">
              <a:lnSpc>
                <a:spcPct val="88000"/>
              </a:lnSpc>
              <a:buNone/>
            </a:pPr>
            <a:r>
              <a:rPr lang="en-US" sz="450" dirty="0">
                <a:solidFill>
                  <a:srgbClr val="000000"/>
                </a:solidFill>
                <a:latin typeface="Heebo" pitchFamily="34" charset="0"/>
                <a:ea typeface="Heebo" pitchFamily="34" charset="-122"/>
                <a:cs typeface="Heebo" pitchFamily="34" charset="-120"/>
              </a:rPr>
              <a:t>Report generation detects and flags failed scenarios</a:t>
            </a:r>
            <a:endParaRPr lang="en-US" sz="450" dirty="0"/>
          </a:p>
        </p:txBody>
      </p:sp>
      <p:sp>
        <p:nvSpPr>
          <p:cNvPr id="15" name="Shape 10"/>
          <p:cNvSpPr/>
          <p:nvPr/>
        </p:nvSpPr>
        <p:spPr>
          <a:xfrm>
            <a:off x="678639" y="1743968"/>
            <a:ext cx="4002880" cy="131564"/>
          </a:xfrm>
          <a:prstGeom prst="roundRect">
            <a:avLst>
              <a:gd name="adj" fmla="val 7004"/>
            </a:avLst>
          </a:prstGeom>
          <a:solidFill>
            <a:srgbClr val="183A13"/>
          </a:solidFill>
          <a:ln/>
        </p:spPr>
      </p:sp>
      <p:pic>
        <p:nvPicPr>
          <p:cNvPr id="16" name="Image 3" descr="preencoded.png">    </p:cNvPr>
          <p:cNvPicPr>
            <a:picLocks noChangeAspect="1"/>
          </p:cNvPicPr>
          <p:nvPr/>
        </p:nvPicPr>
        <p:blipFill>
          <a:blip r:embed="rId6"/>
          <a:stretch>
            <a:fillRect/>
          </a:stretch>
        </p:blipFill>
        <p:spPr>
          <a:xfrm>
            <a:off x="740054" y="1779191"/>
            <a:ext cx="76694" cy="61416"/>
          </a:xfrm>
          <a:prstGeom prst="rect">
            <a:avLst/>
          </a:prstGeom>
        </p:spPr>
      </p:pic>
      <p:sp>
        <p:nvSpPr>
          <p:cNvPr id="17" name="Text 11"/>
          <p:cNvSpPr/>
          <p:nvPr/>
        </p:nvSpPr>
        <p:spPr>
          <a:xfrm>
            <a:off x="878163" y="1777206"/>
            <a:ext cx="4351526" cy="65088"/>
          </a:xfrm>
          <a:prstGeom prst="rect">
            <a:avLst/>
          </a:prstGeom>
          <a:noFill/>
          <a:ln/>
        </p:spPr>
        <p:txBody>
          <a:bodyPr wrap="none" lIns="0" tIns="0" rIns="0" bIns="0" rtlCol="0" anchor="t"/>
          <a:lstStyle/>
          <a:p>
            <a:pPr algn="l" indent="0" marL="0">
              <a:lnSpc>
                <a:spcPct val="88000"/>
              </a:lnSpc>
              <a:buNone/>
            </a:pPr>
            <a:r>
              <a:rPr lang="en-US" sz="450" dirty="0">
                <a:solidFill>
                  <a:srgbClr val="000000"/>
                </a:solidFill>
                <a:latin typeface="Heebo" pitchFamily="34" charset="0"/>
                <a:ea typeface="Heebo" pitchFamily="34" charset="-122"/>
                <a:cs typeface="Heebo" pitchFamily="34" charset="-120"/>
              </a:rPr>
              <a:t>✅</a:t>
            </a:r>
            <a:pPr algn="l" indent="0" marL="0">
              <a:lnSpc>
                <a:spcPct val="88000"/>
              </a:lnSpc>
              <a:buNone/>
            </a:pPr>
            <a:r>
              <a:rPr lang="en-US" sz="450" b="1" dirty="0">
                <a:solidFill>
                  <a:srgbClr val="FFFFFF"/>
                </a:solidFill>
                <a:latin typeface="Heebo Bold" pitchFamily="34" charset="0"/>
                <a:ea typeface="Heebo Bold" pitchFamily="34" charset="-122"/>
                <a:cs typeface="Heebo Bold" pitchFamily="34" charset="-120"/>
              </a:rPr>
              <a:t> Zero manual logging</a:t>
            </a:r>
            <a:pPr algn="l" indent="0" marL="0">
              <a:lnSpc>
                <a:spcPct val="88000"/>
              </a:lnSpc>
              <a:buNone/>
            </a:pPr>
            <a:r>
              <a:rPr lang="en-US" sz="450" dirty="0">
                <a:solidFill>
                  <a:srgbClr val="FFFFFF"/>
                </a:solidFill>
                <a:latin typeface="Heebo" pitchFamily="34" charset="0"/>
                <a:ea typeface="Heebo" pitchFamily="34" charset="-122"/>
                <a:cs typeface="Heebo" pitchFamily="34" charset="-120"/>
              </a:rPr>
              <a:t> — failures are captured and reported instantly to Slack.</a:t>
            </a:r>
            <a:endParaRPr lang="en-US" sz="450" dirty="0"/>
          </a:p>
        </p:txBody>
      </p:sp>
      <p:sp>
        <p:nvSpPr>
          <p:cNvPr id="18" name="Text 12"/>
          <p:cNvSpPr/>
          <p:nvPr/>
        </p:nvSpPr>
        <p:spPr>
          <a:xfrm>
            <a:off x="4854850" y="950218"/>
            <a:ext cx="6681620"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600" dirty="0">
                <a:solidFill>
                  <a:srgbClr val="152D47"/>
                </a:solidFill>
                <a:latin typeface="Crimson Pro SemiBold" pitchFamily="34" charset="0"/>
                <a:ea typeface="Crimson Pro SemiBold" pitchFamily="34" charset="-122"/>
                <a:cs typeface="Crimson Pro SemiBold" pitchFamily="34" charset="-120"/>
              </a:rPr>
              <a:t> Every Failure Report Includes</a:t>
            </a:r>
            <a:endParaRPr lang="en-US" sz="600" dirty="0"/>
          </a:p>
        </p:txBody>
      </p:sp>
      <p:sp>
        <p:nvSpPr>
          <p:cNvPr id="19" name="Shape 13"/>
          <p:cNvSpPr/>
          <p:nvPr/>
        </p:nvSpPr>
        <p:spPr>
          <a:xfrm>
            <a:off x="4854850" y="1068586"/>
            <a:ext cx="2213912" cy="508000"/>
          </a:xfrm>
          <a:prstGeom prst="roundRect">
            <a:avLst>
              <a:gd name="adj" fmla="val 1814"/>
            </a:avLst>
          </a:prstGeom>
          <a:solidFill>
            <a:srgbClr val="F2EEEE"/>
          </a:solidFill>
          <a:ln/>
        </p:spPr>
      </p:sp>
      <p:sp>
        <p:nvSpPr>
          <p:cNvPr id="20" name="Shape 14"/>
          <p:cNvSpPr/>
          <p:nvPr/>
        </p:nvSpPr>
        <p:spPr>
          <a:xfrm>
            <a:off x="4916265" y="1130002"/>
            <a:ext cx="184245" cy="184249"/>
          </a:xfrm>
          <a:prstGeom prst="ellipse">
            <a:avLst/>
          </a:prstGeom>
          <a:solidFill>
            <a:srgbClr val="2150FE"/>
          </a:solidFill>
          <a:ln/>
        </p:spPr>
      </p:sp>
      <p:pic>
        <p:nvPicPr>
          <p:cNvPr id="21"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66965" y="1180604"/>
            <a:ext cx="82846" cy="82848"/>
          </a:xfrm>
          <a:prstGeom prst="rect">
            <a:avLst/>
          </a:prstGeom>
        </p:spPr>
      </p:pic>
      <p:sp>
        <p:nvSpPr>
          <p:cNvPr id="22" name="Text 15"/>
          <p:cNvSpPr/>
          <p:nvPr/>
        </p:nvSpPr>
        <p:spPr>
          <a:xfrm>
            <a:off x="4916265" y="1334195"/>
            <a:ext cx="209108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Pipeline Link</a:t>
            </a:r>
            <a:endParaRPr lang="en-US" sz="600" dirty="0"/>
          </a:p>
        </p:txBody>
      </p:sp>
      <p:sp>
        <p:nvSpPr>
          <p:cNvPr id="23" name="Text 16"/>
          <p:cNvSpPr/>
          <p:nvPr/>
        </p:nvSpPr>
        <p:spPr>
          <a:xfrm>
            <a:off x="4916265" y="1450082"/>
            <a:ext cx="209108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Direct URL to the CI run</a:t>
            </a:r>
            <a:endParaRPr lang="en-US" sz="450" dirty="0"/>
          </a:p>
        </p:txBody>
      </p:sp>
      <p:sp>
        <p:nvSpPr>
          <p:cNvPr id="24" name="Shape 17"/>
          <p:cNvSpPr/>
          <p:nvPr/>
        </p:nvSpPr>
        <p:spPr>
          <a:xfrm>
            <a:off x="7088705" y="1068586"/>
            <a:ext cx="2213912" cy="508000"/>
          </a:xfrm>
          <a:prstGeom prst="roundRect">
            <a:avLst>
              <a:gd name="adj" fmla="val 1814"/>
            </a:avLst>
          </a:prstGeom>
          <a:solidFill>
            <a:srgbClr val="F2EEEE"/>
          </a:solidFill>
          <a:ln/>
        </p:spPr>
      </p:sp>
      <p:sp>
        <p:nvSpPr>
          <p:cNvPr id="25" name="Shape 18"/>
          <p:cNvSpPr/>
          <p:nvPr/>
        </p:nvSpPr>
        <p:spPr>
          <a:xfrm>
            <a:off x="7150120" y="1130002"/>
            <a:ext cx="184245" cy="184249"/>
          </a:xfrm>
          <a:prstGeom prst="ellipse">
            <a:avLst/>
          </a:prstGeom>
          <a:solidFill>
            <a:srgbClr val="2150FE"/>
          </a:solidFill>
          <a:ln/>
        </p:spPr>
      </p:sp>
      <p:pic>
        <p:nvPicPr>
          <p:cNvPr id="26" name="Image 5"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00819" y="1180604"/>
            <a:ext cx="82846" cy="82848"/>
          </a:xfrm>
          <a:prstGeom prst="rect">
            <a:avLst/>
          </a:prstGeom>
        </p:spPr>
      </p:pic>
      <p:sp>
        <p:nvSpPr>
          <p:cNvPr id="27" name="Text 19"/>
          <p:cNvSpPr/>
          <p:nvPr/>
        </p:nvSpPr>
        <p:spPr>
          <a:xfrm>
            <a:off x="7150120" y="1334195"/>
            <a:ext cx="209108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Branch &amp; Environment</a:t>
            </a:r>
            <a:endParaRPr lang="en-US" sz="600" dirty="0"/>
          </a:p>
        </p:txBody>
      </p:sp>
      <p:sp>
        <p:nvSpPr>
          <p:cNvPr id="28" name="Text 20"/>
          <p:cNvSpPr/>
          <p:nvPr/>
        </p:nvSpPr>
        <p:spPr>
          <a:xfrm>
            <a:off x="7150120" y="1450082"/>
            <a:ext cx="209108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Exact context of the failure</a:t>
            </a:r>
            <a:endParaRPr lang="en-US" sz="450" dirty="0"/>
          </a:p>
        </p:txBody>
      </p:sp>
      <p:sp>
        <p:nvSpPr>
          <p:cNvPr id="29" name="Shape 21"/>
          <p:cNvSpPr/>
          <p:nvPr/>
        </p:nvSpPr>
        <p:spPr>
          <a:xfrm>
            <a:off x="9322559" y="1068586"/>
            <a:ext cx="2213912" cy="508000"/>
          </a:xfrm>
          <a:prstGeom prst="roundRect">
            <a:avLst>
              <a:gd name="adj" fmla="val 1814"/>
            </a:avLst>
          </a:prstGeom>
          <a:solidFill>
            <a:srgbClr val="F2EEEE"/>
          </a:solidFill>
          <a:ln/>
        </p:spPr>
      </p:sp>
      <p:sp>
        <p:nvSpPr>
          <p:cNvPr id="30" name="Shape 22"/>
          <p:cNvSpPr/>
          <p:nvPr/>
        </p:nvSpPr>
        <p:spPr>
          <a:xfrm>
            <a:off x="9383974" y="1130002"/>
            <a:ext cx="184245" cy="184249"/>
          </a:xfrm>
          <a:prstGeom prst="ellipse">
            <a:avLst/>
          </a:prstGeom>
          <a:solidFill>
            <a:srgbClr val="2150FE"/>
          </a:solidFill>
          <a:ln/>
        </p:spPr>
      </p:sp>
      <p:pic>
        <p:nvPicPr>
          <p:cNvPr id="31" name="Image 6"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34673" y="1180604"/>
            <a:ext cx="82846" cy="82848"/>
          </a:xfrm>
          <a:prstGeom prst="rect">
            <a:avLst/>
          </a:prstGeom>
        </p:spPr>
      </p:pic>
      <p:sp>
        <p:nvSpPr>
          <p:cNvPr id="32" name="Text 23"/>
          <p:cNvSpPr/>
          <p:nvPr/>
        </p:nvSpPr>
        <p:spPr>
          <a:xfrm>
            <a:off x="9383974" y="1334195"/>
            <a:ext cx="209108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Tags Used</a:t>
            </a:r>
            <a:endParaRPr lang="en-US" sz="600" dirty="0"/>
          </a:p>
        </p:txBody>
      </p:sp>
      <p:sp>
        <p:nvSpPr>
          <p:cNvPr id="33" name="Text 24"/>
          <p:cNvSpPr/>
          <p:nvPr/>
        </p:nvSpPr>
        <p:spPr>
          <a:xfrm>
            <a:off x="9383974" y="1450082"/>
            <a:ext cx="209108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Test scope of the run</a:t>
            </a:r>
            <a:endParaRPr lang="en-US" sz="450" dirty="0"/>
          </a:p>
        </p:txBody>
      </p:sp>
      <p:sp>
        <p:nvSpPr>
          <p:cNvPr id="34" name="Shape 25"/>
          <p:cNvSpPr/>
          <p:nvPr/>
        </p:nvSpPr>
        <p:spPr>
          <a:xfrm>
            <a:off x="4854850" y="1596529"/>
            <a:ext cx="2213912" cy="508000"/>
          </a:xfrm>
          <a:prstGeom prst="roundRect">
            <a:avLst>
              <a:gd name="adj" fmla="val 1814"/>
            </a:avLst>
          </a:prstGeom>
          <a:solidFill>
            <a:srgbClr val="F2EEEE"/>
          </a:solidFill>
          <a:ln/>
        </p:spPr>
      </p:sp>
      <p:sp>
        <p:nvSpPr>
          <p:cNvPr id="35" name="Shape 26"/>
          <p:cNvSpPr/>
          <p:nvPr/>
        </p:nvSpPr>
        <p:spPr>
          <a:xfrm>
            <a:off x="4916265" y="1657945"/>
            <a:ext cx="184245" cy="184249"/>
          </a:xfrm>
          <a:prstGeom prst="ellipse">
            <a:avLst/>
          </a:prstGeom>
          <a:solidFill>
            <a:srgbClr val="2150FE"/>
          </a:solidFill>
          <a:ln/>
        </p:spPr>
      </p:sp>
      <p:pic>
        <p:nvPicPr>
          <p:cNvPr id="36" name="Image 7"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66965" y="1708547"/>
            <a:ext cx="82846" cy="82848"/>
          </a:xfrm>
          <a:prstGeom prst="rect">
            <a:avLst/>
          </a:prstGeom>
        </p:spPr>
      </p:pic>
      <p:sp>
        <p:nvSpPr>
          <p:cNvPr id="37" name="Text 27"/>
          <p:cNvSpPr/>
          <p:nvPr/>
        </p:nvSpPr>
        <p:spPr>
          <a:xfrm>
            <a:off x="4916265" y="1862138"/>
            <a:ext cx="209108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Failure Count</a:t>
            </a:r>
            <a:endParaRPr lang="en-US" sz="600" dirty="0"/>
          </a:p>
        </p:txBody>
      </p:sp>
      <p:sp>
        <p:nvSpPr>
          <p:cNvPr id="38" name="Text 28"/>
          <p:cNvSpPr/>
          <p:nvPr/>
        </p:nvSpPr>
        <p:spPr>
          <a:xfrm>
            <a:off x="4916265" y="1978025"/>
            <a:ext cx="209108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Total number of failed tests</a:t>
            </a:r>
            <a:endParaRPr lang="en-US" sz="450" dirty="0"/>
          </a:p>
        </p:txBody>
      </p:sp>
      <p:sp>
        <p:nvSpPr>
          <p:cNvPr id="39" name="Shape 29"/>
          <p:cNvSpPr/>
          <p:nvPr/>
        </p:nvSpPr>
        <p:spPr>
          <a:xfrm>
            <a:off x="7088705" y="1596529"/>
            <a:ext cx="2213912" cy="508000"/>
          </a:xfrm>
          <a:prstGeom prst="roundRect">
            <a:avLst>
              <a:gd name="adj" fmla="val 1814"/>
            </a:avLst>
          </a:prstGeom>
          <a:solidFill>
            <a:srgbClr val="F2EEEE"/>
          </a:solidFill>
          <a:ln/>
        </p:spPr>
      </p:sp>
      <p:sp>
        <p:nvSpPr>
          <p:cNvPr id="40" name="Shape 30"/>
          <p:cNvSpPr/>
          <p:nvPr/>
        </p:nvSpPr>
        <p:spPr>
          <a:xfrm>
            <a:off x="7150120" y="1657945"/>
            <a:ext cx="184245" cy="184249"/>
          </a:xfrm>
          <a:prstGeom prst="ellipse">
            <a:avLst/>
          </a:prstGeom>
          <a:solidFill>
            <a:srgbClr val="2150FE"/>
          </a:solidFill>
          <a:ln/>
        </p:spPr>
      </p:sp>
      <p:pic>
        <p:nvPicPr>
          <p:cNvPr id="41" name="Image 8"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200819" y="1708547"/>
            <a:ext cx="82846" cy="82848"/>
          </a:xfrm>
          <a:prstGeom prst="rect">
            <a:avLst/>
          </a:prstGeom>
        </p:spPr>
      </p:pic>
      <p:sp>
        <p:nvSpPr>
          <p:cNvPr id="42" name="Text 31"/>
          <p:cNvSpPr/>
          <p:nvPr/>
        </p:nvSpPr>
        <p:spPr>
          <a:xfrm>
            <a:off x="7150120" y="1862138"/>
            <a:ext cx="209108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Allure Report Link</a:t>
            </a:r>
            <a:endParaRPr lang="en-US" sz="600" dirty="0"/>
          </a:p>
        </p:txBody>
      </p:sp>
      <p:sp>
        <p:nvSpPr>
          <p:cNvPr id="43" name="Text 32"/>
          <p:cNvSpPr/>
          <p:nvPr/>
        </p:nvSpPr>
        <p:spPr>
          <a:xfrm>
            <a:off x="7150120" y="1978025"/>
            <a:ext cx="209108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Full visual test report</a:t>
            </a:r>
            <a:endParaRPr lang="en-US" sz="450" dirty="0"/>
          </a:p>
        </p:txBody>
      </p:sp>
      <p:sp>
        <p:nvSpPr>
          <p:cNvPr id="44" name="Shape 33"/>
          <p:cNvSpPr/>
          <p:nvPr/>
        </p:nvSpPr>
        <p:spPr>
          <a:xfrm>
            <a:off x="9322559" y="1596529"/>
            <a:ext cx="2213912" cy="508000"/>
          </a:xfrm>
          <a:prstGeom prst="roundRect">
            <a:avLst>
              <a:gd name="adj" fmla="val 1814"/>
            </a:avLst>
          </a:prstGeom>
          <a:solidFill>
            <a:srgbClr val="F2EEEE"/>
          </a:solidFill>
          <a:ln/>
        </p:spPr>
      </p:sp>
      <p:sp>
        <p:nvSpPr>
          <p:cNvPr id="45" name="Shape 34"/>
          <p:cNvSpPr/>
          <p:nvPr/>
        </p:nvSpPr>
        <p:spPr>
          <a:xfrm>
            <a:off x="9383974" y="1657945"/>
            <a:ext cx="184245" cy="184249"/>
          </a:xfrm>
          <a:prstGeom prst="ellipse">
            <a:avLst/>
          </a:prstGeom>
          <a:solidFill>
            <a:srgbClr val="2150FE"/>
          </a:solidFill>
          <a:ln/>
        </p:spPr>
      </p:sp>
      <p:pic>
        <p:nvPicPr>
          <p:cNvPr id="46" name="Image 9"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434673" y="1708547"/>
            <a:ext cx="82846" cy="82848"/>
          </a:xfrm>
          <a:prstGeom prst="rect">
            <a:avLst/>
          </a:prstGeom>
        </p:spPr>
      </p:pic>
      <p:sp>
        <p:nvSpPr>
          <p:cNvPr id="47" name="Text 35"/>
          <p:cNvSpPr/>
          <p:nvPr/>
        </p:nvSpPr>
        <p:spPr>
          <a:xfrm>
            <a:off x="9383974" y="1862138"/>
            <a:ext cx="209108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Slack Notification</a:t>
            </a:r>
            <a:endParaRPr lang="en-US" sz="600" dirty="0"/>
          </a:p>
        </p:txBody>
      </p:sp>
      <p:sp>
        <p:nvSpPr>
          <p:cNvPr id="48" name="Text 36"/>
          <p:cNvSpPr/>
          <p:nvPr/>
        </p:nvSpPr>
        <p:spPr>
          <a:xfrm>
            <a:off x="9383974" y="1978025"/>
            <a:ext cx="209108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Instant team alert on failure</a:t>
            </a:r>
            <a:endParaRPr lang="en-US" sz="450" dirty="0"/>
          </a:p>
        </p:txBody>
      </p:sp>
      <p:pic>
        <p:nvPicPr>
          <p:cNvPr id="49" name="Image 10" descr="preencoded.png">    </p:cNvPr>
          <p:cNvPicPr>
            <a:picLocks noChangeAspect="1"/>
          </p:cNvPicPr>
          <p:nvPr/>
        </p:nvPicPr>
        <p:blipFill>
          <a:blip r:embed="rId19"/>
          <a:stretch>
            <a:fillRect/>
          </a:stretch>
        </p:blipFill>
        <p:spPr>
          <a:xfrm>
            <a:off x="4021136" y="2149376"/>
            <a:ext cx="4149324" cy="2462709"/>
          </a:xfrm>
          <a:prstGeom prst="rect">
            <a:avLst/>
          </a:prstGeom>
        </p:spPr>
      </p:pic>
      <p:sp>
        <p:nvSpPr>
          <p:cNvPr id="50" name="Text 37"/>
          <p:cNvSpPr/>
          <p:nvPr/>
        </p:nvSpPr>
        <p:spPr>
          <a:xfrm>
            <a:off x="6909131" y="4040845"/>
            <a:ext cx="1031432" cy="198697"/>
          </a:xfrm>
          <a:prstGeom prst="rect">
            <a:avLst/>
          </a:prstGeom>
          <a:noFill/>
          <a:ln/>
        </p:spPr>
        <p:txBody>
          <a:bodyPr wrap="none" lIns="0" tIns="0" rIns="0" bIns="0" rtlCol="0" anchor="t"/>
          <a:lstStyle/>
          <a:p>
            <a:pPr algn="ctr" indent="0" marL="0">
              <a:lnSpc>
                <a:spcPct val="104000"/>
              </a:lnSpc>
              <a:buNone/>
            </a:pPr>
            <a:r>
              <a:rPr lang="en-US" sz="1250" dirty="0">
                <a:solidFill>
                  <a:srgbClr val="4C4C4D"/>
                </a:solidFill>
                <a:latin typeface="Crimson Pro SemiBold" pitchFamily="34" charset="0"/>
                <a:ea typeface="Crimson Pro SemiBold" pitchFamily="34" charset="-122"/>
                <a:cs typeface="Crimson Pro SemiBold" pitchFamily="34" charset="-120"/>
              </a:rPr>
              <a:t>Slack Alert</a:t>
            </a:r>
            <a:endParaRPr lang="en-US" sz="1250" dirty="0"/>
          </a:p>
        </p:txBody>
      </p:sp>
      <p:sp>
        <p:nvSpPr>
          <p:cNvPr id="51" name="Text 38"/>
          <p:cNvSpPr/>
          <p:nvPr/>
        </p:nvSpPr>
        <p:spPr>
          <a:xfrm>
            <a:off x="5609245" y="3941497"/>
            <a:ext cx="1031432" cy="397394"/>
          </a:xfrm>
          <a:prstGeom prst="rect">
            <a:avLst/>
          </a:prstGeom>
          <a:noFill/>
          <a:ln/>
        </p:spPr>
        <p:txBody>
          <a:bodyPr wrap="square" lIns="0" tIns="0" rIns="0" bIns="0" rtlCol="0" anchor="t">
            <a:normAutofit/>
          </a:bodyPr>
          <a:lstStyle/>
          <a:p>
            <a:pPr algn="ctr" indent="0" marL="0">
              <a:lnSpc>
                <a:spcPct val="104000"/>
              </a:lnSpc>
              <a:buNone/>
            </a:pPr>
            <a:r>
              <a:rPr lang="en-US" sz="1250" dirty="0">
                <a:solidFill>
                  <a:srgbClr val="4C4C4D"/>
                </a:solidFill>
                <a:latin typeface="Crimson Pro SemiBold" pitchFamily="34" charset="0"/>
                <a:ea typeface="Crimson Pro SemiBold" pitchFamily="34" charset="-122"/>
                <a:cs typeface="Crimson Pro SemiBold" pitchFamily="34" charset="-120"/>
              </a:rPr>
              <a:t>Capture Context</a:t>
            </a:r>
            <a:endParaRPr lang="en-US" sz="1250" dirty="0"/>
          </a:p>
        </p:txBody>
      </p:sp>
      <p:sp>
        <p:nvSpPr>
          <p:cNvPr id="52" name="Text 39"/>
          <p:cNvSpPr/>
          <p:nvPr/>
        </p:nvSpPr>
        <p:spPr>
          <a:xfrm>
            <a:off x="4288165" y="4040845"/>
            <a:ext cx="1031432" cy="198697"/>
          </a:xfrm>
          <a:prstGeom prst="rect">
            <a:avLst/>
          </a:prstGeom>
          <a:noFill/>
          <a:ln/>
        </p:spPr>
        <p:txBody>
          <a:bodyPr wrap="none" lIns="0" tIns="0" rIns="0" bIns="0" rtlCol="0" anchor="t"/>
          <a:lstStyle/>
          <a:p>
            <a:pPr algn="ctr" indent="0" marL="0">
              <a:lnSpc>
                <a:spcPct val="104000"/>
              </a:lnSpc>
              <a:buNone/>
            </a:pPr>
            <a:r>
              <a:rPr lang="en-US" sz="1250" dirty="0">
                <a:solidFill>
                  <a:srgbClr val="4C4C4D"/>
                </a:solidFill>
                <a:latin typeface="Crimson Pro SemiBold" pitchFamily="34" charset="0"/>
                <a:ea typeface="Crimson Pro SemiBold" pitchFamily="34" charset="-122"/>
                <a:cs typeface="Crimson Pro SemiBold" pitchFamily="34" charset="-120"/>
              </a:rPr>
              <a:t>Test Fails</a:t>
            </a:r>
            <a:endParaRPr lang="en-US" sz="1250" dirty="0"/>
          </a:p>
        </p:txBody>
      </p:sp>
      <p:sp>
        <p:nvSpPr>
          <p:cNvPr id="53" name="Text 40"/>
          <p:cNvSpPr/>
          <p:nvPr/>
        </p:nvSpPr>
        <p:spPr>
          <a:xfrm>
            <a:off x="661475" y="4641949"/>
            <a:ext cx="10868745" cy="153491"/>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50" dirty="0">
                <a:solidFill>
                  <a:srgbClr val="152D47"/>
                </a:solidFill>
                <a:latin typeface="Crimson Pro SemiBold" pitchFamily="34" charset="0"/>
                <a:ea typeface="Crimson Pro SemiBold" pitchFamily="34" charset="-122"/>
                <a:cs typeface="Crimson Pro SemiBold" pitchFamily="34" charset="-120"/>
              </a:rPr>
              <a:t> Migration from Legacy Stack</a:t>
            </a:r>
            <a:endParaRPr lang="en-US" sz="950" dirty="0"/>
          </a:p>
        </p:txBody>
      </p:sp>
      <p:sp>
        <p:nvSpPr>
          <p:cNvPr id="54" name="Text 41"/>
          <p:cNvSpPr/>
          <p:nvPr/>
        </p:nvSpPr>
        <p:spPr>
          <a:xfrm>
            <a:off x="661475" y="4825305"/>
            <a:ext cx="11478330"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The entire test estate was modernised from fragile, manual-heavy tooling to a fully automated, single-framework pipeline.</a:t>
            </a:r>
            <a:endParaRPr lang="en-US" sz="450" dirty="0"/>
          </a:p>
        </p:txBody>
      </p:sp>
      <p:pic>
        <p:nvPicPr>
          <p:cNvPr id="55" name="Image 11" descr="preencoded.png">    </p:cNvPr>
          <p:cNvPicPr>
            <a:picLocks noChangeAspect="1"/>
          </p:cNvPicPr>
          <p:nvPr/>
        </p:nvPicPr>
        <p:blipFill>
          <a:blip r:embed="rId20"/>
          <a:stretch>
            <a:fillRect/>
          </a:stretch>
        </p:blipFill>
        <p:spPr>
          <a:xfrm>
            <a:off x="661475" y="4912816"/>
            <a:ext cx="5434373" cy="245666"/>
          </a:xfrm>
          <a:prstGeom prst="rect">
            <a:avLst/>
          </a:prstGeom>
        </p:spPr>
      </p:pic>
      <p:sp>
        <p:nvSpPr>
          <p:cNvPr id="56" name="Text 42"/>
          <p:cNvSpPr/>
          <p:nvPr/>
        </p:nvSpPr>
        <p:spPr>
          <a:xfrm>
            <a:off x="722890" y="5178425"/>
            <a:ext cx="5311543"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Legacy</a:t>
            </a:r>
            <a:endParaRPr lang="en-US" sz="600" dirty="0"/>
          </a:p>
        </p:txBody>
      </p:sp>
      <p:sp>
        <p:nvSpPr>
          <p:cNvPr id="57" name="Text 43"/>
          <p:cNvSpPr/>
          <p:nvPr/>
        </p:nvSpPr>
        <p:spPr>
          <a:xfrm>
            <a:off x="722890" y="5286276"/>
            <a:ext cx="5311543" cy="209153"/>
          </a:xfrm>
          <a:prstGeom prst="rect">
            <a:avLst/>
          </a:prstGeom>
          <a:noFill/>
          <a:ln/>
        </p:spPr>
        <p:txBody>
          <a:bodyPr wrap="square" lIns="0" tIns="24572" rIns="0" bIns="0" rtlCol="0" anchor="t">
            <a:normAutofit/>
          </a:bodyPr>
          <a:lstStyle/>
          <a:p>
            <a:pPr algn="l" marL="91440" indent="-91440">
              <a:lnSpc>
                <a:spcPct val="88000"/>
              </a:lnSpc>
              <a:buSzPct val="100000"/>
              <a:buChar char="•"/>
            </a:pPr>
            <a:r>
              <a:rPr lang="en-US" sz="450" dirty="0">
                <a:solidFill>
                  <a:srgbClr val="4C4C4D"/>
                </a:solidFill>
                <a:latin typeface="Heebo" pitchFamily="34" charset="0"/>
                <a:ea typeface="Heebo" pitchFamily="34" charset="-122"/>
                <a:cs typeface="Heebo" pitchFamily="34" charset="-120"/>
              </a:rPr>
              <a:t>Selenium / Java / Cucumber</a:t>
            </a:r>
            <a:endParaRPr lang="en-US" sz="450" dirty="0"/>
          </a:p>
          <a:p>
            <a:pPr algn="l" marL="91440" indent="-91440">
              <a:lnSpc>
                <a:spcPct val="88000"/>
              </a:lnSpc>
              <a:buSzPct val="100000"/>
              <a:buChar char="•"/>
            </a:pPr>
            <a:r>
              <a:rPr lang="en-US" sz="450" dirty="0">
                <a:solidFill>
                  <a:srgbClr val="4C4C4D"/>
                </a:solidFill>
                <a:latin typeface="Heebo" pitchFamily="34" charset="0"/>
                <a:ea typeface="Heebo" pitchFamily="34" charset="-122"/>
                <a:cs typeface="Heebo" pitchFamily="34" charset="-120"/>
              </a:rPr>
              <a:t>Manual Postman tests</a:t>
            </a:r>
            <a:endParaRPr lang="en-US" sz="450" dirty="0"/>
          </a:p>
          <a:p>
            <a:pPr algn="l" marL="91440" indent="-91440">
              <a:lnSpc>
                <a:spcPct val="88000"/>
              </a:lnSpc>
              <a:buSzPct val="100000"/>
              <a:buChar char="•"/>
            </a:pPr>
            <a:r>
              <a:rPr lang="en-US" sz="450" dirty="0">
                <a:solidFill>
                  <a:srgbClr val="4C4C4D"/>
                </a:solidFill>
                <a:latin typeface="Heebo" pitchFamily="34" charset="0"/>
                <a:ea typeface="Heebo" pitchFamily="34" charset="-122"/>
                <a:cs typeface="Heebo" pitchFamily="34" charset="-120"/>
              </a:rPr>
              <a:t>No CI/CD pipeline</a:t>
            </a:r>
            <a:endParaRPr lang="en-US" sz="450" dirty="0"/>
          </a:p>
        </p:txBody>
      </p:sp>
      <p:pic>
        <p:nvPicPr>
          <p:cNvPr id="58" name="Image 12" descr="preencoded.png">    </p:cNvPr>
          <p:cNvPicPr>
            <a:picLocks noChangeAspect="1"/>
          </p:cNvPicPr>
          <p:nvPr/>
        </p:nvPicPr>
        <p:blipFill>
          <a:blip r:embed="rId21"/>
          <a:stretch>
            <a:fillRect/>
          </a:stretch>
        </p:blipFill>
        <p:spPr>
          <a:xfrm>
            <a:off x="6095848" y="4912816"/>
            <a:ext cx="5434373" cy="245666"/>
          </a:xfrm>
          <a:prstGeom prst="rect">
            <a:avLst/>
          </a:prstGeom>
        </p:spPr>
      </p:pic>
      <p:sp>
        <p:nvSpPr>
          <p:cNvPr id="59" name="Text 44"/>
          <p:cNvSpPr/>
          <p:nvPr/>
        </p:nvSpPr>
        <p:spPr>
          <a:xfrm>
            <a:off x="6157262" y="5178425"/>
            <a:ext cx="5311543"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Migrated To</a:t>
            </a:r>
            <a:endParaRPr lang="en-US" sz="600" dirty="0"/>
          </a:p>
        </p:txBody>
      </p:sp>
      <p:sp>
        <p:nvSpPr>
          <p:cNvPr id="60" name="Text 45"/>
          <p:cNvSpPr/>
          <p:nvPr/>
        </p:nvSpPr>
        <p:spPr>
          <a:xfrm>
            <a:off x="6157262" y="5286276"/>
            <a:ext cx="5311543" cy="209153"/>
          </a:xfrm>
          <a:prstGeom prst="rect">
            <a:avLst/>
          </a:prstGeom>
          <a:noFill/>
          <a:ln/>
        </p:spPr>
        <p:txBody>
          <a:bodyPr wrap="square" lIns="0" tIns="24572" rIns="0" bIns="0" rtlCol="0" anchor="t">
            <a:normAutofit/>
          </a:bodyPr>
          <a:lstStyle/>
          <a:p>
            <a:pPr algn="l" marL="91440" indent="-91440">
              <a:lnSpc>
                <a:spcPct val="88000"/>
              </a:lnSpc>
              <a:buSzPct val="100000"/>
              <a:buChar char="•"/>
            </a:pPr>
            <a:r>
              <a:rPr lang="en-US" sz="450" dirty="0">
                <a:solidFill>
                  <a:srgbClr val="4C4C4D"/>
                </a:solidFill>
                <a:latin typeface="Heebo" pitchFamily="34" charset="0"/>
                <a:ea typeface="Heebo" pitchFamily="34" charset="-122"/>
                <a:cs typeface="Heebo" pitchFamily="34" charset="-120"/>
              </a:rPr>
              <a:t>Playwright / TypeScript</a:t>
            </a:r>
            <a:endParaRPr lang="en-US" sz="450" dirty="0"/>
          </a:p>
          <a:p>
            <a:pPr algn="l" marL="91440" indent="-91440">
              <a:lnSpc>
                <a:spcPct val="88000"/>
              </a:lnSpc>
              <a:buSzPct val="100000"/>
              <a:buChar char="•"/>
            </a:pPr>
            <a:r>
              <a:rPr lang="en-US" sz="450" dirty="0">
                <a:solidFill>
                  <a:srgbClr val="4C4C4D"/>
                </a:solidFill>
                <a:latin typeface="Heebo" pitchFamily="34" charset="0"/>
                <a:ea typeface="Heebo" pitchFamily="34" charset="-122"/>
                <a:cs typeface="Heebo" pitchFamily="34" charset="-120"/>
              </a:rPr>
              <a:t>Automated API tests</a:t>
            </a:r>
            <a:endParaRPr lang="en-US" sz="450" dirty="0"/>
          </a:p>
          <a:p>
            <a:pPr algn="l" marL="91440" indent="-91440">
              <a:lnSpc>
                <a:spcPct val="88000"/>
              </a:lnSpc>
              <a:buSzPct val="100000"/>
              <a:buChar char="•"/>
            </a:pPr>
            <a:r>
              <a:rPr lang="en-US" sz="450" dirty="0">
                <a:solidFill>
                  <a:srgbClr val="4C4C4D"/>
                </a:solidFill>
                <a:latin typeface="Heebo" pitchFamily="34" charset="0"/>
                <a:ea typeface="Heebo" pitchFamily="34" charset="-122"/>
                <a:cs typeface="Heebo" pitchFamily="34" charset="-120"/>
              </a:rPr>
              <a:t>Full GitLab CI/CD pipelines</a:t>
            </a:r>
            <a:endParaRPr lang="en-US" sz="450" dirty="0"/>
          </a:p>
        </p:txBody>
      </p:sp>
      <p:sp>
        <p:nvSpPr>
          <p:cNvPr id="61" name="Text 46"/>
          <p:cNvSpPr/>
          <p:nvPr/>
        </p:nvSpPr>
        <p:spPr>
          <a:xfrm>
            <a:off x="661475" y="5586710"/>
            <a:ext cx="10868745" cy="153491"/>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50" dirty="0">
                <a:solidFill>
                  <a:srgbClr val="152D47"/>
                </a:solidFill>
                <a:latin typeface="Crimson Pro SemiBold" pitchFamily="34" charset="0"/>
                <a:ea typeface="Crimson Pro SemiBold" pitchFamily="34" charset="-122"/>
                <a:cs typeface="Crimson Pro SemiBold" pitchFamily="34" charset="-120"/>
              </a:rPr>
              <a:t> Why Playwright?</a:t>
            </a:r>
            <a:endParaRPr lang="en-US" sz="950" dirty="0"/>
          </a:p>
        </p:txBody>
      </p:sp>
      <p:sp>
        <p:nvSpPr>
          <p:cNvPr id="62" name="Text 47"/>
          <p:cNvSpPr/>
          <p:nvPr/>
        </p:nvSpPr>
        <p:spPr>
          <a:xfrm>
            <a:off x="661475" y="5770066"/>
            <a:ext cx="11478330"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Playwright delivers measurable gains in speed, reliability, and coverage — replacing three separate tools with one unified framework.</a:t>
            </a:r>
            <a:endParaRPr lang="en-US" sz="450" dirty="0"/>
          </a:p>
        </p:txBody>
      </p:sp>
      <p:sp>
        <p:nvSpPr>
          <p:cNvPr id="63" name="Shape 48"/>
          <p:cNvSpPr/>
          <p:nvPr/>
        </p:nvSpPr>
        <p:spPr>
          <a:xfrm>
            <a:off x="661475" y="5857577"/>
            <a:ext cx="3609587" cy="499963"/>
          </a:xfrm>
          <a:prstGeom prst="roundRect">
            <a:avLst>
              <a:gd name="adj" fmla="val 1843"/>
            </a:avLst>
          </a:prstGeom>
          <a:solidFill>
            <a:srgbClr val="F2EEEE"/>
          </a:solidFill>
          <a:ln/>
        </p:spPr>
      </p:sp>
      <p:sp>
        <p:nvSpPr>
          <p:cNvPr id="64" name="Shape 49"/>
          <p:cNvSpPr/>
          <p:nvPr/>
        </p:nvSpPr>
        <p:spPr>
          <a:xfrm>
            <a:off x="722890" y="5918994"/>
            <a:ext cx="184245" cy="184249"/>
          </a:xfrm>
          <a:prstGeom prst="ellipse">
            <a:avLst/>
          </a:prstGeom>
          <a:solidFill>
            <a:srgbClr val="2150FE"/>
          </a:solidFill>
          <a:ln/>
        </p:spPr>
      </p:sp>
      <p:pic>
        <p:nvPicPr>
          <p:cNvPr id="65" name="Image 13" descr="preencoded.png">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73589" y="5969595"/>
            <a:ext cx="82846" cy="82848"/>
          </a:xfrm>
          <a:prstGeom prst="rect">
            <a:avLst/>
          </a:prstGeom>
        </p:spPr>
      </p:pic>
      <p:sp>
        <p:nvSpPr>
          <p:cNvPr id="66" name="Text 50"/>
          <p:cNvSpPr/>
          <p:nvPr/>
        </p:nvSpPr>
        <p:spPr>
          <a:xfrm>
            <a:off x="722890" y="6123186"/>
            <a:ext cx="3486757"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3× Faster Execution</a:t>
            </a:r>
            <a:endParaRPr lang="en-US" sz="600" dirty="0"/>
          </a:p>
        </p:txBody>
      </p:sp>
      <p:sp>
        <p:nvSpPr>
          <p:cNvPr id="67" name="Text 51"/>
          <p:cNvSpPr/>
          <p:nvPr/>
        </p:nvSpPr>
        <p:spPr>
          <a:xfrm>
            <a:off x="722890" y="6231037"/>
            <a:ext cx="3486757"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Parallel, headless runs dramatically cut overall suite runtime</a:t>
            </a:r>
            <a:endParaRPr lang="en-US" sz="450" dirty="0"/>
          </a:p>
        </p:txBody>
      </p:sp>
      <p:sp>
        <p:nvSpPr>
          <p:cNvPr id="68" name="Shape 52"/>
          <p:cNvSpPr/>
          <p:nvPr/>
        </p:nvSpPr>
        <p:spPr>
          <a:xfrm>
            <a:off x="4291004" y="5857577"/>
            <a:ext cx="3609587" cy="499963"/>
          </a:xfrm>
          <a:prstGeom prst="roundRect">
            <a:avLst>
              <a:gd name="adj" fmla="val 1843"/>
            </a:avLst>
          </a:prstGeom>
          <a:solidFill>
            <a:srgbClr val="F2EEEE"/>
          </a:solidFill>
          <a:ln/>
        </p:spPr>
      </p:sp>
      <p:sp>
        <p:nvSpPr>
          <p:cNvPr id="69" name="Shape 53"/>
          <p:cNvSpPr/>
          <p:nvPr/>
        </p:nvSpPr>
        <p:spPr>
          <a:xfrm>
            <a:off x="4352419" y="5918994"/>
            <a:ext cx="184245" cy="184249"/>
          </a:xfrm>
          <a:prstGeom prst="ellipse">
            <a:avLst/>
          </a:prstGeom>
          <a:solidFill>
            <a:srgbClr val="2150FE"/>
          </a:solidFill>
          <a:ln/>
        </p:spPr>
      </p:sp>
      <p:pic>
        <p:nvPicPr>
          <p:cNvPr id="70" name="Image 14" descr="preencoded.png">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4403119" y="5969595"/>
            <a:ext cx="82846" cy="82848"/>
          </a:xfrm>
          <a:prstGeom prst="rect">
            <a:avLst/>
          </a:prstGeom>
        </p:spPr>
      </p:pic>
      <p:sp>
        <p:nvSpPr>
          <p:cNvPr id="71" name="Text 54"/>
          <p:cNvSpPr/>
          <p:nvPr/>
        </p:nvSpPr>
        <p:spPr>
          <a:xfrm>
            <a:off x="4352419" y="6123186"/>
            <a:ext cx="3486757"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Built-in Auto-Waiting</a:t>
            </a:r>
            <a:endParaRPr lang="en-US" sz="600" dirty="0"/>
          </a:p>
        </p:txBody>
      </p:sp>
      <p:sp>
        <p:nvSpPr>
          <p:cNvPr id="72" name="Text 55"/>
          <p:cNvSpPr/>
          <p:nvPr/>
        </p:nvSpPr>
        <p:spPr>
          <a:xfrm>
            <a:off x="4352419" y="6231037"/>
            <a:ext cx="3486757"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Fewer flaky tests — Playwright waits for elements to be ready automatically</a:t>
            </a:r>
            <a:endParaRPr lang="en-US" sz="450" dirty="0"/>
          </a:p>
        </p:txBody>
      </p:sp>
      <p:sp>
        <p:nvSpPr>
          <p:cNvPr id="73" name="Shape 56"/>
          <p:cNvSpPr/>
          <p:nvPr/>
        </p:nvSpPr>
        <p:spPr>
          <a:xfrm>
            <a:off x="7920534" y="5857577"/>
            <a:ext cx="3609686" cy="499963"/>
          </a:xfrm>
          <a:prstGeom prst="roundRect">
            <a:avLst>
              <a:gd name="adj" fmla="val 1843"/>
            </a:avLst>
          </a:prstGeom>
          <a:solidFill>
            <a:srgbClr val="F2EEEE"/>
          </a:solidFill>
          <a:ln/>
        </p:spPr>
      </p:sp>
      <p:sp>
        <p:nvSpPr>
          <p:cNvPr id="74" name="Shape 57"/>
          <p:cNvSpPr/>
          <p:nvPr/>
        </p:nvSpPr>
        <p:spPr>
          <a:xfrm>
            <a:off x="7981949" y="5918994"/>
            <a:ext cx="184245" cy="184249"/>
          </a:xfrm>
          <a:prstGeom prst="ellipse">
            <a:avLst/>
          </a:prstGeom>
          <a:solidFill>
            <a:srgbClr val="2150FE"/>
          </a:solidFill>
          <a:ln/>
        </p:spPr>
      </p:sp>
      <p:pic>
        <p:nvPicPr>
          <p:cNvPr id="75" name="Image 15" descr="preencoded.png">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032648" y="5969595"/>
            <a:ext cx="82846" cy="82848"/>
          </a:xfrm>
          <a:prstGeom prst="rect">
            <a:avLst/>
          </a:prstGeom>
        </p:spPr>
      </p:pic>
      <p:sp>
        <p:nvSpPr>
          <p:cNvPr id="76" name="Text 58"/>
          <p:cNvSpPr/>
          <p:nvPr/>
        </p:nvSpPr>
        <p:spPr>
          <a:xfrm>
            <a:off x="7981949" y="6123186"/>
            <a:ext cx="3486857"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Native API Testing</a:t>
            </a:r>
            <a:endParaRPr lang="en-US" sz="600" dirty="0"/>
          </a:p>
        </p:txBody>
      </p:sp>
      <p:sp>
        <p:nvSpPr>
          <p:cNvPr id="77" name="Text 59"/>
          <p:cNvSpPr/>
          <p:nvPr/>
        </p:nvSpPr>
        <p:spPr>
          <a:xfrm>
            <a:off x="7981949" y="6231037"/>
            <a:ext cx="3486857"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REST API assertions live alongside UI tests in the same codebase</a:t>
            </a:r>
            <a:endParaRPr lang="en-US" sz="450" dirty="0"/>
          </a:p>
        </p:txBody>
      </p:sp>
      <p:sp>
        <p:nvSpPr>
          <p:cNvPr id="78" name="Shape 60"/>
          <p:cNvSpPr/>
          <p:nvPr/>
        </p:nvSpPr>
        <p:spPr>
          <a:xfrm>
            <a:off x="661475" y="6377484"/>
            <a:ext cx="5424352" cy="499963"/>
          </a:xfrm>
          <a:prstGeom prst="roundRect">
            <a:avLst>
              <a:gd name="adj" fmla="val 1843"/>
            </a:avLst>
          </a:prstGeom>
          <a:solidFill>
            <a:srgbClr val="F2EEEE"/>
          </a:solidFill>
          <a:ln/>
        </p:spPr>
      </p:sp>
      <p:sp>
        <p:nvSpPr>
          <p:cNvPr id="79" name="Shape 61"/>
          <p:cNvSpPr/>
          <p:nvPr/>
        </p:nvSpPr>
        <p:spPr>
          <a:xfrm>
            <a:off x="722890" y="6438900"/>
            <a:ext cx="184245" cy="184249"/>
          </a:xfrm>
          <a:prstGeom prst="ellipse">
            <a:avLst/>
          </a:prstGeom>
          <a:solidFill>
            <a:srgbClr val="2150FE"/>
          </a:solidFill>
          <a:ln/>
        </p:spPr>
      </p:sp>
      <p:pic>
        <p:nvPicPr>
          <p:cNvPr id="80" name="Image 16" descr="preencoded.png">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773589" y="6489502"/>
            <a:ext cx="82846" cy="82848"/>
          </a:xfrm>
          <a:prstGeom prst="rect">
            <a:avLst/>
          </a:prstGeom>
        </p:spPr>
      </p:pic>
      <p:sp>
        <p:nvSpPr>
          <p:cNvPr id="81" name="Text 62"/>
          <p:cNvSpPr/>
          <p:nvPr/>
        </p:nvSpPr>
        <p:spPr>
          <a:xfrm>
            <a:off x="722890" y="6643092"/>
            <a:ext cx="530152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Better Debugging</a:t>
            </a:r>
            <a:endParaRPr lang="en-US" sz="600" dirty="0"/>
          </a:p>
        </p:txBody>
      </p:sp>
      <p:sp>
        <p:nvSpPr>
          <p:cNvPr id="82" name="Text 63"/>
          <p:cNvSpPr/>
          <p:nvPr/>
        </p:nvSpPr>
        <p:spPr>
          <a:xfrm>
            <a:off x="722890" y="6750943"/>
            <a:ext cx="530152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Traces, screenshots &amp; video recordings on every failure for fast root-cause analysis</a:t>
            </a:r>
            <a:endParaRPr lang="en-US" sz="450" dirty="0"/>
          </a:p>
        </p:txBody>
      </p:sp>
      <p:sp>
        <p:nvSpPr>
          <p:cNvPr id="83" name="Shape 64"/>
          <p:cNvSpPr/>
          <p:nvPr/>
        </p:nvSpPr>
        <p:spPr>
          <a:xfrm>
            <a:off x="6105769" y="6377484"/>
            <a:ext cx="5424451" cy="499963"/>
          </a:xfrm>
          <a:prstGeom prst="roundRect">
            <a:avLst>
              <a:gd name="adj" fmla="val 1843"/>
            </a:avLst>
          </a:prstGeom>
          <a:solidFill>
            <a:srgbClr val="F2EEEE"/>
          </a:solidFill>
          <a:ln/>
        </p:spPr>
      </p:sp>
      <p:sp>
        <p:nvSpPr>
          <p:cNvPr id="84" name="Shape 65"/>
          <p:cNvSpPr/>
          <p:nvPr/>
        </p:nvSpPr>
        <p:spPr>
          <a:xfrm>
            <a:off x="6167184" y="6438900"/>
            <a:ext cx="184245" cy="184249"/>
          </a:xfrm>
          <a:prstGeom prst="ellipse">
            <a:avLst/>
          </a:prstGeom>
          <a:solidFill>
            <a:srgbClr val="2150FE"/>
          </a:solidFill>
          <a:ln/>
        </p:spPr>
      </p:sp>
      <p:pic>
        <p:nvPicPr>
          <p:cNvPr id="85" name="Image 17" descr="preencoded.png">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6217884" y="6489502"/>
            <a:ext cx="82846" cy="82848"/>
          </a:xfrm>
          <a:prstGeom prst="rect">
            <a:avLst/>
          </a:prstGeom>
        </p:spPr>
      </p:pic>
      <p:sp>
        <p:nvSpPr>
          <p:cNvPr id="86" name="Text 66"/>
          <p:cNvSpPr/>
          <p:nvPr/>
        </p:nvSpPr>
        <p:spPr>
          <a:xfrm>
            <a:off x="6167184" y="6643092"/>
            <a:ext cx="5301621"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Single Framework</a:t>
            </a:r>
            <a:endParaRPr lang="en-US" sz="600" dirty="0"/>
          </a:p>
        </p:txBody>
      </p:sp>
      <p:sp>
        <p:nvSpPr>
          <p:cNvPr id="87" name="Text 67"/>
          <p:cNvSpPr/>
          <p:nvPr/>
        </p:nvSpPr>
        <p:spPr>
          <a:xfrm>
            <a:off x="6167184" y="6750943"/>
            <a:ext cx="5301621"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UI + API + Performance testing unified under one tool and language</a:t>
            </a:r>
            <a:endParaRPr lang="en-US" sz="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519807"/>
            <a:ext cx="10868745" cy="191988"/>
          </a:xfrm>
          <a:prstGeom prst="rect">
            <a:avLst/>
          </a:prstGeom>
          <a:noFill/>
          <a:ln/>
        </p:spPr>
        <p:txBody>
          <a:bodyPr wrap="none" lIns="0" tIns="0" rIns="0" bIns="0" rtlCol="0" anchor="t"/>
          <a:lstStyle/>
          <a:p>
            <a:pPr algn="ctr" indent="0" marL="0">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Impact &amp; Key Outcomes</a:t>
            </a:r>
            <a:endParaRPr lang="en-US" sz="1200" dirty="0"/>
          </a:p>
        </p:txBody>
      </p:sp>
      <p:sp>
        <p:nvSpPr>
          <p:cNvPr id="3" name="Text 1"/>
          <p:cNvSpPr/>
          <p:nvPr/>
        </p:nvSpPr>
        <p:spPr>
          <a:xfrm>
            <a:off x="356682" y="751681"/>
            <a:ext cx="11478330"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Delivering measurable ROI across all 6 CMS projects through shift-left quality engineering</a:t>
            </a:r>
            <a:endParaRPr lang="en-US" sz="450" dirty="0"/>
          </a:p>
        </p:txBody>
      </p:sp>
      <p:sp>
        <p:nvSpPr>
          <p:cNvPr id="4" name="Text 2"/>
          <p:cNvSpPr/>
          <p:nvPr/>
        </p:nvSpPr>
        <p:spPr>
          <a:xfrm>
            <a:off x="1610280" y="869851"/>
            <a:ext cx="3524162" cy="202704"/>
          </a:xfrm>
          <a:prstGeom prst="rect">
            <a:avLst/>
          </a:prstGeom>
          <a:noFill/>
          <a:ln/>
        </p:spPr>
        <p:txBody>
          <a:bodyPr wrap="none" lIns="0" tIns="0" rIns="0" bIns="0" rtlCol="0" anchor="t"/>
          <a:lstStyle/>
          <a:p>
            <a:pPr algn="ctr" indent="0" marL="0">
              <a:lnSpc>
                <a:spcPct val="83000"/>
              </a:lnSpc>
              <a:buNone/>
            </a:pPr>
            <a:r>
              <a:rPr lang="en-US" sz="1550" dirty="0">
                <a:solidFill>
                  <a:srgbClr val="1A7F4B"/>
                </a:solidFill>
                <a:latin typeface="Crimson Pro SemiBold" pitchFamily="34" charset="0"/>
                <a:ea typeface="Crimson Pro SemiBold" pitchFamily="34" charset="-122"/>
                <a:cs typeface="Crimson Pro SemiBold" pitchFamily="34" charset="-120"/>
              </a:rPr>
              <a:t>80%+</a:t>
            </a:r>
            <a:endParaRPr lang="en-US" sz="1550" dirty="0"/>
          </a:p>
        </p:txBody>
      </p:sp>
      <p:sp>
        <p:nvSpPr>
          <p:cNvPr id="5" name="Text 3"/>
          <p:cNvSpPr/>
          <p:nvPr/>
        </p:nvSpPr>
        <p:spPr>
          <a:xfrm>
            <a:off x="661475" y="1118096"/>
            <a:ext cx="5421871" cy="95945"/>
          </a:xfrm>
          <a:prstGeom prst="rect">
            <a:avLst/>
          </a:prstGeom>
          <a:noFill/>
          <a:ln/>
        </p:spPr>
        <p:txBody>
          <a:bodyPr wrap="none" lIns="0" tIns="0" rIns="0" bIns="0" rtlCol="0" anchor="t"/>
          <a:lstStyle/>
          <a:p>
            <a:pPr algn="ctr"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Less Manual Testing</a:t>
            </a:r>
            <a:endParaRPr lang="en-US" sz="600" dirty="0"/>
          </a:p>
        </p:txBody>
      </p:sp>
      <p:sp>
        <p:nvSpPr>
          <p:cNvPr id="6" name="Text 4"/>
          <p:cNvSpPr/>
          <p:nvPr/>
        </p:nvSpPr>
        <p:spPr>
          <a:xfrm>
            <a:off x="661475" y="1225947"/>
            <a:ext cx="5421871"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Reduction in regression effort across all 6 projects</a:t>
            </a:r>
            <a:endParaRPr lang="en-US" sz="450" dirty="0"/>
          </a:p>
        </p:txBody>
      </p:sp>
      <p:sp>
        <p:nvSpPr>
          <p:cNvPr id="7" name="Text 5"/>
          <p:cNvSpPr/>
          <p:nvPr/>
        </p:nvSpPr>
        <p:spPr>
          <a:xfrm>
            <a:off x="7057055" y="869851"/>
            <a:ext cx="3524261" cy="202704"/>
          </a:xfrm>
          <a:prstGeom prst="rect">
            <a:avLst/>
          </a:prstGeom>
          <a:noFill/>
          <a:ln/>
        </p:spPr>
        <p:txBody>
          <a:bodyPr wrap="none" lIns="0" tIns="0" rIns="0" bIns="0" rtlCol="0" anchor="t"/>
          <a:lstStyle/>
          <a:p>
            <a:pPr algn="ctr" indent="0" marL="0">
              <a:lnSpc>
                <a:spcPct val="83000"/>
              </a:lnSpc>
              <a:buNone/>
            </a:pPr>
            <a:r>
              <a:rPr lang="en-US" sz="1550" dirty="0">
                <a:solidFill>
                  <a:srgbClr val="1A7F4B"/>
                </a:solidFill>
                <a:latin typeface="Crimson Pro SemiBold" pitchFamily="34" charset="0"/>
                <a:ea typeface="Crimson Pro SemiBold" pitchFamily="34" charset="-122"/>
                <a:cs typeface="Crimson Pro SemiBold" pitchFamily="34" charset="-120"/>
              </a:rPr>
              <a:t>90%</a:t>
            </a:r>
            <a:endParaRPr lang="en-US" sz="1550" dirty="0"/>
          </a:p>
        </p:txBody>
      </p:sp>
      <p:sp>
        <p:nvSpPr>
          <p:cNvPr id="8" name="Text 6"/>
          <p:cNvSpPr/>
          <p:nvPr/>
        </p:nvSpPr>
        <p:spPr>
          <a:xfrm>
            <a:off x="6108250" y="1118096"/>
            <a:ext cx="5421971" cy="95945"/>
          </a:xfrm>
          <a:prstGeom prst="rect">
            <a:avLst/>
          </a:prstGeom>
          <a:noFill/>
          <a:ln/>
        </p:spPr>
        <p:txBody>
          <a:bodyPr wrap="none" lIns="0" tIns="0" rIns="0" bIns="0" rtlCol="0" anchor="t"/>
          <a:lstStyle/>
          <a:p>
            <a:pPr algn="ctr"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Faster Feedback</a:t>
            </a:r>
            <a:endParaRPr lang="en-US" sz="600" dirty="0"/>
          </a:p>
        </p:txBody>
      </p:sp>
      <p:sp>
        <p:nvSpPr>
          <p:cNvPr id="9" name="Text 7"/>
          <p:cNvSpPr/>
          <p:nvPr/>
        </p:nvSpPr>
        <p:spPr>
          <a:xfrm>
            <a:off x="6108250" y="1225947"/>
            <a:ext cx="5421971"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Story-based execution vs full regression</a:t>
            </a:r>
            <a:endParaRPr lang="en-US" sz="450" dirty="0"/>
          </a:p>
        </p:txBody>
      </p:sp>
      <p:sp>
        <p:nvSpPr>
          <p:cNvPr id="10" name="Text 8"/>
          <p:cNvSpPr/>
          <p:nvPr/>
        </p:nvSpPr>
        <p:spPr>
          <a:xfrm>
            <a:off x="1610280" y="1361579"/>
            <a:ext cx="3524162" cy="202704"/>
          </a:xfrm>
          <a:prstGeom prst="rect">
            <a:avLst/>
          </a:prstGeom>
          <a:noFill/>
          <a:ln/>
        </p:spPr>
        <p:txBody>
          <a:bodyPr wrap="none" lIns="0" tIns="0" rIns="0" bIns="0" rtlCol="0" anchor="t"/>
          <a:lstStyle/>
          <a:p>
            <a:pPr algn="ctr" indent="0" marL="0">
              <a:lnSpc>
                <a:spcPct val="83000"/>
              </a:lnSpc>
              <a:buNone/>
            </a:pPr>
            <a:r>
              <a:rPr lang="en-US" sz="1550" dirty="0">
                <a:solidFill>
                  <a:srgbClr val="1A7F4B"/>
                </a:solidFill>
                <a:latin typeface="Crimson Pro SemiBold" pitchFamily="34" charset="0"/>
                <a:ea typeface="Crimson Pro SemiBold" pitchFamily="34" charset="-122"/>
                <a:cs typeface="Crimson Pro SemiBold" pitchFamily="34" charset="-120"/>
              </a:rPr>
              <a:t>6</a:t>
            </a:r>
            <a:endParaRPr lang="en-US" sz="1550" dirty="0"/>
          </a:p>
        </p:txBody>
      </p:sp>
      <p:sp>
        <p:nvSpPr>
          <p:cNvPr id="11" name="Text 9"/>
          <p:cNvSpPr/>
          <p:nvPr/>
        </p:nvSpPr>
        <p:spPr>
          <a:xfrm>
            <a:off x="661475" y="1609824"/>
            <a:ext cx="5421871" cy="95945"/>
          </a:xfrm>
          <a:prstGeom prst="rect">
            <a:avLst/>
          </a:prstGeom>
          <a:noFill/>
          <a:ln/>
        </p:spPr>
        <p:txBody>
          <a:bodyPr wrap="none" lIns="0" tIns="0" rIns="0" bIns="0" rtlCol="0" anchor="t"/>
          <a:lstStyle/>
          <a:p>
            <a:pPr algn="ctr"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CMS Projects</a:t>
            </a:r>
            <a:endParaRPr lang="en-US" sz="600" dirty="0"/>
          </a:p>
        </p:txBody>
      </p:sp>
      <p:sp>
        <p:nvSpPr>
          <p:cNvPr id="12" name="Text 10"/>
          <p:cNvSpPr/>
          <p:nvPr/>
        </p:nvSpPr>
        <p:spPr>
          <a:xfrm>
            <a:off x="661475" y="1717675"/>
            <a:ext cx="5421871"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Fully covered by automated CI/CD pipelines</a:t>
            </a:r>
            <a:endParaRPr lang="en-US" sz="450" dirty="0"/>
          </a:p>
        </p:txBody>
      </p:sp>
      <p:sp>
        <p:nvSpPr>
          <p:cNvPr id="13" name="Text 11"/>
          <p:cNvSpPr/>
          <p:nvPr/>
        </p:nvSpPr>
        <p:spPr>
          <a:xfrm>
            <a:off x="7057055" y="1361579"/>
            <a:ext cx="3524261" cy="202704"/>
          </a:xfrm>
          <a:prstGeom prst="rect">
            <a:avLst/>
          </a:prstGeom>
          <a:noFill/>
          <a:ln/>
        </p:spPr>
        <p:txBody>
          <a:bodyPr wrap="none" lIns="0" tIns="0" rIns="0" bIns="0" rtlCol="0" anchor="t"/>
          <a:lstStyle/>
          <a:p>
            <a:pPr algn="ctr" indent="0" marL="0">
              <a:lnSpc>
                <a:spcPct val="83000"/>
              </a:lnSpc>
              <a:buNone/>
            </a:pPr>
            <a:r>
              <a:rPr lang="en-US" sz="1550" dirty="0">
                <a:solidFill>
                  <a:srgbClr val="1A7F4B"/>
                </a:solidFill>
                <a:latin typeface="Crimson Pro SemiBold" pitchFamily="34" charset="0"/>
                <a:ea typeface="Crimson Pro SemiBold" pitchFamily="34" charset="-122"/>
                <a:cs typeface="Crimson Pro SemiBold" pitchFamily="34" charset="-120"/>
              </a:rPr>
              <a:t>5</a:t>
            </a:r>
            <a:endParaRPr lang="en-US" sz="1550" dirty="0"/>
          </a:p>
        </p:txBody>
      </p:sp>
      <p:sp>
        <p:nvSpPr>
          <p:cNvPr id="14" name="Text 12"/>
          <p:cNvSpPr/>
          <p:nvPr/>
        </p:nvSpPr>
        <p:spPr>
          <a:xfrm>
            <a:off x="6108250" y="1609824"/>
            <a:ext cx="5421971" cy="95945"/>
          </a:xfrm>
          <a:prstGeom prst="rect">
            <a:avLst/>
          </a:prstGeom>
          <a:noFill/>
          <a:ln/>
        </p:spPr>
        <p:txBody>
          <a:bodyPr wrap="none" lIns="0" tIns="0" rIns="0" bIns="0" rtlCol="0" anchor="t"/>
          <a:lstStyle/>
          <a:p>
            <a:pPr algn="ctr"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Quality Gates</a:t>
            </a:r>
            <a:endParaRPr lang="en-US" sz="600" dirty="0"/>
          </a:p>
        </p:txBody>
      </p:sp>
      <p:sp>
        <p:nvSpPr>
          <p:cNvPr id="15" name="Text 13"/>
          <p:cNvSpPr/>
          <p:nvPr/>
        </p:nvSpPr>
        <p:spPr>
          <a:xfrm>
            <a:off x="6108250" y="1717675"/>
            <a:ext cx="5421971"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Functional · Security · Performance · Compatibility · Reporting</a:t>
            </a:r>
            <a:endParaRPr lang="en-US" sz="450" dirty="0"/>
          </a:p>
        </p:txBody>
      </p:sp>
      <p:sp>
        <p:nvSpPr>
          <p:cNvPr id="16" name="Text 14"/>
          <p:cNvSpPr/>
          <p:nvPr/>
        </p:nvSpPr>
        <p:spPr>
          <a:xfrm>
            <a:off x="661475" y="1825129"/>
            <a:ext cx="5359464" cy="95945"/>
          </a:xfrm>
          <a:prstGeom prst="rect">
            <a:avLst/>
          </a:prstGeom>
          <a:noFill/>
          <a:ln/>
        </p:spPr>
        <p:txBody>
          <a:bodyPr wrap="none" lIns="0" tIns="0" rIns="0" bIns="0" rtlCol="0" anchor="t"/>
          <a:lstStyle/>
          <a:p>
            <a:pPr algn="ctr" indent="0" marL="0">
              <a:lnSpc>
                <a:spcPct val="104000"/>
              </a:lnSpc>
              <a:buNone/>
            </a:pPr>
            <a:r>
              <a:rPr lang="en-US" sz="600" dirty="0">
                <a:solidFill>
                  <a:srgbClr val="000000"/>
                </a:solidFill>
                <a:latin typeface="Twemoji Mozilla" pitchFamily="34" charset="0"/>
                <a:ea typeface="Twemoji Mozilla" pitchFamily="34" charset="-122"/>
                <a:cs typeface="Twemoji Mozilla" pitchFamily="34" charset="-120"/>
              </a:rPr>
              <a:t>🎯</a:t>
            </a:r>
            <a:pPr algn="ctr" indent="0" marL="0">
              <a:lnSpc>
                <a:spcPct val="104000"/>
              </a:lnSpc>
              <a:buNone/>
            </a:pPr>
            <a:r>
              <a:rPr lang="en-US" sz="600" dirty="0">
                <a:solidFill>
                  <a:srgbClr val="152D47"/>
                </a:solidFill>
                <a:latin typeface="Crimson Pro SemiBold" pitchFamily="34" charset="0"/>
                <a:ea typeface="Crimson Pro SemiBold" pitchFamily="34" charset="-122"/>
                <a:cs typeface="Crimson Pro SemiBold" pitchFamily="34" charset="-120"/>
              </a:rPr>
              <a:t> Shift-Left: Defect Detection</a:t>
            </a:r>
            <a:endParaRPr lang="en-US" sz="600" dirty="0"/>
          </a:p>
        </p:txBody>
      </p:sp>
      <p:pic>
        <p:nvPicPr>
          <p:cNvPr id="17" name="Image 0" descr="preencoded.png">    </p:cNvPr>
          <p:cNvPicPr>
            <a:picLocks noChangeAspect="1"/>
          </p:cNvPicPr>
          <p:nvPr/>
        </p:nvPicPr>
        <p:blipFill>
          <a:blip r:embed="rId1"/>
          <a:stretch>
            <a:fillRect/>
          </a:stretch>
        </p:blipFill>
        <p:spPr>
          <a:xfrm>
            <a:off x="661475" y="1943497"/>
            <a:ext cx="3483582" cy="2509341"/>
          </a:xfrm>
          <a:prstGeom prst="rect">
            <a:avLst/>
          </a:prstGeom>
        </p:spPr>
      </p:pic>
      <p:sp>
        <p:nvSpPr>
          <p:cNvPr id="18" name="Text 15"/>
          <p:cNvSpPr/>
          <p:nvPr/>
        </p:nvSpPr>
        <p:spPr>
          <a:xfrm>
            <a:off x="356682" y="4475262"/>
            <a:ext cx="5969049"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Defects caught in production dropped from </a:t>
            </a:r>
            <a:pPr algn="ctr"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20% → 2%</a:t>
            </a:r>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 — the most expensive place to fix bugs</a:t>
            </a:r>
            <a:endParaRPr lang="en-US" sz="450" dirty="0"/>
          </a:p>
        </p:txBody>
      </p:sp>
      <p:sp>
        <p:nvSpPr>
          <p:cNvPr id="19" name="Text 16"/>
          <p:cNvSpPr/>
          <p:nvPr/>
        </p:nvSpPr>
        <p:spPr>
          <a:xfrm>
            <a:off x="6177106" y="1825129"/>
            <a:ext cx="5359464" cy="95945"/>
          </a:xfrm>
          <a:prstGeom prst="rect">
            <a:avLst/>
          </a:prstGeom>
          <a:noFill/>
          <a:ln/>
        </p:spPr>
        <p:txBody>
          <a:bodyPr wrap="none" lIns="0" tIns="0" rIns="0" bIns="0" rtlCol="0" anchor="t"/>
          <a:lstStyle/>
          <a:p>
            <a:pPr algn="ctr" indent="0" marL="0">
              <a:lnSpc>
                <a:spcPct val="104000"/>
              </a:lnSpc>
              <a:buNone/>
            </a:pPr>
            <a:r>
              <a:rPr lang="en-US" sz="600" dirty="0">
                <a:solidFill>
                  <a:srgbClr val="000000"/>
                </a:solidFill>
                <a:latin typeface="Twemoji Mozilla" pitchFamily="34" charset="0"/>
                <a:ea typeface="Twemoji Mozilla" pitchFamily="34" charset="-122"/>
                <a:cs typeface="Twemoji Mozilla" pitchFamily="34" charset="-120"/>
              </a:rPr>
              <a:t>💰</a:t>
            </a:r>
            <a:pPr algn="ctr" indent="0" marL="0">
              <a:lnSpc>
                <a:spcPct val="104000"/>
              </a:lnSpc>
              <a:buNone/>
            </a:pPr>
            <a:r>
              <a:rPr lang="en-US" sz="600" dirty="0">
                <a:solidFill>
                  <a:srgbClr val="152D47"/>
                </a:solidFill>
                <a:latin typeface="Crimson Pro SemiBold" pitchFamily="34" charset="0"/>
                <a:ea typeface="Crimson Pro SemiBold" pitchFamily="34" charset="-122"/>
                <a:cs typeface="Crimson Pro SemiBold" pitchFamily="34" charset="-120"/>
              </a:rPr>
              <a:t> Cost of Defect by Stage</a:t>
            </a:r>
            <a:endParaRPr lang="en-US" sz="600" dirty="0"/>
          </a:p>
        </p:txBody>
      </p:sp>
      <p:pic>
        <p:nvPicPr>
          <p:cNvPr id="20" name="Image 1" descr="preencoded.png">    </p:cNvPr>
          <p:cNvPicPr>
            <a:picLocks noChangeAspect="1"/>
          </p:cNvPicPr>
          <p:nvPr/>
        </p:nvPicPr>
        <p:blipFill>
          <a:blip r:embed="rId2"/>
          <a:stretch>
            <a:fillRect/>
          </a:stretch>
        </p:blipFill>
        <p:spPr>
          <a:xfrm>
            <a:off x="6177106" y="1943497"/>
            <a:ext cx="3483582" cy="2509341"/>
          </a:xfrm>
          <a:prstGeom prst="rect">
            <a:avLst/>
          </a:prstGeom>
        </p:spPr>
      </p:pic>
      <p:sp>
        <p:nvSpPr>
          <p:cNvPr id="21" name="Text 17"/>
          <p:cNvSpPr/>
          <p:nvPr/>
        </p:nvSpPr>
        <p:spPr>
          <a:xfrm>
            <a:off x="5872313" y="4475262"/>
            <a:ext cx="5969049"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Fixing a bug in production costs </a:t>
            </a:r>
            <a:pPr algn="ctr" indent="0" marL="0">
              <a:lnSpc>
                <a:spcPct val="88000"/>
              </a:lnSpc>
              <a:buNone/>
            </a:pPr>
            <a:r>
              <a:rPr lang="en-US" sz="450" b="1" dirty="0">
                <a:solidFill>
                  <a:srgbClr val="4C4C4D"/>
                </a:solidFill>
                <a:latin typeface="Heebo Bold" pitchFamily="34" charset="0"/>
                <a:ea typeface="Heebo Bold" pitchFamily="34" charset="-122"/>
                <a:cs typeface="Heebo Bold" pitchFamily="34" charset="-120"/>
              </a:rPr>
              <a:t>£100x more</a:t>
            </a:r>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 than catching it at development time</a:t>
            </a:r>
            <a:endParaRPr lang="en-US" sz="450" dirty="0"/>
          </a:p>
        </p:txBody>
      </p:sp>
      <p:sp>
        <p:nvSpPr>
          <p:cNvPr id="22" name="Shape 18"/>
          <p:cNvSpPr/>
          <p:nvPr/>
        </p:nvSpPr>
        <p:spPr>
          <a:xfrm>
            <a:off x="661475" y="4580731"/>
            <a:ext cx="10868745" cy="133548"/>
          </a:xfrm>
          <a:prstGeom prst="roundRect">
            <a:avLst>
              <a:gd name="adj" fmla="val 6900"/>
            </a:avLst>
          </a:prstGeom>
          <a:solidFill>
            <a:srgbClr val="B6FCB8"/>
          </a:solidFill>
          <a:ln/>
        </p:spPr>
      </p:sp>
      <p:pic>
        <p:nvPicPr>
          <p:cNvPr id="23" name="Image 2" descr="preencoded.png">    </p:cNvPr>
          <p:cNvPicPr>
            <a:picLocks noChangeAspect="1"/>
          </p:cNvPicPr>
          <p:nvPr/>
        </p:nvPicPr>
        <p:blipFill>
          <a:blip r:embed="rId3"/>
          <a:stretch>
            <a:fillRect/>
          </a:stretch>
        </p:blipFill>
        <p:spPr>
          <a:xfrm>
            <a:off x="722890" y="4615954"/>
            <a:ext cx="76694" cy="61416"/>
          </a:xfrm>
          <a:prstGeom prst="rect">
            <a:avLst/>
          </a:prstGeom>
        </p:spPr>
      </p:pic>
      <p:sp>
        <p:nvSpPr>
          <p:cNvPr id="24" name="Text 19"/>
          <p:cNvSpPr/>
          <p:nvPr/>
        </p:nvSpPr>
        <p:spPr>
          <a:xfrm>
            <a:off x="860999" y="4615954"/>
            <a:ext cx="11217391" cy="65088"/>
          </a:xfrm>
          <a:prstGeom prst="rect">
            <a:avLst/>
          </a:prstGeom>
          <a:noFill/>
          <a:ln/>
        </p:spPr>
        <p:txBody>
          <a:bodyPr wrap="none" lIns="0" tIns="0" rIns="0" bIns="0" rtlCol="0" anchor="t"/>
          <a:lstStyle/>
          <a:p>
            <a:pPr algn="l" indent="0" marL="0">
              <a:lnSpc>
                <a:spcPct val="88000"/>
              </a:lnSpc>
              <a:buNone/>
            </a:pPr>
            <a:r>
              <a:rPr lang="en-US" sz="450" b="1" dirty="0">
                <a:solidFill>
                  <a:srgbClr val="000000"/>
                </a:solidFill>
                <a:latin typeface="Heebo Bold" pitchFamily="34" charset="0"/>
                <a:ea typeface="Heebo Bold" pitchFamily="34" charset="-122"/>
                <a:cs typeface="Heebo Bold" pitchFamily="34" charset="-120"/>
              </a:rPr>
              <a:t>Business Value:</a:t>
            </a:r>
            <a:pPr algn="l" indent="0" marL="0">
              <a:lnSpc>
                <a:spcPct val="88000"/>
              </a:lnSpc>
              <a:buNone/>
            </a:pPr>
            <a:r>
              <a:rPr lang="en-US" sz="450" dirty="0">
                <a:solidFill>
                  <a:srgbClr val="000000"/>
                </a:solidFill>
                <a:latin typeface="Heebo" pitchFamily="34" charset="0"/>
                <a:ea typeface="Heebo" pitchFamily="34" charset="-122"/>
                <a:cs typeface="Heebo" pitchFamily="34" charset="-120"/>
              </a:rPr>
              <a:t> Shift-left testing + automated pipelines means fewer production incidents, faster releases, and dramatically lower cost-of-quality — delivering continuous GDS-compliant coverage.</a:t>
            </a:r>
            <a:endParaRPr lang="en-US" sz="450" dirty="0"/>
          </a:p>
        </p:txBody>
      </p:sp>
      <p:sp>
        <p:nvSpPr>
          <p:cNvPr id="25" name="Shape 20"/>
          <p:cNvSpPr/>
          <p:nvPr/>
        </p:nvSpPr>
        <p:spPr>
          <a:xfrm>
            <a:off x="661475" y="4751983"/>
            <a:ext cx="10868745" cy="6350"/>
          </a:xfrm>
          <a:prstGeom prst="roundRect">
            <a:avLst>
              <a:gd name="adj" fmla="val 49999"/>
            </a:avLst>
          </a:prstGeom>
          <a:solidFill>
            <a:srgbClr val="4C4C4D">
              <a:alpha val="50000"/>
            </a:srgbClr>
          </a:solidFill>
          <a:ln/>
        </p:spPr>
      </p:sp>
      <p:sp>
        <p:nvSpPr>
          <p:cNvPr id="26" name="Shape 21"/>
          <p:cNvSpPr/>
          <p:nvPr/>
        </p:nvSpPr>
        <p:spPr>
          <a:xfrm>
            <a:off x="661475" y="4796036"/>
            <a:ext cx="570791" cy="93166"/>
          </a:xfrm>
          <a:prstGeom prst="roundRect">
            <a:avLst>
              <a:gd name="adj" fmla="val 7912"/>
            </a:avLst>
          </a:prstGeom>
          <a:solidFill>
            <a:srgbClr val="CCD7FF"/>
          </a:solidFill>
          <a:ln/>
        </p:spPr>
      </p:sp>
      <p:pic>
        <p:nvPicPr>
          <p:cNvPr id="27" name="Image 3" descr="preencoded.png">    </p:cNvPr>
          <p:cNvPicPr>
            <a:picLocks noChangeAspect="1"/>
          </p:cNvPicPr>
          <p:nvPr/>
        </p:nvPicPr>
        <p:blipFill>
          <a:blip r:embed="rId4"/>
          <a:stretch>
            <a:fillRect/>
          </a:stretch>
        </p:blipFill>
        <p:spPr>
          <a:xfrm>
            <a:off x="698284" y="4818063"/>
            <a:ext cx="49112" cy="49113"/>
          </a:xfrm>
          <a:prstGeom prst="rect">
            <a:avLst/>
          </a:prstGeom>
        </p:spPr>
      </p:pic>
      <p:sp>
        <p:nvSpPr>
          <p:cNvPr id="28" name="Text 22"/>
          <p:cNvSpPr/>
          <p:nvPr/>
        </p:nvSpPr>
        <p:spPr>
          <a:xfrm>
            <a:off x="771903" y="4814391"/>
            <a:ext cx="1033139" cy="56455"/>
          </a:xfrm>
          <a:prstGeom prst="rect">
            <a:avLst/>
          </a:prstGeom>
          <a:noFill/>
          <a:ln/>
        </p:spPr>
        <p:txBody>
          <a:bodyPr wrap="none" lIns="0" tIns="0" rIns="0" bIns="0" rtlCol="0" anchor="t"/>
          <a:lstStyle/>
          <a:p>
            <a:pPr algn="l" indent="0" marL="0">
              <a:lnSpc>
                <a:spcPct val="96000"/>
              </a:lnSpc>
              <a:buNone/>
            </a:pPr>
            <a:r>
              <a:rPr lang="en-US" sz="350" dirty="0">
                <a:solidFill>
                  <a:srgbClr val="4C4C4D"/>
                </a:solidFill>
                <a:latin typeface="Heebo" pitchFamily="34" charset="0"/>
                <a:ea typeface="Heebo" pitchFamily="34" charset="-122"/>
                <a:cs typeface="Heebo" pitchFamily="34" charset="-120"/>
              </a:rPr>
              <a:t>FUTURE ROADMAP</a:t>
            </a:r>
            <a:endParaRPr lang="en-US" sz="350" dirty="0"/>
          </a:p>
        </p:txBody>
      </p:sp>
      <p:sp>
        <p:nvSpPr>
          <p:cNvPr id="29" name="Text 23"/>
          <p:cNvSpPr/>
          <p:nvPr/>
        </p:nvSpPr>
        <p:spPr>
          <a:xfrm>
            <a:off x="661475" y="4897140"/>
            <a:ext cx="10868745" cy="153491"/>
          </a:xfrm>
          <a:prstGeom prst="rect">
            <a:avLst/>
          </a:prstGeom>
          <a:noFill/>
          <a:ln/>
        </p:spPr>
        <p:txBody>
          <a:bodyPr wrap="none" lIns="0" tIns="0" rIns="0" bIns="0" rtlCol="0" anchor="t"/>
          <a:lstStyle/>
          <a:p>
            <a:pPr algn="l" indent="0" marL="0">
              <a:lnSpc>
                <a:spcPct val="104000"/>
              </a:lnSpc>
              <a:buNone/>
            </a:pPr>
            <a:r>
              <a:rPr lang="en-US" sz="950" dirty="0">
                <a:solidFill>
                  <a:srgbClr val="152D47"/>
                </a:solidFill>
                <a:latin typeface="Crimson Pro SemiBold" pitchFamily="34" charset="0"/>
                <a:ea typeface="Crimson Pro SemiBold" pitchFamily="34" charset="-122"/>
                <a:cs typeface="Crimson Pro SemiBold" pitchFamily="34" charset="-120"/>
              </a:rPr>
              <a:t>Planned Enhancements</a:t>
            </a:r>
            <a:endParaRPr lang="en-US" sz="950" dirty="0"/>
          </a:p>
        </p:txBody>
      </p:sp>
      <p:sp>
        <p:nvSpPr>
          <p:cNvPr id="30" name="Text 24"/>
          <p:cNvSpPr/>
          <p:nvPr/>
        </p:nvSpPr>
        <p:spPr>
          <a:xfrm>
            <a:off x="661475" y="5080496"/>
            <a:ext cx="11478330"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Next-phase capabilities to further strengthen quality coverage and automation maturity</a:t>
            </a:r>
            <a:endParaRPr lang="en-US" sz="450" dirty="0"/>
          </a:p>
        </p:txBody>
      </p:sp>
      <p:pic>
        <p:nvPicPr>
          <p:cNvPr id="31" name="Image 4"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5168007"/>
            <a:ext cx="5424352" cy="451247"/>
          </a:xfrm>
          <a:prstGeom prst="rect">
            <a:avLst/>
          </a:prstGeom>
        </p:spPr>
      </p:pic>
      <p:pic>
        <p:nvPicPr>
          <p:cNvPr id="32" name="Image 5"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27614" y="5220395"/>
            <a:ext cx="92073" cy="92075"/>
          </a:xfrm>
          <a:prstGeom prst="rect">
            <a:avLst/>
          </a:prstGeom>
        </p:spPr>
      </p:pic>
      <p:sp>
        <p:nvSpPr>
          <p:cNvPr id="33" name="Text 25"/>
          <p:cNvSpPr/>
          <p:nvPr/>
        </p:nvSpPr>
        <p:spPr>
          <a:xfrm>
            <a:off x="729240" y="5378549"/>
            <a:ext cx="528882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Accessibility Testing</a:t>
            </a:r>
            <a:endParaRPr lang="en-US" sz="600" dirty="0"/>
          </a:p>
        </p:txBody>
      </p:sp>
      <p:sp>
        <p:nvSpPr>
          <p:cNvPr id="34" name="Text 26"/>
          <p:cNvSpPr/>
          <p:nvPr/>
        </p:nvSpPr>
        <p:spPr>
          <a:xfrm>
            <a:off x="729240" y="5486400"/>
            <a:ext cx="528882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axe-core integration for automated WCAG compliance checks on every build</a:t>
            </a:r>
            <a:endParaRPr lang="en-US" sz="450" dirty="0"/>
          </a:p>
        </p:txBody>
      </p:sp>
      <p:pic>
        <p:nvPicPr>
          <p:cNvPr id="35" name="Image 6"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05769" y="5168007"/>
            <a:ext cx="5424451" cy="451247"/>
          </a:xfrm>
          <a:prstGeom prst="rect">
            <a:avLst/>
          </a:prstGeom>
        </p:spPr>
      </p:pic>
      <p:pic>
        <p:nvPicPr>
          <p:cNvPr id="36"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771909" y="5220395"/>
            <a:ext cx="92073" cy="92075"/>
          </a:xfrm>
          <a:prstGeom prst="rect">
            <a:avLst/>
          </a:prstGeom>
        </p:spPr>
      </p:pic>
      <p:sp>
        <p:nvSpPr>
          <p:cNvPr id="37" name="Text 27"/>
          <p:cNvSpPr/>
          <p:nvPr/>
        </p:nvSpPr>
        <p:spPr>
          <a:xfrm>
            <a:off x="6173534" y="5378549"/>
            <a:ext cx="528892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Visual Regression Testing</a:t>
            </a:r>
            <a:endParaRPr lang="en-US" sz="600" dirty="0"/>
          </a:p>
        </p:txBody>
      </p:sp>
      <p:sp>
        <p:nvSpPr>
          <p:cNvPr id="38" name="Text 28"/>
          <p:cNvSpPr/>
          <p:nvPr/>
        </p:nvSpPr>
        <p:spPr>
          <a:xfrm>
            <a:off x="6173534" y="5486400"/>
            <a:ext cx="528892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Screenshot comparison to catch unintended UI changes across releases</a:t>
            </a:r>
            <a:endParaRPr lang="en-US" sz="450" dirty="0"/>
          </a:p>
        </p:txBody>
      </p:sp>
      <p:pic>
        <p:nvPicPr>
          <p:cNvPr id="39" name="Image 8"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475" y="5639197"/>
            <a:ext cx="5424352" cy="451247"/>
          </a:xfrm>
          <a:prstGeom prst="rect">
            <a:avLst/>
          </a:prstGeom>
        </p:spPr>
      </p:pic>
      <p:pic>
        <p:nvPicPr>
          <p:cNvPr id="40" name="Image 9"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327614" y="5691584"/>
            <a:ext cx="92073" cy="92075"/>
          </a:xfrm>
          <a:prstGeom prst="rect">
            <a:avLst/>
          </a:prstGeom>
        </p:spPr>
      </p:pic>
      <p:sp>
        <p:nvSpPr>
          <p:cNvPr id="41" name="Text 29"/>
          <p:cNvSpPr/>
          <p:nvPr/>
        </p:nvSpPr>
        <p:spPr>
          <a:xfrm>
            <a:off x="729240" y="5849739"/>
            <a:ext cx="528882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Contract Testing for APIs</a:t>
            </a:r>
            <a:endParaRPr lang="en-US" sz="600" dirty="0"/>
          </a:p>
        </p:txBody>
      </p:sp>
      <p:sp>
        <p:nvSpPr>
          <p:cNvPr id="42" name="Text 30"/>
          <p:cNvSpPr/>
          <p:nvPr/>
        </p:nvSpPr>
        <p:spPr>
          <a:xfrm>
            <a:off x="729240" y="5957590"/>
            <a:ext cx="528882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Consumer-driven contract validation to prevent integration breakages</a:t>
            </a:r>
            <a:endParaRPr lang="en-US" sz="450" dirty="0"/>
          </a:p>
        </p:txBody>
      </p:sp>
      <p:pic>
        <p:nvPicPr>
          <p:cNvPr id="43" name="Image 10"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105769" y="5639197"/>
            <a:ext cx="5424451" cy="451247"/>
          </a:xfrm>
          <a:prstGeom prst="rect">
            <a:avLst/>
          </a:prstGeom>
        </p:spPr>
      </p:pic>
      <p:pic>
        <p:nvPicPr>
          <p:cNvPr id="44" name="Image 11"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771909" y="5691584"/>
            <a:ext cx="92073" cy="92075"/>
          </a:xfrm>
          <a:prstGeom prst="rect">
            <a:avLst/>
          </a:prstGeom>
        </p:spPr>
      </p:pic>
      <p:sp>
        <p:nvSpPr>
          <p:cNvPr id="45" name="Text 31"/>
          <p:cNvSpPr/>
          <p:nvPr/>
        </p:nvSpPr>
        <p:spPr>
          <a:xfrm>
            <a:off x="6173534" y="5849739"/>
            <a:ext cx="528892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Test Data Management</a:t>
            </a:r>
            <a:endParaRPr lang="en-US" sz="600" dirty="0"/>
          </a:p>
        </p:txBody>
      </p:sp>
      <p:sp>
        <p:nvSpPr>
          <p:cNvPr id="46" name="Text 32"/>
          <p:cNvSpPr/>
          <p:nvPr/>
        </p:nvSpPr>
        <p:spPr>
          <a:xfrm>
            <a:off x="6173534" y="5957590"/>
            <a:ext cx="528892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Automated provisioning and teardown of test data for reliable, repeatable runs</a:t>
            </a:r>
            <a:endParaRPr lang="en-US" sz="450" dirty="0"/>
          </a:p>
        </p:txBody>
      </p:sp>
      <p:pic>
        <p:nvPicPr>
          <p:cNvPr id="47" name="Image 12"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61475" y="6110387"/>
            <a:ext cx="5424352" cy="451247"/>
          </a:xfrm>
          <a:prstGeom prst="rect">
            <a:avLst/>
          </a:prstGeom>
        </p:spPr>
      </p:pic>
      <p:pic>
        <p:nvPicPr>
          <p:cNvPr id="48" name="Image 13"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327614" y="6162774"/>
            <a:ext cx="92073" cy="92075"/>
          </a:xfrm>
          <a:prstGeom prst="rect">
            <a:avLst/>
          </a:prstGeom>
        </p:spPr>
      </p:pic>
      <p:sp>
        <p:nvSpPr>
          <p:cNvPr id="49" name="Text 33"/>
          <p:cNvSpPr/>
          <p:nvPr/>
        </p:nvSpPr>
        <p:spPr>
          <a:xfrm>
            <a:off x="729240" y="6320929"/>
            <a:ext cx="528882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AI-Powered Test Generation</a:t>
            </a:r>
            <a:endParaRPr lang="en-US" sz="600" dirty="0"/>
          </a:p>
        </p:txBody>
      </p:sp>
      <p:sp>
        <p:nvSpPr>
          <p:cNvPr id="50" name="Text 34"/>
          <p:cNvSpPr/>
          <p:nvPr/>
        </p:nvSpPr>
        <p:spPr>
          <a:xfrm>
            <a:off x="729240" y="6428780"/>
            <a:ext cx="528882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Intelligent test synthesis from user stories and acceptance criteria</a:t>
            </a:r>
            <a:endParaRPr lang="en-US" sz="450" dirty="0"/>
          </a:p>
        </p:txBody>
      </p:sp>
      <p:pic>
        <p:nvPicPr>
          <p:cNvPr id="51" name="Image 14"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105769" y="6110387"/>
            <a:ext cx="5424451" cy="451247"/>
          </a:xfrm>
          <a:prstGeom prst="rect">
            <a:avLst/>
          </a:prstGeom>
        </p:spPr>
      </p:pic>
      <p:pic>
        <p:nvPicPr>
          <p:cNvPr id="52" name="Image 15" descr="preencoded.png">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8771909" y="6162774"/>
            <a:ext cx="92073" cy="92075"/>
          </a:xfrm>
          <a:prstGeom prst="rect">
            <a:avLst/>
          </a:prstGeom>
        </p:spPr>
      </p:pic>
      <p:sp>
        <p:nvSpPr>
          <p:cNvPr id="53" name="Text 35"/>
          <p:cNvSpPr/>
          <p:nvPr/>
        </p:nvSpPr>
        <p:spPr>
          <a:xfrm>
            <a:off x="6173534" y="6320929"/>
            <a:ext cx="5288922"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Mobile Device Testing</a:t>
            </a:r>
            <a:endParaRPr lang="en-US" sz="600" dirty="0"/>
          </a:p>
        </p:txBody>
      </p:sp>
      <p:sp>
        <p:nvSpPr>
          <p:cNvPr id="54" name="Text 36"/>
          <p:cNvSpPr/>
          <p:nvPr/>
        </p:nvSpPr>
        <p:spPr>
          <a:xfrm>
            <a:off x="6173534" y="6428780"/>
            <a:ext cx="5288922"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Real-device cross-browser mobile testing via BrowserStack integration</a:t>
            </a:r>
            <a:endParaRPr lang="en-US" sz="450" dirty="0"/>
          </a:p>
        </p:txBody>
      </p:sp>
      <p:sp>
        <p:nvSpPr>
          <p:cNvPr id="55" name="Shape 37"/>
          <p:cNvSpPr/>
          <p:nvPr/>
        </p:nvSpPr>
        <p:spPr>
          <a:xfrm>
            <a:off x="661475" y="6599337"/>
            <a:ext cx="10868745" cy="6350"/>
          </a:xfrm>
          <a:prstGeom prst="roundRect">
            <a:avLst>
              <a:gd name="adj" fmla="val 49999"/>
            </a:avLst>
          </a:prstGeom>
          <a:solidFill>
            <a:srgbClr val="4C4C4D">
              <a:alpha val="50000"/>
            </a:srgbClr>
          </a:solidFill>
          <a:ln/>
        </p:spPr>
      </p:sp>
      <p:sp>
        <p:nvSpPr>
          <p:cNvPr id="56" name="Shape 38"/>
          <p:cNvSpPr/>
          <p:nvPr/>
        </p:nvSpPr>
        <p:spPr>
          <a:xfrm>
            <a:off x="661475" y="6643390"/>
            <a:ext cx="384265" cy="93166"/>
          </a:xfrm>
          <a:prstGeom prst="roundRect">
            <a:avLst>
              <a:gd name="adj" fmla="val 7912"/>
            </a:avLst>
          </a:prstGeom>
          <a:solidFill>
            <a:srgbClr val="CCD7FF"/>
          </a:solidFill>
          <a:ln/>
        </p:spPr>
      </p:sp>
      <p:pic>
        <p:nvPicPr>
          <p:cNvPr id="57" name="Image 16" descr="preencoded.png">    </p:cNvPr>
          <p:cNvPicPr>
            <a:picLocks noChangeAspect="1"/>
          </p:cNvPicPr>
          <p:nvPr/>
        </p:nvPicPr>
        <p:blipFill>
          <a:blip r:embed="rId29"/>
          <a:stretch>
            <a:fillRect/>
          </a:stretch>
        </p:blipFill>
        <p:spPr>
          <a:xfrm>
            <a:off x="698284" y="6665416"/>
            <a:ext cx="49112" cy="49113"/>
          </a:xfrm>
          <a:prstGeom prst="rect">
            <a:avLst/>
          </a:prstGeom>
        </p:spPr>
      </p:pic>
      <p:sp>
        <p:nvSpPr>
          <p:cNvPr id="58" name="Text 39"/>
          <p:cNvSpPr/>
          <p:nvPr/>
        </p:nvSpPr>
        <p:spPr>
          <a:xfrm>
            <a:off x="771903" y="6661745"/>
            <a:ext cx="846612" cy="56455"/>
          </a:xfrm>
          <a:prstGeom prst="rect">
            <a:avLst/>
          </a:prstGeom>
          <a:noFill/>
          <a:ln/>
        </p:spPr>
        <p:txBody>
          <a:bodyPr wrap="none" lIns="0" tIns="0" rIns="0" bIns="0" rtlCol="0" anchor="t"/>
          <a:lstStyle/>
          <a:p>
            <a:pPr algn="l" indent="0" marL="0">
              <a:lnSpc>
                <a:spcPct val="96000"/>
              </a:lnSpc>
              <a:buNone/>
            </a:pPr>
            <a:r>
              <a:rPr lang="en-US" sz="350" dirty="0">
                <a:solidFill>
                  <a:srgbClr val="4C4C4D"/>
                </a:solidFill>
                <a:latin typeface="Heebo" pitchFamily="34" charset="0"/>
                <a:ea typeface="Heebo" pitchFamily="34" charset="-122"/>
                <a:cs typeface="Heebo" pitchFamily="34" charset="-120"/>
              </a:rPr>
              <a:t>SUMMARY</a:t>
            </a:r>
            <a:endParaRPr lang="en-US" sz="350" dirty="0"/>
          </a:p>
        </p:txBody>
      </p:sp>
      <p:sp>
        <p:nvSpPr>
          <p:cNvPr id="59" name="Text 40"/>
          <p:cNvSpPr/>
          <p:nvPr/>
        </p:nvSpPr>
        <p:spPr>
          <a:xfrm>
            <a:off x="661475" y="6744494"/>
            <a:ext cx="10868745" cy="153491"/>
          </a:xfrm>
          <a:prstGeom prst="rect">
            <a:avLst/>
          </a:prstGeom>
          <a:noFill/>
          <a:ln/>
        </p:spPr>
        <p:txBody>
          <a:bodyPr wrap="none" lIns="0" tIns="0" rIns="0" bIns="0" rtlCol="0" anchor="t"/>
          <a:lstStyle/>
          <a:p>
            <a:pPr algn="l" indent="0" marL="0">
              <a:lnSpc>
                <a:spcPct val="104000"/>
              </a:lnSpc>
              <a:buNone/>
            </a:pPr>
            <a:r>
              <a:rPr lang="en-US" sz="950" dirty="0">
                <a:solidFill>
                  <a:srgbClr val="152D47"/>
                </a:solidFill>
                <a:latin typeface="Crimson Pro SemiBold" pitchFamily="34" charset="0"/>
                <a:ea typeface="Crimson Pro SemiBold" pitchFamily="34" charset="-122"/>
                <a:cs typeface="Crimson Pro SemiBold" pitchFamily="34" charset="-120"/>
              </a:rPr>
              <a:t>What We've Built &amp; Why It Matters</a:t>
            </a:r>
            <a:endParaRPr lang="en-US" sz="950" dirty="0"/>
          </a:p>
        </p:txBody>
      </p:sp>
      <p:sp>
        <p:nvSpPr>
          <p:cNvPr id="60" name="Text 41"/>
          <p:cNvSpPr/>
          <p:nvPr/>
        </p:nvSpPr>
        <p:spPr>
          <a:xfrm>
            <a:off x="661475" y="6927850"/>
            <a:ext cx="11478330"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A fully automated, end-to-end quality engineering platform delivering continuous confidence across all CMS services</a:t>
            </a:r>
            <a:endParaRPr lang="en-US" sz="450" dirty="0"/>
          </a:p>
        </p:txBody>
      </p:sp>
      <p:sp>
        <p:nvSpPr>
          <p:cNvPr id="61" name="Shape 42"/>
          <p:cNvSpPr/>
          <p:nvPr/>
        </p:nvSpPr>
        <p:spPr>
          <a:xfrm>
            <a:off x="617224" y="7015361"/>
            <a:ext cx="5447965" cy="798909"/>
          </a:xfrm>
          <a:prstGeom prst="roundRect">
            <a:avLst>
              <a:gd name="adj" fmla="val 1153"/>
            </a:avLst>
          </a:prstGeom>
          <a:solidFill>
            <a:srgbClr val="6366F1"/>
          </a:solidFill>
          <a:ln/>
        </p:spPr>
      </p:sp>
      <p:sp>
        <p:nvSpPr>
          <p:cNvPr id="62" name="Text 43"/>
          <p:cNvSpPr/>
          <p:nvPr/>
        </p:nvSpPr>
        <p:spPr>
          <a:xfrm>
            <a:off x="678639" y="7035304"/>
            <a:ext cx="5325136"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600" dirty="0">
                <a:solidFill>
                  <a:srgbClr val="000000"/>
                </a:solidFill>
                <a:latin typeface="Crimson Pro SemiBold" pitchFamily="34" charset="0"/>
                <a:ea typeface="Crimson Pro SemiBold" pitchFamily="34" charset="-122"/>
                <a:cs typeface="Crimson Pro SemiBold" pitchFamily="34" charset="-120"/>
              </a:rPr>
              <a:t> What's In Place</a:t>
            </a:r>
            <a:endParaRPr lang="en-US" sz="600" dirty="0"/>
          </a:p>
        </p:txBody>
      </p:sp>
      <p:pic>
        <p:nvPicPr>
          <p:cNvPr id="63" name="Image 17" descr="preencoded.png">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701657" y="7155507"/>
            <a:ext cx="92073" cy="92075"/>
          </a:xfrm>
          <a:prstGeom prst="rect">
            <a:avLst/>
          </a:prstGeom>
        </p:spPr>
      </p:pic>
      <p:sp>
        <p:nvSpPr>
          <p:cNvPr id="64" name="Text 44"/>
          <p:cNvSpPr/>
          <p:nvPr/>
        </p:nvSpPr>
        <p:spPr>
          <a:xfrm>
            <a:off x="878262" y="7153672"/>
            <a:ext cx="2450443"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Crimson Pro SemiBold" pitchFamily="34" charset="0"/>
                <a:ea typeface="Crimson Pro SemiBold" pitchFamily="34" charset="-122"/>
                <a:cs typeface="Crimson Pro SemiBold" pitchFamily="34" charset="-120"/>
              </a:rPr>
              <a:t>6 Fully Automated Test Pipelines</a:t>
            </a:r>
            <a:endParaRPr lang="en-US" sz="600" dirty="0"/>
          </a:p>
        </p:txBody>
      </p:sp>
      <p:sp>
        <p:nvSpPr>
          <p:cNvPr id="65" name="Text 45"/>
          <p:cNvSpPr/>
          <p:nvPr/>
        </p:nvSpPr>
        <p:spPr>
          <a:xfrm>
            <a:off x="878262" y="7269559"/>
            <a:ext cx="2450443" cy="65088"/>
          </a:xfrm>
          <a:prstGeom prst="rect">
            <a:avLst/>
          </a:prstGeom>
          <a:noFill/>
          <a:ln/>
        </p:spPr>
        <p:txBody>
          <a:bodyPr wrap="none" lIns="0" tIns="0" rIns="0" bIns="0" rtlCol="0" anchor="t"/>
          <a:lstStyle/>
          <a:p>
            <a:pPr algn="l" indent="0" marL="0">
              <a:lnSpc>
                <a:spcPct val="88000"/>
              </a:lnSpc>
              <a:buNone/>
            </a:pPr>
            <a:r>
              <a:rPr lang="en-US" sz="450" dirty="0">
                <a:solidFill>
                  <a:srgbClr val="000000"/>
                </a:solidFill>
                <a:latin typeface="Heebo" pitchFamily="34" charset="0"/>
                <a:ea typeface="Heebo" pitchFamily="34" charset="-122"/>
                <a:cs typeface="Heebo" pitchFamily="34" charset="-120"/>
              </a:rPr>
              <a:t>Every CMS project covered from commit to deploy</a:t>
            </a:r>
            <a:endParaRPr lang="en-US" sz="450" dirty="0"/>
          </a:p>
        </p:txBody>
      </p:sp>
      <p:pic>
        <p:nvPicPr>
          <p:cNvPr id="66" name="Image 18" descr="preencoded.png">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3376627" y="7155507"/>
            <a:ext cx="92073" cy="92075"/>
          </a:xfrm>
          <a:prstGeom prst="rect">
            <a:avLst/>
          </a:prstGeom>
        </p:spPr>
      </p:pic>
      <p:sp>
        <p:nvSpPr>
          <p:cNvPr id="67" name="Text 46"/>
          <p:cNvSpPr/>
          <p:nvPr/>
        </p:nvSpPr>
        <p:spPr>
          <a:xfrm>
            <a:off x="3553232" y="7153672"/>
            <a:ext cx="2450543"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Crimson Pro SemiBold" pitchFamily="34" charset="0"/>
                <a:ea typeface="Crimson Pro SemiBold" pitchFamily="34" charset="-122"/>
                <a:cs typeface="Crimson Pro SemiBold" pitchFamily="34" charset="-120"/>
              </a:rPr>
              <a:t>Regression + Security + Performance + Compatibility</a:t>
            </a:r>
            <a:endParaRPr lang="en-US" sz="600" dirty="0"/>
          </a:p>
        </p:txBody>
      </p:sp>
      <p:sp>
        <p:nvSpPr>
          <p:cNvPr id="68" name="Text 47"/>
          <p:cNvSpPr/>
          <p:nvPr/>
        </p:nvSpPr>
        <p:spPr>
          <a:xfrm>
            <a:off x="3553232" y="7269559"/>
            <a:ext cx="2450543" cy="65088"/>
          </a:xfrm>
          <a:prstGeom prst="rect">
            <a:avLst/>
          </a:prstGeom>
          <a:noFill/>
          <a:ln/>
        </p:spPr>
        <p:txBody>
          <a:bodyPr wrap="none" lIns="0" tIns="0" rIns="0" bIns="0" rtlCol="0" anchor="t"/>
          <a:lstStyle/>
          <a:p>
            <a:pPr algn="l" indent="0" marL="0">
              <a:lnSpc>
                <a:spcPct val="88000"/>
              </a:lnSpc>
              <a:buNone/>
            </a:pPr>
            <a:r>
              <a:rPr lang="en-US" sz="450" dirty="0">
                <a:solidFill>
                  <a:srgbClr val="000000"/>
                </a:solidFill>
                <a:latin typeface="Heebo" pitchFamily="34" charset="0"/>
                <a:ea typeface="Heebo" pitchFamily="34" charset="-122"/>
                <a:cs typeface="Heebo" pitchFamily="34" charset="-120"/>
              </a:rPr>
              <a:t>Comprehensive quality gates on every pipeline run</a:t>
            </a:r>
            <a:endParaRPr lang="en-US" sz="450" dirty="0"/>
          </a:p>
        </p:txBody>
      </p:sp>
      <p:pic>
        <p:nvPicPr>
          <p:cNvPr id="69" name="Image 19" descr="preencoded.png">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701657" y="7381528"/>
            <a:ext cx="92073" cy="92075"/>
          </a:xfrm>
          <a:prstGeom prst="rect">
            <a:avLst/>
          </a:prstGeom>
        </p:spPr>
      </p:pic>
      <p:sp>
        <p:nvSpPr>
          <p:cNvPr id="70" name="Text 48"/>
          <p:cNvSpPr/>
          <p:nvPr/>
        </p:nvSpPr>
        <p:spPr>
          <a:xfrm>
            <a:off x="878262" y="7379692"/>
            <a:ext cx="2450443"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Crimson Pro SemiBold" pitchFamily="34" charset="0"/>
                <a:ea typeface="Crimson Pro SemiBold" pitchFamily="34" charset="-122"/>
                <a:cs typeface="Crimson Pro SemiBold" pitchFamily="34" charset="-120"/>
              </a:rPr>
              <a:t>Real-Time Feedback via Slack</a:t>
            </a:r>
            <a:endParaRPr lang="en-US" sz="600" dirty="0"/>
          </a:p>
        </p:txBody>
      </p:sp>
      <p:sp>
        <p:nvSpPr>
          <p:cNvPr id="71" name="Text 49"/>
          <p:cNvSpPr/>
          <p:nvPr/>
        </p:nvSpPr>
        <p:spPr>
          <a:xfrm>
            <a:off x="878262" y="7495580"/>
            <a:ext cx="2450443" cy="65088"/>
          </a:xfrm>
          <a:prstGeom prst="rect">
            <a:avLst/>
          </a:prstGeom>
          <a:noFill/>
          <a:ln/>
        </p:spPr>
        <p:txBody>
          <a:bodyPr wrap="none" lIns="0" tIns="0" rIns="0" bIns="0" rtlCol="0" anchor="t"/>
          <a:lstStyle/>
          <a:p>
            <a:pPr algn="l" indent="0" marL="0">
              <a:lnSpc>
                <a:spcPct val="88000"/>
              </a:lnSpc>
              <a:buNone/>
            </a:pPr>
            <a:r>
              <a:rPr lang="en-US" sz="450" dirty="0">
                <a:solidFill>
                  <a:srgbClr val="000000"/>
                </a:solidFill>
                <a:latin typeface="Heebo" pitchFamily="34" charset="0"/>
                <a:ea typeface="Heebo" pitchFamily="34" charset="-122"/>
                <a:cs typeface="Heebo" pitchFamily="34" charset="-120"/>
              </a:rPr>
              <a:t>Instant failure notifications with full context — zero manual logging</a:t>
            </a:r>
            <a:endParaRPr lang="en-US" sz="450" dirty="0"/>
          </a:p>
        </p:txBody>
      </p:sp>
      <p:pic>
        <p:nvPicPr>
          <p:cNvPr id="72" name="Image 20" descr="preencoded.png">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3376627" y="7381528"/>
            <a:ext cx="92073" cy="92075"/>
          </a:xfrm>
          <a:prstGeom prst="rect">
            <a:avLst/>
          </a:prstGeom>
        </p:spPr>
      </p:pic>
      <p:sp>
        <p:nvSpPr>
          <p:cNvPr id="73" name="Text 50"/>
          <p:cNvSpPr/>
          <p:nvPr/>
        </p:nvSpPr>
        <p:spPr>
          <a:xfrm>
            <a:off x="3553232" y="7379692"/>
            <a:ext cx="2450543"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Crimson Pro SemiBold" pitchFamily="34" charset="0"/>
                <a:ea typeface="Crimson Pro SemiBold" pitchFamily="34" charset="-122"/>
                <a:cs typeface="Crimson Pro SemiBold" pitchFamily="34" charset="-120"/>
              </a:rPr>
              <a:t>95% Reduction in Manual Testing Effort</a:t>
            </a:r>
            <a:endParaRPr lang="en-US" sz="600" dirty="0"/>
          </a:p>
        </p:txBody>
      </p:sp>
      <p:sp>
        <p:nvSpPr>
          <p:cNvPr id="74" name="Text 51"/>
          <p:cNvSpPr/>
          <p:nvPr/>
        </p:nvSpPr>
        <p:spPr>
          <a:xfrm>
            <a:off x="3553232" y="7495580"/>
            <a:ext cx="2450543" cy="65088"/>
          </a:xfrm>
          <a:prstGeom prst="rect">
            <a:avLst/>
          </a:prstGeom>
          <a:noFill/>
          <a:ln/>
        </p:spPr>
        <p:txBody>
          <a:bodyPr wrap="none" lIns="0" tIns="0" rIns="0" bIns="0" rtlCol="0" anchor="t"/>
          <a:lstStyle/>
          <a:p>
            <a:pPr algn="l" indent="0" marL="0">
              <a:lnSpc>
                <a:spcPct val="88000"/>
              </a:lnSpc>
              <a:buNone/>
            </a:pPr>
            <a:r>
              <a:rPr lang="en-US" sz="450" dirty="0">
                <a:solidFill>
                  <a:srgbClr val="000000"/>
                </a:solidFill>
                <a:latin typeface="Heebo" pitchFamily="34" charset="0"/>
                <a:ea typeface="Heebo" pitchFamily="34" charset="-122"/>
                <a:cs typeface="Heebo" pitchFamily="34" charset="-120"/>
              </a:rPr>
              <a:t>Teams focus on exploratory and high-value testing</a:t>
            </a:r>
            <a:endParaRPr lang="en-US" sz="450" dirty="0"/>
          </a:p>
        </p:txBody>
      </p:sp>
      <p:pic>
        <p:nvPicPr>
          <p:cNvPr id="75" name="Image 21" descr="preencoded.png">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701657" y="7607548"/>
            <a:ext cx="92073" cy="92075"/>
          </a:xfrm>
          <a:prstGeom prst="rect">
            <a:avLst/>
          </a:prstGeom>
        </p:spPr>
      </p:pic>
      <p:sp>
        <p:nvSpPr>
          <p:cNvPr id="76" name="Text 52"/>
          <p:cNvSpPr/>
          <p:nvPr/>
        </p:nvSpPr>
        <p:spPr>
          <a:xfrm>
            <a:off x="878262" y="7605713"/>
            <a:ext cx="5125512"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Crimson Pro SemiBold" pitchFamily="34" charset="0"/>
                <a:ea typeface="Crimson Pro SemiBold" pitchFamily="34" charset="-122"/>
                <a:cs typeface="Crimson Pro SemiBold" pitchFamily="34" charset="-120"/>
              </a:rPr>
              <a:t>Shift-Left Quality</a:t>
            </a:r>
            <a:endParaRPr lang="en-US" sz="600" dirty="0"/>
          </a:p>
        </p:txBody>
      </p:sp>
      <p:sp>
        <p:nvSpPr>
          <p:cNvPr id="77" name="Text 53"/>
          <p:cNvSpPr/>
          <p:nvPr/>
        </p:nvSpPr>
        <p:spPr>
          <a:xfrm>
            <a:off x="878262" y="7721600"/>
            <a:ext cx="5125512" cy="65088"/>
          </a:xfrm>
          <a:prstGeom prst="rect">
            <a:avLst/>
          </a:prstGeom>
          <a:noFill/>
          <a:ln/>
        </p:spPr>
        <p:txBody>
          <a:bodyPr wrap="none" lIns="0" tIns="0" rIns="0" bIns="0" rtlCol="0" anchor="t"/>
          <a:lstStyle/>
          <a:p>
            <a:pPr algn="l" indent="0" marL="0">
              <a:lnSpc>
                <a:spcPct val="88000"/>
              </a:lnSpc>
              <a:buNone/>
            </a:pPr>
            <a:r>
              <a:rPr lang="en-US" sz="450" dirty="0">
                <a:solidFill>
                  <a:srgbClr val="000000"/>
                </a:solidFill>
                <a:latin typeface="Heebo" pitchFamily="34" charset="0"/>
                <a:ea typeface="Heebo" pitchFamily="34" charset="-122"/>
                <a:cs typeface="Heebo" pitchFamily="34" charset="-120"/>
              </a:rPr>
              <a:t>Developer-triggered tests catch defects at the cheapest possible moment</a:t>
            </a:r>
            <a:endParaRPr lang="en-US" sz="450" dirty="0"/>
          </a:p>
        </p:txBody>
      </p:sp>
      <p:sp>
        <p:nvSpPr>
          <p:cNvPr id="78" name="Text 54"/>
          <p:cNvSpPr/>
          <p:nvPr/>
        </p:nvSpPr>
        <p:spPr>
          <a:xfrm>
            <a:off x="6177106" y="7035304"/>
            <a:ext cx="5359464" cy="95945"/>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600" dirty="0">
                <a:solidFill>
                  <a:srgbClr val="152D47"/>
                </a:solidFill>
                <a:latin typeface="Crimson Pro SemiBold" pitchFamily="34" charset="0"/>
                <a:ea typeface="Crimson Pro SemiBold" pitchFamily="34" charset="-122"/>
                <a:cs typeface="Crimson Pro SemiBold" pitchFamily="34" charset="-120"/>
              </a:rPr>
              <a:t> Business Outcomes Delivered</a:t>
            </a:r>
            <a:endParaRPr lang="en-US" sz="600" dirty="0"/>
          </a:p>
        </p:txBody>
      </p:sp>
      <p:pic>
        <p:nvPicPr>
          <p:cNvPr id="79" name="Image 22" descr="preencoded.png">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6200124" y="7155507"/>
            <a:ext cx="92073" cy="92075"/>
          </a:xfrm>
          <a:prstGeom prst="rect">
            <a:avLst/>
          </a:prstGeom>
        </p:spPr>
      </p:pic>
      <p:sp>
        <p:nvSpPr>
          <p:cNvPr id="80" name="Text 55"/>
          <p:cNvSpPr/>
          <p:nvPr/>
        </p:nvSpPr>
        <p:spPr>
          <a:xfrm>
            <a:off x="6376729" y="7153672"/>
            <a:ext cx="2467608"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Faster Releases with Higher Confidence</a:t>
            </a:r>
            <a:endParaRPr lang="en-US" sz="600" dirty="0"/>
          </a:p>
        </p:txBody>
      </p:sp>
      <p:sp>
        <p:nvSpPr>
          <p:cNvPr id="81" name="Text 56"/>
          <p:cNvSpPr/>
          <p:nvPr/>
        </p:nvSpPr>
        <p:spPr>
          <a:xfrm>
            <a:off x="6376729" y="7269559"/>
            <a:ext cx="2467608"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Continuous automated validation removes bottlenecks from release cycles</a:t>
            </a:r>
            <a:endParaRPr lang="en-US" sz="450" dirty="0"/>
          </a:p>
        </p:txBody>
      </p:sp>
      <p:pic>
        <p:nvPicPr>
          <p:cNvPr id="82" name="Image 23" descr="preencoded.png">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8892258" y="7155507"/>
            <a:ext cx="92073" cy="92075"/>
          </a:xfrm>
          <a:prstGeom prst="rect">
            <a:avLst/>
          </a:prstGeom>
        </p:spPr>
      </p:pic>
      <p:sp>
        <p:nvSpPr>
          <p:cNvPr id="83" name="Text 57"/>
          <p:cNvSpPr/>
          <p:nvPr/>
        </p:nvSpPr>
        <p:spPr>
          <a:xfrm>
            <a:off x="9068863" y="7153672"/>
            <a:ext cx="2467707"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Security Vulnerabilities Caught Early</a:t>
            </a:r>
            <a:endParaRPr lang="en-US" sz="600" dirty="0"/>
          </a:p>
        </p:txBody>
      </p:sp>
      <p:sp>
        <p:nvSpPr>
          <p:cNvPr id="84" name="Text 58"/>
          <p:cNvSpPr/>
          <p:nvPr/>
        </p:nvSpPr>
        <p:spPr>
          <a:xfrm>
            <a:off x="9068863" y="7269559"/>
            <a:ext cx="2467707"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OWASP ZAP scans integrated into CI before staging or production</a:t>
            </a:r>
            <a:endParaRPr lang="en-US" sz="450" dirty="0"/>
          </a:p>
        </p:txBody>
      </p:sp>
      <p:pic>
        <p:nvPicPr>
          <p:cNvPr id="85" name="Image 24" descr="preencoded.png">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6200124" y="7381528"/>
            <a:ext cx="92073" cy="92075"/>
          </a:xfrm>
          <a:prstGeom prst="rect">
            <a:avLst/>
          </a:prstGeom>
        </p:spPr>
      </p:pic>
      <p:sp>
        <p:nvSpPr>
          <p:cNvPr id="86" name="Text 59"/>
          <p:cNvSpPr/>
          <p:nvPr/>
        </p:nvSpPr>
        <p:spPr>
          <a:xfrm>
            <a:off x="6376729" y="7379692"/>
            <a:ext cx="2467608"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Performance Regressions Prevented</a:t>
            </a:r>
            <a:endParaRPr lang="en-US" sz="600" dirty="0"/>
          </a:p>
        </p:txBody>
      </p:sp>
      <p:sp>
        <p:nvSpPr>
          <p:cNvPr id="87" name="Text 60"/>
          <p:cNvSpPr/>
          <p:nvPr/>
        </p:nvSpPr>
        <p:spPr>
          <a:xfrm>
            <a:off x="6376729" y="7495580"/>
            <a:ext cx="2467608"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Lighthouse thresholds block degraded builds automatically</a:t>
            </a:r>
            <a:endParaRPr lang="en-US" sz="450" dirty="0"/>
          </a:p>
        </p:txBody>
      </p:sp>
      <p:pic>
        <p:nvPicPr>
          <p:cNvPr id="88" name="Image 25" descr="preencoded.png">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8892258" y="7381528"/>
            <a:ext cx="92073" cy="92075"/>
          </a:xfrm>
          <a:prstGeom prst="rect">
            <a:avLst/>
          </a:prstGeom>
        </p:spPr>
      </p:pic>
      <p:sp>
        <p:nvSpPr>
          <p:cNvPr id="89" name="Text 61"/>
          <p:cNvSpPr/>
          <p:nvPr/>
        </p:nvSpPr>
        <p:spPr>
          <a:xfrm>
            <a:off x="9068863" y="7379692"/>
            <a:ext cx="2467707"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Consistent Cross-Browser Quality</a:t>
            </a:r>
            <a:endParaRPr lang="en-US" sz="600" dirty="0"/>
          </a:p>
        </p:txBody>
      </p:sp>
      <p:sp>
        <p:nvSpPr>
          <p:cNvPr id="90" name="Text 62"/>
          <p:cNvSpPr/>
          <p:nvPr/>
        </p:nvSpPr>
        <p:spPr>
          <a:xfrm>
            <a:off x="9068863" y="7495580"/>
            <a:ext cx="2467707"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BrowserStack compatibility matrix runs on every release candidate</a:t>
            </a:r>
            <a:endParaRPr lang="en-US" sz="450" dirty="0"/>
          </a:p>
        </p:txBody>
      </p:sp>
      <p:pic>
        <p:nvPicPr>
          <p:cNvPr id="91" name="Image 26" descr="preencoded.png">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6200124" y="7607548"/>
            <a:ext cx="92073" cy="92075"/>
          </a:xfrm>
          <a:prstGeom prst="rect">
            <a:avLst/>
          </a:prstGeom>
        </p:spPr>
      </p:pic>
      <p:sp>
        <p:nvSpPr>
          <p:cNvPr id="92" name="Text 63"/>
          <p:cNvSpPr/>
          <p:nvPr/>
        </p:nvSpPr>
        <p:spPr>
          <a:xfrm>
            <a:off x="6376729" y="7605713"/>
            <a:ext cx="5159841" cy="95945"/>
          </a:xfrm>
          <a:prstGeom prst="rect">
            <a:avLst/>
          </a:prstGeom>
          <a:noFill/>
          <a:ln/>
        </p:spPr>
        <p:txBody>
          <a:bodyPr wrap="none" lIns="0" tIns="0" rIns="0" bIns="0" rtlCol="0" anchor="t"/>
          <a:lstStyle/>
          <a:p>
            <a:pPr algn="l" indent="0" marL="0">
              <a:lnSpc>
                <a:spcPct val="104000"/>
              </a:lnSpc>
              <a:buNone/>
            </a:pPr>
            <a:r>
              <a:rPr lang="en-US" sz="600" dirty="0">
                <a:solidFill>
                  <a:srgbClr val="4C4C4D"/>
                </a:solidFill>
                <a:latin typeface="Crimson Pro SemiBold" pitchFamily="34" charset="0"/>
                <a:ea typeface="Crimson Pro SemiBold" pitchFamily="34" charset="-122"/>
                <a:cs typeface="Crimson Pro SemiBold" pitchFamily="34" charset="-120"/>
              </a:rPr>
              <a:t>Significant Cost Savings</a:t>
            </a:r>
            <a:endParaRPr lang="en-US" sz="600" dirty="0"/>
          </a:p>
        </p:txBody>
      </p:sp>
      <p:sp>
        <p:nvSpPr>
          <p:cNvPr id="93" name="Text 64"/>
          <p:cNvSpPr/>
          <p:nvPr/>
        </p:nvSpPr>
        <p:spPr>
          <a:xfrm>
            <a:off x="6376729" y="7721600"/>
            <a:ext cx="5159841"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Production defect rate dropped from 20% → 2%, eliminating costly hotfixes</a:t>
            </a:r>
            <a:endParaRPr lang="en-US" sz="450" dirty="0"/>
          </a:p>
        </p:txBody>
      </p:sp>
      <p:sp>
        <p:nvSpPr>
          <p:cNvPr id="94" name="Shape 65"/>
          <p:cNvSpPr/>
          <p:nvPr/>
        </p:nvSpPr>
        <p:spPr>
          <a:xfrm>
            <a:off x="661475" y="7836694"/>
            <a:ext cx="10868745" cy="133548"/>
          </a:xfrm>
          <a:prstGeom prst="roundRect">
            <a:avLst>
              <a:gd name="adj" fmla="val 6900"/>
            </a:avLst>
          </a:prstGeom>
          <a:solidFill>
            <a:srgbClr val="CCD7FF"/>
          </a:solidFill>
          <a:ln/>
        </p:spPr>
      </p:sp>
      <p:pic>
        <p:nvPicPr>
          <p:cNvPr id="95" name="Image 27" descr="preencoded.png">    </p:cNvPr>
          <p:cNvPicPr>
            <a:picLocks noChangeAspect="1"/>
          </p:cNvPicPr>
          <p:nvPr/>
        </p:nvPicPr>
        <p:blipFill>
          <a:blip r:embed="rId50"/>
          <a:stretch>
            <a:fillRect/>
          </a:stretch>
        </p:blipFill>
        <p:spPr>
          <a:xfrm>
            <a:off x="722890" y="7871916"/>
            <a:ext cx="76694" cy="61416"/>
          </a:xfrm>
          <a:prstGeom prst="rect">
            <a:avLst/>
          </a:prstGeom>
        </p:spPr>
      </p:pic>
      <p:sp>
        <p:nvSpPr>
          <p:cNvPr id="96" name="Text 66"/>
          <p:cNvSpPr/>
          <p:nvPr/>
        </p:nvSpPr>
        <p:spPr>
          <a:xfrm>
            <a:off x="860999" y="7871916"/>
            <a:ext cx="11217391" cy="65088"/>
          </a:xfrm>
          <a:prstGeom prst="rect">
            <a:avLst/>
          </a:prstGeom>
          <a:noFill/>
          <a:ln/>
        </p:spPr>
        <p:txBody>
          <a:bodyPr wrap="none" lIns="0" tIns="0" rIns="0" bIns="0" rtlCol="0" anchor="t"/>
          <a:lstStyle/>
          <a:p>
            <a:pPr algn="l" indent="0" marL="0">
              <a:lnSpc>
                <a:spcPct val="88000"/>
              </a:lnSpc>
              <a:buNone/>
            </a:pPr>
            <a:r>
              <a:rPr lang="en-US" sz="450" b="1" dirty="0">
                <a:solidFill>
                  <a:srgbClr val="000000"/>
                </a:solidFill>
                <a:latin typeface="Heebo Bold" pitchFamily="34" charset="0"/>
                <a:ea typeface="Heebo Bold" pitchFamily="34" charset="-122"/>
                <a:cs typeface="Heebo Bold" pitchFamily="34" charset="-120"/>
              </a:rPr>
              <a:t>Strategic Value:</a:t>
            </a:r>
            <a:pPr algn="l" indent="0" marL="0">
              <a:lnSpc>
                <a:spcPct val="88000"/>
              </a:lnSpc>
              <a:buNone/>
            </a:pPr>
            <a:r>
              <a:rPr lang="en-US" sz="450" dirty="0">
                <a:solidFill>
                  <a:srgbClr val="000000"/>
                </a:solidFill>
                <a:latin typeface="Heebo" pitchFamily="34" charset="0"/>
                <a:ea typeface="Heebo" pitchFamily="34" charset="-122"/>
                <a:cs typeface="Heebo" pitchFamily="34" charset="-120"/>
              </a:rPr>
              <a:t> This framework is not just a test suite — it is a living quality platform that scales with the programme, enforces GDS standards automatically, and gives every team member real-time confidence in every deployment.</a:t>
            </a:r>
            <a:endParaRPr lang="en-US" sz="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526455"/>
            <a:ext cx="10868745" cy="299938"/>
          </a:xfrm>
          <a:prstGeom prst="rect">
            <a:avLst/>
          </a:prstGeom>
          <a:noFill/>
          <a:ln/>
        </p:spPr>
        <p:txBody>
          <a:bodyPr wrap="none" lIns="0" tIns="0" rIns="0" bIns="0" rtlCol="0" anchor="t"/>
          <a:lstStyle/>
          <a:p>
            <a:pPr algn="ctr" indent="0" marL="0">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Test Execution Speed: Before vs. After Playwright</a:t>
            </a:r>
            <a:endParaRPr lang="en-US" sz="1850" dirty="0"/>
          </a:p>
        </p:txBody>
      </p:sp>
      <p:sp>
        <p:nvSpPr>
          <p:cNvPr id="3" name="Text 1"/>
          <p:cNvSpPr/>
          <p:nvPr/>
        </p:nvSpPr>
        <p:spPr>
          <a:xfrm>
            <a:off x="356682" y="923826"/>
            <a:ext cx="11478330" cy="115689"/>
          </a:xfrm>
          <a:prstGeom prst="rect">
            <a:avLst/>
          </a:prstGeom>
          <a:noFill/>
          <a:ln/>
        </p:spPr>
        <p:txBody>
          <a:bodyPr wrap="none" lIns="0" tIns="0" rIns="0" bIns="0" rtlCol="0" anchor="t"/>
          <a:lstStyle/>
          <a:p>
            <a:pPr algn="ctr" indent="0" marL="0">
              <a:lnSpc>
                <a:spcPct val="101000"/>
              </a:lnSpc>
              <a:buNone/>
            </a:pPr>
            <a:r>
              <a:rPr lang="en-US" sz="750" dirty="0">
                <a:solidFill>
                  <a:srgbClr val="4C4C4D"/>
                </a:solidFill>
                <a:latin typeface="Heebo" pitchFamily="34" charset="0"/>
                <a:ea typeface="Heebo" pitchFamily="34" charset="-122"/>
                <a:cs typeface="Heebo" pitchFamily="34" charset="-120"/>
              </a:rPr>
              <a:t>Dramatic reductions in test suite execution times across all critical services, powered by Playwright.</a:t>
            </a:r>
            <a:endParaRPr lang="en-US" sz="750" dirty="0"/>
          </a:p>
        </p:txBody>
      </p:sp>
      <p:pic>
        <p:nvPicPr>
          <p:cNvPr id="4" name="Image 0" descr="preencoded.png">    </p:cNvPr>
          <p:cNvPicPr>
            <a:picLocks noChangeAspect="1"/>
          </p:cNvPicPr>
          <p:nvPr/>
        </p:nvPicPr>
        <p:blipFill>
          <a:blip r:embed="rId1"/>
          <a:stretch>
            <a:fillRect/>
          </a:stretch>
        </p:blipFill>
        <p:spPr>
          <a:xfrm>
            <a:off x="661475" y="1094284"/>
            <a:ext cx="7064595" cy="3957737"/>
          </a:xfrm>
          <a:prstGeom prst="rect">
            <a:avLst/>
          </a:prstGeom>
        </p:spPr>
      </p:pic>
      <p:sp>
        <p:nvSpPr>
          <p:cNvPr id="5" name="Text 2"/>
          <p:cNvSpPr/>
          <p:nvPr/>
        </p:nvSpPr>
        <p:spPr>
          <a:xfrm>
            <a:off x="356682" y="5106789"/>
            <a:ext cx="11478330" cy="115689"/>
          </a:xfrm>
          <a:prstGeom prst="rect">
            <a:avLst/>
          </a:prstGeom>
          <a:noFill/>
          <a:ln/>
        </p:spPr>
        <p:txBody>
          <a:bodyPr wrap="none" lIns="0" tIns="0" rIns="0" bIns="0" rtlCol="0" anchor="t"/>
          <a:lstStyle/>
          <a:p>
            <a:pPr algn="ctr" indent="0" marL="0">
              <a:lnSpc>
                <a:spcPct val="101000"/>
              </a:lnSpc>
              <a:buNone/>
            </a:pPr>
            <a:r>
              <a:rPr lang="en-US" sz="750" dirty="0">
                <a:solidFill>
                  <a:srgbClr val="4C4C4D"/>
                </a:solidFill>
                <a:latin typeface="Heebo" pitchFamily="34" charset="0"/>
                <a:ea typeface="Heebo" pitchFamily="34" charset="-122"/>
                <a:cs typeface="Heebo" pitchFamily="34" charset="-120"/>
              </a:rPr>
              <a:t>For MCMC, a 3-day execution time was reduced to </a:t>
            </a:r>
            <a:pPr algn="ctr" indent="0" marL="0">
              <a:lnSpc>
                <a:spcPct val="101000"/>
              </a:lnSpc>
              <a:buNone/>
            </a:pPr>
            <a:r>
              <a:rPr lang="en-US" sz="750" b="1" dirty="0">
                <a:solidFill>
                  <a:srgbClr val="4C4C4D"/>
                </a:solidFill>
                <a:latin typeface="Heebo Bold" pitchFamily="34" charset="0"/>
                <a:ea typeface="Heebo Bold" pitchFamily="34" charset="-122"/>
                <a:cs typeface="Heebo Bold" pitchFamily="34" charset="-120"/>
              </a:rPr>
              <a:t>just 1 hour</a:t>
            </a:r>
            <a:pPr algn="ctr" indent="0" marL="0">
              <a:lnSpc>
                <a:spcPct val="101000"/>
              </a:lnSpc>
              <a:buNone/>
            </a:pPr>
            <a:r>
              <a:rPr lang="en-US" sz="750" dirty="0">
                <a:solidFill>
                  <a:srgbClr val="4C4C4D"/>
                </a:solidFill>
                <a:latin typeface="Heebo" pitchFamily="34" charset="0"/>
                <a:ea typeface="Heebo" pitchFamily="34" charset="-122"/>
                <a:cs typeface="Heebo" pitchFamily="34" charset="-120"/>
              </a:rPr>
              <a:t>.</a:t>
            </a:r>
            <a:endParaRPr lang="en-US" sz="750" dirty="0"/>
          </a:p>
        </p:txBody>
      </p:sp>
      <p:sp>
        <p:nvSpPr>
          <p:cNvPr id="6" name="Shape 3"/>
          <p:cNvSpPr/>
          <p:nvPr/>
        </p:nvSpPr>
        <p:spPr>
          <a:xfrm>
            <a:off x="661475" y="5301159"/>
            <a:ext cx="10868745" cy="12700"/>
          </a:xfrm>
          <a:prstGeom prst="roundRect">
            <a:avLst>
              <a:gd name="adj" fmla="val 49999"/>
            </a:avLst>
          </a:prstGeom>
          <a:solidFill>
            <a:srgbClr val="4C4C4D">
              <a:alpha val="50000"/>
            </a:srgbClr>
          </a:solidFill>
          <a:ln/>
        </p:spPr>
      </p:sp>
      <p:sp>
        <p:nvSpPr>
          <p:cNvPr id="7" name="Shape 4"/>
          <p:cNvSpPr/>
          <p:nvPr/>
        </p:nvSpPr>
        <p:spPr>
          <a:xfrm>
            <a:off x="661475" y="5392539"/>
            <a:ext cx="3590438" cy="939006"/>
          </a:xfrm>
          <a:prstGeom prst="roundRect">
            <a:avLst>
              <a:gd name="adj" fmla="val 1533"/>
            </a:avLst>
          </a:prstGeom>
          <a:solidFill>
            <a:srgbClr val="F2EEEE"/>
          </a:solidFill>
          <a:ln/>
        </p:spPr>
      </p:sp>
      <p:sp>
        <p:nvSpPr>
          <p:cNvPr id="8" name="Shape 5"/>
          <p:cNvSpPr/>
          <p:nvPr/>
        </p:nvSpPr>
        <p:spPr>
          <a:xfrm>
            <a:off x="757417" y="5488484"/>
            <a:ext cx="287926" cy="287933"/>
          </a:xfrm>
          <a:prstGeom prst="ellipse">
            <a:avLst/>
          </a:prstGeom>
          <a:solidFill>
            <a:srgbClr val="2150FE"/>
          </a:solidFill>
          <a:ln/>
        </p:spPr>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592" y="5567660"/>
            <a:ext cx="129576" cy="129580"/>
          </a:xfrm>
          <a:prstGeom prst="rect">
            <a:avLst/>
          </a:prstGeom>
        </p:spPr>
      </p:pic>
      <p:sp>
        <p:nvSpPr>
          <p:cNvPr id="10" name="Text 6"/>
          <p:cNvSpPr/>
          <p:nvPr/>
        </p:nvSpPr>
        <p:spPr>
          <a:xfrm>
            <a:off x="757417" y="5825133"/>
            <a:ext cx="3398554" cy="149920"/>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Flaky Tests Eliminated</a:t>
            </a:r>
            <a:endParaRPr lang="en-US" sz="900" dirty="0"/>
          </a:p>
        </p:txBody>
      </p:sp>
      <p:sp>
        <p:nvSpPr>
          <p:cNvPr id="11" name="Text 7"/>
          <p:cNvSpPr/>
          <p:nvPr/>
        </p:nvSpPr>
        <p:spPr>
          <a:xfrm>
            <a:off x="757417" y="6004223"/>
            <a:ext cx="3398554" cy="231378"/>
          </a:xfrm>
          <a:prstGeom prst="rect">
            <a:avLst/>
          </a:prstGeom>
          <a:noFill/>
          <a:ln/>
        </p:spPr>
        <p:txBody>
          <a:bodyPr wrap="square" lIns="0" tIns="0" rIns="0" bIns="0" rtlCol="0" anchor="t">
            <a:normAutofit/>
          </a:bodyPr>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The move to Playwright resolved all previously intermittent test failures, improving reliability.</a:t>
            </a:r>
            <a:endParaRPr lang="en-US" sz="750" dirty="0"/>
          </a:p>
        </p:txBody>
      </p:sp>
      <p:sp>
        <p:nvSpPr>
          <p:cNvPr id="12" name="Shape 8"/>
          <p:cNvSpPr/>
          <p:nvPr/>
        </p:nvSpPr>
        <p:spPr>
          <a:xfrm>
            <a:off x="4300628" y="5392539"/>
            <a:ext cx="3590438" cy="939006"/>
          </a:xfrm>
          <a:prstGeom prst="roundRect">
            <a:avLst>
              <a:gd name="adj" fmla="val 1533"/>
            </a:avLst>
          </a:prstGeom>
          <a:solidFill>
            <a:srgbClr val="F2EEEE"/>
          </a:solidFill>
          <a:ln/>
        </p:spPr>
      </p:sp>
      <p:sp>
        <p:nvSpPr>
          <p:cNvPr id="13" name="Shape 9"/>
          <p:cNvSpPr/>
          <p:nvPr/>
        </p:nvSpPr>
        <p:spPr>
          <a:xfrm>
            <a:off x="4396570" y="5488484"/>
            <a:ext cx="287926" cy="287933"/>
          </a:xfrm>
          <a:prstGeom prst="ellipse">
            <a:avLst/>
          </a:prstGeom>
          <a:solidFill>
            <a:srgbClr val="2150FE"/>
          </a:solidFill>
          <a:ln/>
        </p:spPr>
      </p:sp>
      <p:pic>
        <p:nvPicPr>
          <p:cNvPr id="14"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75745" y="5567660"/>
            <a:ext cx="129576" cy="129580"/>
          </a:xfrm>
          <a:prstGeom prst="rect">
            <a:avLst/>
          </a:prstGeom>
        </p:spPr>
      </p:pic>
      <p:sp>
        <p:nvSpPr>
          <p:cNvPr id="15" name="Text 10"/>
          <p:cNvSpPr/>
          <p:nvPr/>
        </p:nvSpPr>
        <p:spPr>
          <a:xfrm>
            <a:off x="4396570" y="5825133"/>
            <a:ext cx="3398554" cy="149920"/>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Accelerated Feedback</a:t>
            </a:r>
            <a:endParaRPr lang="en-US" sz="900" dirty="0"/>
          </a:p>
        </p:txBody>
      </p:sp>
      <p:sp>
        <p:nvSpPr>
          <p:cNvPr id="16" name="Text 11"/>
          <p:cNvSpPr/>
          <p:nvPr/>
        </p:nvSpPr>
        <p:spPr>
          <a:xfrm>
            <a:off x="4396570" y="6004223"/>
            <a:ext cx="3398554" cy="231378"/>
          </a:xfrm>
          <a:prstGeom prst="rect">
            <a:avLst/>
          </a:prstGeom>
          <a:noFill/>
          <a:ln/>
        </p:spPr>
        <p:txBody>
          <a:bodyPr wrap="square" lIns="0" tIns="0" rIns="0" bIns="0" rtlCol="0" anchor="t">
            <a:normAutofit/>
          </a:bodyPr>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Developers receive validation on their changes significantly faster, enabling quicker iterations.</a:t>
            </a:r>
            <a:endParaRPr lang="en-US" sz="750" dirty="0"/>
          </a:p>
        </p:txBody>
      </p:sp>
      <p:sp>
        <p:nvSpPr>
          <p:cNvPr id="17" name="Shape 12"/>
          <p:cNvSpPr/>
          <p:nvPr/>
        </p:nvSpPr>
        <p:spPr>
          <a:xfrm>
            <a:off x="7939782" y="5392539"/>
            <a:ext cx="3590438" cy="939006"/>
          </a:xfrm>
          <a:prstGeom prst="roundRect">
            <a:avLst>
              <a:gd name="adj" fmla="val 1533"/>
            </a:avLst>
          </a:prstGeom>
          <a:solidFill>
            <a:srgbClr val="F2EEEE"/>
          </a:solidFill>
          <a:ln/>
        </p:spPr>
      </p:sp>
      <p:sp>
        <p:nvSpPr>
          <p:cNvPr id="18" name="Shape 13"/>
          <p:cNvSpPr/>
          <p:nvPr/>
        </p:nvSpPr>
        <p:spPr>
          <a:xfrm>
            <a:off x="8035724" y="5488484"/>
            <a:ext cx="287926" cy="287933"/>
          </a:xfrm>
          <a:prstGeom prst="ellipse">
            <a:avLst/>
          </a:prstGeom>
          <a:solidFill>
            <a:srgbClr val="2150FE"/>
          </a:solidFill>
          <a:ln/>
        </p:spPr>
      </p:sp>
      <p:pic>
        <p:nvPicPr>
          <p:cNvPr id="1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14899" y="5567660"/>
            <a:ext cx="129576" cy="129580"/>
          </a:xfrm>
          <a:prstGeom prst="rect">
            <a:avLst/>
          </a:prstGeom>
        </p:spPr>
      </p:pic>
      <p:sp>
        <p:nvSpPr>
          <p:cNvPr id="20" name="Text 14"/>
          <p:cNvSpPr/>
          <p:nvPr/>
        </p:nvSpPr>
        <p:spPr>
          <a:xfrm>
            <a:off x="8035724" y="5825133"/>
            <a:ext cx="3398554" cy="149920"/>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Enhanced Quality</a:t>
            </a:r>
            <a:endParaRPr lang="en-US" sz="900" dirty="0"/>
          </a:p>
        </p:txBody>
      </p:sp>
      <p:sp>
        <p:nvSpPr>
          <p:cNvPr id="21" name="Text 15"/>
          <p:cNvSpPr/>
          <p:nvPr/>
        </p:nvSpPr>
        <p:spPr>
          <a:xfrm>
            <a:off x="8035724" y="6004223"/>
            <a:ext cx="3398554" cy="231378"/>
          </a:xfrm>
          <a:prstGeom prst="rect">
            <a:avLst/>
          </a:prstGeom>
          <a:noFill/>
          <a:ln/>
        </p:spPr>
        <p:txBody>
          <a:bodyPr wrap="square" lIns="0" tIns="0" rIns="0" bIns="0" rtlCol="0" anchor="t">
            <a:normAutofit/>
          </a:bodyPr>
          <a:lstStyle/>
          <a:p>
            <a:pPr algn="l" indent="0" marL="0">
              <a:lnSpc>
                <a:spcPct val="101000"/>
              </a:lnSpc>
              <a:buNone/>
            </a:pPr>
            <a:r>
              <a:rPr lang="en-US" sz="750" dirty="0">
                <a:solidFill>
                  <a:srgbClr val="4C4C4D"/>
                </a:solidFill>
                <a:latin typeface="Heebo" pitchFamily="34" charset="0"/>
                <a:ea typeface="Heebo" pitchFamily="34" charset="-122"/>
                <a:cs typeface="Heebo" pitchFamily="34" charset="-120"/>
              </a:rPr>
              <a:t>More frequent and stable test runs lead to higher confidence in deployments and fewer production defects.</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519807"/>
            <a:ext cx="10868745" cy="191988"/>
          </a:xfrm>
          <a:prstGeom prst="rect">
            <a:avLst/>
          </a:prstGeom>
          <a:noFill/>
          <a:ln/>
        </p:spPr>
        <p:txBody>
          <a:bodyPr wrap="none" lIns="0" tIns="0" rIns="0" bIns="0" rtlCol="0" anchor="t"/>
          <a:lstStyle/>
          <a:p>
            <a:pPr algn="ctr" indent="0" marL="0">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GitLab CI/CD: Automated Quality Gates via Story Tags</a:t>
            </a:r>
            <a:endParaRPr lang="en-US" sz="1200" dirty="0"/>
          </a:p>
        </p:txBody>
      </p:sp>
      <p:sp>
        <p:nvSpPr>
          <p:cNvPr id="3" name="Text 1"/>
          <p:cNvSpPr/>
          <p:nvPr/>
        </p:nvSpPr>
        <p:spPr>
          <a:xfrm>
            <a:off x="356682" y="751681"/>
            <a:ext cx="11478330"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Seamlessly linking feature development to comprehensive quality validation.</a:t>
            </a:r>
            <a:endParaRPr lang="en-US" sz="450" dirty="0"/>
          </a:p>
        </p:txBody>
      </p:sp>
      <p:sp>
        <p:nvSpPr>
          <p:cNvPr id="4" name="Text 2"/>
          <p:cNvSpPr/>
          <p:nvPr/>
        </p:nvSpPr>
        <p:spPr>
          <a:xfrm>
            <a:off x="661475" y="839192"/>
            <a:ext cx="11478330" cy="65088"/>
          </a:xfrm>
          <a:prstGeom prst="rect">
            <a:avLst/>
          </a:prstGeom>
          <a:noFill/>
          <a:ln/>
        </p:spPr>
        <p:txBody>
          <a:bodyPr wrap="none" lIns="0" tIns="0" rIns="0" bIns="0" rtlCol="0" anchor="t"/>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Our GitLab CI/CD pipeline automatically triggers full quality gate execution based on commit tags. This ensures that every new feature or bug fix undergoes targeted and rigorous testing, from functional regression to security and performance, only when a relevant story is pushed.</a:t>
            </a:r>
            <a:endParaRPr lang="en-US" sz="450" dirty="0"/>
          </a:p>
        </p:txBody>
      </p:sp>
      <p:sp>
        <p:nvSpPr>
          <p:cNvPr id="5" name="Shape 3"/>
          <p:cNvSpPr/>
          <p:nvPr/>
        </p:nvSpPr>
        <p:spPr>
          <a:xfrm>
            <a:off x="661475" y="926703"/>
            <a:ext cx="10868745" cy="2185591"/>
          </a:xfrm>
          <a:prstGeom prst="roundRect">
            <a:avLst>
              <a:gd name="adj" fmla="val 422"/>
            </a:avLst>
          </a:prstGeom>
          <a:solidFill>
            <a:srgbClr val="F2F2F2"/>
          </a:solidFill>
          <a:ln/>
        </p:spPr>
      </p:sp>
      <p:sp>
        <p:nvSpPr>
          <p:cNvPr id="6" name="Text 4"/>
          <p:cNvSpPr/>
          <p:nvPr/>
        </p:nvSpPr>
        <p:spPr>
          <a:xfrm>
            <a:off x="735093" y="988120"/>
            <a:ext cx="10721508" cy="2062758"/>
          </a:xfrm>
          <a:prstGeom prst="rect">
            <a:avLst/>
          </a:prstGeom>
          <a:noFill/>
          <a:ln/>
        </p:spPr>
        <p:txBody>
          <a:bodyPr wrap="square" lIns="0" tIns="0" rIns="0" bIns="0" rtlCol="0" anchor="t">
            <a:normAutofit/>
          </a:bodyPr>
          <a:lstStyle/>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stages:</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 build</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 test</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 deploy</a:t>
            </a:r>
            <a:endParaRPr lang="en-US" sz="450" dirty="0"/>
          </a:p>
          <a:p>
            <a:pPr algn="l" indent="0" marL="0">
              <a:lnSpc>
                <a:spcPct val="133000"/>
              </a:lnSpc>
              <a:buNone/>
            </a:pP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build_app:</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stage: build</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script:</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 echo "Building the application..."</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 ... application build steps ...</a:t>
            </a:r>
            <a:endParaRPr lang="en-US" sz="450" dirty="0"/>
          </a:p>
          <a:p>
            <a:pPr algn="l" indent="0" marL="0">
              <a:lnSpc>
                <a:spcPct val="133000"/>
              </a:lnSpc>
              <a:buNone/>
            </a:pP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trigger_test_pipeline:</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stage: test</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trigger:</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include: path/to/test-pipeline.gitlab-ci.yml</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strategy: depend</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rules:</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 if: $CI_COMMIT_TAG =~ /^story-.*/ # Triggers if commit tag starts with 'story-'</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variables:</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STORY_TAG: $CI_COMMIT_TAG</a:t>
            </a:r>
            <a:endParaRPr lang="en-US" sz="450" dirty="0"/>
          </a:p>
          <a:p>
            <a:pPr algn="l" indent="0" marL="0">
              <a:lnSpc>
                <a:spcPct val="133000"/>
              </a:lnSpc>
              <a:buNone/>
            </a:pPr>
            <a:r>
              <a:rPr lang="en-US" sz="450" dirty="0">
                <a:solidFill>
                  <a:srgbClr val="005CC5"/>
                </a:solidFill>
                <a:latin typeface="Consolas" pitchFamily="34" charset="0"/>
                <a:ea typeface="Consolas" pitchFamily="34" charset="-122"/>
                <a:cs typeface="Consolas" pitchFamily="34" charset="-120"/>
              </a:rPr>
              <a:t>    </a:t>
            </a:r>
            <a:endParaRPr lang="en-US" sz="450" dirty="0"/>
          </a:p>
        </p:txBody>
      </p:sp>
      <p:sp>
        <p:nvSpPr>
          <p:cNvPr id="7" name="Text 5"/>
          <p:cNvSpPr/>
          <p:nvPr/>
        </p:nvSpPr>
        <p:spPr>
          <a:xfrm>
            <a:off x="661475" y="3134717"/>
            <a:ext cx="10868745" cy="130175"/>
          </a:xfrm>
          <a:prstGeom prst="rect">
            <a:avLst/>
          </a:prstGeom>
          <a:noFill/>
          <a:ln/>
        </p:spPr>
        <p:txBody>
          <a:bodyPr wrap="square" lIns="0" tIns="0" rIns="0" bIns="0" rtlCol="0" anchor="t">
            <a:normAutofit/>
          </a:bodyPr>
          <a:lstStyle/>
          <a:p>
            <a:pPr algn="l" indent="0" marL="0">
              <a:lnSpc>
                <a:spcPct val="88000"/>
              </a:lnSpc>
              <a:buNone/>
            </a:pPr>
            <a:r>
              <a:rPr lang="en-US" sz="450" dirty="0">
                <a:solidFill>
                  <a:srgbClr val="4C4C4D"/>
                </a:solidFill>
                <a:latin typeface="Heebo" pitchFamily="34" charset="0"/>
                <a:ea typeface="Heebo" pitchFamily="34" charset="-122"/>
                <a:cs typeface="Heebo" pitchFamily="34" charset="-120"/>
              </a:rPr>
              <a:t>The </a:t>
            </a:r>
            <a:pPr algn="l" indent="0" marL="0">
              <a:lnSpc>
                <a:spcPct val="88000"/>
              </a:lnSpc>
              <a:buNone/>
            </a:pPr>
            <a:r>
              <a:rPr lang="en-US" sz="450" dirty="0">
                <a:solidFill>
                  <a:srgbClr val="4C4C4D"/>
                </a:solidFill>
                <a:highlight>
                  <a:srgbClr val="F2F2F2"/>
                </a:highlight>
                <a:latin typeface="Consolas" pitchFamily="34" charset="0"/>
                <a:ea typeface="Consolas" pitchFamily="34" charset="-122"/>
                <a:cs typeface="Consolas" pitchFamily="34" charset="-120"/>
              </a:rPr>
              <a:t>trigger_test_pipeline</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job, specifically configured within the </a:t>
            </a:r>
            <a:pPr algn="l" indent="0" marL="0">
              <a:lnSpc>
                <a:spcPct val="88000"/>
              </a:lnSpc>
              <a:buNone/>
            </a:pPr>
            <a:r>
              <a:rPr lang="en-US" sz="450" dirty="0">
                <a:solidFill>
                  <a:srgbClr val="4C4C4D"/>
                </a:solidFill>
                <a:highlight>
                  <a:srgbClr val="F2F2F2"/>
                </a:highlight>
                <a:latin typeface="Consolas" pitchFamily="34" charset="0"/>
                <a:ea typeface="Consolas" pitchFamily="34" charset="-122"/>
                <a:cs typeface="Consolas" pitchFamily="34" charset="-120"/>
              </a:rPr>
              <a:t>test</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stage, uses a </a:t>
            </a:r>
            <a:pPr algn="l" indent="0" marL="0">
              <a:lnSpc>
                <a:spcPct val="88000"/>
              </a:lnSpc>
              <a:buNone/>
            </a:pPr>
            <a:r>
              <a:rPr lang="en-US" sz="450" dirty="0">
                <a:solidFill>
                  <a:srgbClr val="4C4C4D"/>
                </a:solidFill>
                <a:highlight>
                  <a:srgbClr val="F2F2F2"/>
                </a:highlight>
                <a:latin typeface="Consolas" pitchFamily="34" charset="0"/>
                <a:ea typeface="Consolas" pitchFamily="34" charset="-122"/>
                <a:cs typeface="Consolas" pitchFamily="34" charset="-120"/>
              </a:rPr>
              <a:t>rules</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block to detect any commit tag starting with </a:t>
            </a:r>
            <a:pPr algn="l" indent="0" marL="0">
              <a:lnSpc>
                <a:spcPct val="88000"/>
              </a:lnSpc>
              <a:buNone/>
            </a:pPr>
            <a:r>
              <a:rPr lang="en-US" sz="450" dirty="0">
                <a:solidFill>
                  <a:srgbClr val="4C4C4D"/>
                </a:solidFill>
                <a:highlight>
                  <a:srgbClr val="F2F2F2"/>
                </a:highlight>
                <a:latin typeface="Consolas" pitchFamily="34" charset="0"/>
                <a:ea typeface="Consolas" pitchFamily="34" charset="-122"/>
                <a:cs typeface="Consolas" pitchFamily="34" charset="-120"/>
              </a:rPr>
              <a:t>story-</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When such a tag is identified, it automatically triggers a separate, dedicated test pipeline (defined in </a:t>
            </a:r>
            <a:pPr algn="l" indent="0" marL="0">
              <a:lnSpc>
                <a:spcPct val="88000"/>
              </a:lnSpc>
              <a:buNone/>
            </a:pPr>
            <a:r>
              <a:rPr lang="en-US" sz="450" dirty="0">
                <a:solidFill>
                  <a:srgbClr val="4C4C4D"/>
                </a:solidFill>
                <a:highlight>
                  <a:srgbClr val="F2F2F2"/>
                </a:highlight>
                <a:latin typeface="Consolas" pitchFamily="34" charset="0"/>
                <a:ea typeface="Consolas" pitchFamily="34" charset="-122"/>
                <a:cs typeface="Consolas" pitchFamily="34" charset="-120"/>
              </a:rPr>
              <a:t>test-pipeline.gitlab-ci.yml</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passing the </a:t>
            </a:r>
            <a:pPr algn="l" indent="0" marL="0">
              <a:lnSpc>
                <a:spcPct val="88000"/>
              </a:lnSpc>
              <a:buNone/>
            </a:pPr>
            <a:r>
              <a:rPr lang="en-US" sz="450" dirty="0">
                <a:solidFill>
                  <a:srgbClr val="4C4C4D"/>
                </a:solidFill>
                <a:highlight>
                  <a:srgbClr val="F2F2F2"/>
                </a:highlight>
                <a:latin typeface="Consolas" pitchFamily="34" charset="0"/>
                <a:ea typeface="Consolas" pitchFamily="34" charset="-122"/>
                <a:cs typeface="Consolas" pitchFamily="34" charset="-120"/>
              </a:rPr>
              <a:t>STORY_TAG</a:t>
            </a:r>
            <a:pPr algn="l" indent="0" marL="0">
              <a:lnSpc>
                <a:spcPct val="88000"/>
              </a:lnSpc>
              <a:buNone/>
            </a:pPr>
            <a:r>
              <a:rPr lang="en-US" sz="450" dirty="0">
                <a:solidFill>
                  <a:srgbClr val="4C4C4D"/>
                </a:solidFill>
                <a:latin typeface="Heebo" pitchFamily="34" charset="0"/>
                <a:ea typeface="Heebo" pitchFamily="34" charset="-122"/>
                <a:cs typeface="Heebo" pitchFamily="34" charset="-120"/>
              </a:rPr>
              <a:t> as a variable. This dynamic triggering mechanism is central to our "shift-left" strategy, ensuring that quality checks are integrated early and continuously without impeding the main build and deploy flow for all commits.</a:t>
            </a:r>
            <a:endParaRPr lang="en-US" sz="450" dirty="0"/>
          </a:p>
        </p:txBody>
      </p:sp>
      <p:pic>
        <p:nvPicPr>
          <p:cNvPr id="8" name="Image 0" descr="preencoded.png">    </p:cNvPr>
          <p:cNvPicPr>
            <a:picLocks noChangeAspect="1"/>
          </p:cNvPicPr>
          <p:nvPr/>
        </p:nvPicPr>
        <p:blipFill>
          <a:blip r:embed="rId1"/>
          <a:stretch>
            <a:fillRect/>
          </a:stretch>
        </p:blipFill>
        <p:spPr>
          <a:xfrm>
            <a:off x="2592620" y="3287316"/>
            <a:ext cx="7006454" cy="3021409"/>
          </a:xfrm>
          <a:prstGeom prst="rect">
            <a:avLst/>
          </a:prstGeom>
        </p:spPr>
      </p:pic>
      <p:sp>
        <p:nvSpPr>
          <p:cNvPr id="9" name="Text 6"/>
          <p:cNvSpPr/>
          <p:nvPr/>
        </p:nvSpPr>
        <p:spPr>
          <a:xfrm>
            <a:off x="3064093" y="5735753"/>
            <a:ext cx="1589523" cy="198695"/>
          </a:xfrm>
          <a:prstGeom prst="rect">
            <a:avLst/>
          </a:prstGeom>
          <a:noFill/>
          <a:ln/>
        </p:spPr>
        <p:txBody>
          <a:bodyPr wrap="none" lIns="0" tIns="0" rIns="0" bIns="0" rtlCol="0" anchor="t"/>
          <a:lstStyle/>
          <a:p>
            <a:pPr algn="l" indent="0" marL="0">
              <a:lnSpc>
                <a:spcPct val="104000"/>
              </a:lnSpc>
              <a:buNone/>
            </a:pPr>
            <a:r>
              <a:rPr lang="en-US" sz="1250" dirty="0">
                <a:solidFill>
                  <a:srgbClr val="FFFFFF"/>
                </a:solidFill>
                <a:latin typeface="Crimson Pro SemiBold" pitchFamily="34" charset="0"/>
                <a:ea typeface="Crimson Pro SemiBold" pitchFamily="34" charset="-122"/>
                <a:cs typeface="Crimson Pro SemiBold" pitchFamily="34" charset="-120"/>
              </a:rPr>
              <a:t>Security &amp; Performance</a:t>
            </a:r>
            <a:endParaRPr lang="en-US" sz="1250" dirty="0"/>
          </a:p>
        </p:txBody>
      </p:sp>
      <p:sp>
        <p:nvSpPr>
          <p:cNvPr id="10" name="Text 7"/>
          <p:cNvSpPr/>
          <p:nvPr/>
        </p:nvSpPr>
        <p:spPr>
          <a:xfrm>
            <a:off x="3064093" y="5036345"/>
            <a:ext cx="1589523" cy="198695"/>
          </a:xfrm>
          <a:prstGeom prst="rect">
            <a:avLst/>
          </a:prstGeom>
          <a:noFill/>
          <a:ln/>
        </p:spPr>
        <p:txBody>
          <a:bodyPr wrap="none" lIns="0" tIns="0" rIns="0" bIns="0" rtlCol="0" anchor="t"/>
          <a:lstStyle/>
          <a:p>
            <a:pPr algn="l" indent="0" marL="0">
              <a:lnSpc>
                <a:spcPct val="104000"/>
              </a:lnSpc>
              <a:buNone/>
            </a:pPr>
            <a:r>
              <a:rPr lang="en-US" sz="1250" dirty="0">
                <a:solidFill>
                  <a:srgbClr val="FFFFFF"/>
                </a:solidFill>
                <a:latin typeface="Crimson Pro SemiBold" pitchFamily="34" charset="0"/>
                <a:ea typeface="Crimson Pro SemiBold" pitchFamily="34" charset="-122"/>
                <a:cs typeface="Crimson Pro SemiBold" pitchFamily="34" charset="-120"/>
              </a:rPr>
              <a:t>Regression Tests</a:t>
            </a:r>
            <a:endParaRPr lang="en-US" sz="1250" dirty="0"/>
          </a:p>
        </p:txBody>
      </p:sp>
      <p:sp>
        <p:nvSpPr>
          <p:cNvPr id="11" name="Text 8"/>
          <p:cNvSpPr/>
          <p:nvPr/>
        </p:nvSpPr>
        <p:spPr>
          <a:xfrm>
            <a:off x="3064093" y="4344002"/>
            <a:ext cx="1589523" cy="198696"/>
          </a:xfrm>
          <a:prstGeom prst="rect">
            <a:avLst/>
          </a:prstGeom>
          <a:noFill/>
          <a:ln/>
        </p:spPr>
        <p:txBody>
          <a:bodyPr wrap="none" lIns="0" tIns="0" rIns="0" bIns="0" rtlCol="0" anchor="t"/>
          <a:lstStyle/>
          <a:p>
            <a:pPr algn="l" indent="0" marL="0">
              <a:lnSpc>
                <a:spcPct val="104000"/>
              </a:lnSpc>
              <a:buNone/>
            </a:pPr>
            <a:r>
              <a:rPr lang="en-US" sz="1250" dirty="0">
                <a:solidFill>
                  <a:srgbClr val="FFFFFF"/>
                </a:solidFill>
                <a:latin typeface="Crimson Pro SemiBold" pitchFamily="34" charset="0"/>
                <a:ea typeface="Crimson Pro SemiBold" pitchFamily="34" charset="-122"/>
                <a:cs typeface="Crimson Pro SemiBold" pitchFamily="34" charset="-120"/>
              </a:rPr>
              <a:t>Trigger Test Pipeline</a:t>
            </a:r>
            <a:endParaRPr lang="en-US" sz="1250" dirty="0"/>
          </a:p>
        </p:txBody>
      </p:sp>
      <p:sp>
        <p:nvSpPr>
          <p:cNvPr id="12" name="Text 9"/>
          <p:cNvSpPr/>
          <p:nvPr/>
        </p:nvSpPr>
        <p:spPr>
          <a:xfrm>
            <a:off x="3064093" y="3644595"/>
            <a:ext cx="1589523" cy="198695"/>
          </a:xfrm>
          <a:prstGeom prst="rect">
            <a:avLst/>
          </a:prstGeom>
          <a:noFill/>
          <a:ln/>
        </p:spPr>
        <p:txBody>
          <a:bodyPr wrap="none" lIns="0" tIns="0" rIns="0" bIns="0" rtlCol="0" anchor="t"/>
          <a:lstStyle/>
          <a:p>
            <a:pPr algn="l" indent="0" marL="0">
              <a:lnSpc>
                <a:spcPct val="104000"/>
              </a:lnSpc>
              <a:buNone/>
            </a:pPr>
            <a:r>
              <a:rPr lang="en-US" sz="1250" dirty="0">
                <a:solidFill>
                  <a:srgbClr val="FFFFFF"/>
                </a:solidFill>
                <a:latin typeface="Crimson Pro SemiBold" pitchFamily="34" charset="0"/>
                <a:ea typeface="Crimson Pro SemiBold" pitchFamily="34" charset="-122"/>
                <a:cs typeface="Crimson Pro SemiBold" pitchFamily="34" charset="-120"/>
              </a:rPr>
              <a:t>Commit: story-</a:t>
            </a:r>
            <a:endParaRPr lang="en-US" sz="1250" dirty="0"/>
          </a:p>
        </p:txBody>
      </p:sp>
      <p:sp>
        <p:nvSpPr>
          <p:cNvPr id="13" name="Text 10"/>
          <p:cNvSpPr/>
          <p:nvPr/>
        </p:nvSpPr>
        <p:spPr>
          <a:xfrm>
            <a:off x="356682" y="6331148"/>
            <a:ext cx="11478330" cy="65088"/>
          </a:xfrm>
          <a:prstGeom prst="rect">
            <a:avLst/>
          </a:prstGeom>
          <a:noFill/>
          <a:ln/>
        </p:spPr>
        <p:txBody>
          <a:bodyPr wrap="none" lIns="0" tIns="0" rIns="0" bIns="0" rtlCol="0" anchor="t"/>
          <a:lstStyle/>
          <a:p>
            <a:pPr algn="ctr" indent="0" marL="0">
              <a:lnSpc>
                <a:spcPct val="88000"/>
              </a:lnSpc>
              <a:buNone/>
            </a:pPr>
            <a:r>
              <a:rPr lang="en-US" sz="450" dirty="0">
                <a:solidFill>
                  <a:srgbClr val="4C4C4D"/>
                </a:solidFill>
                <a:latin typeface="Heebo" pitchFamily="34" charset="0"/>
                <a:ea typeface="Heebo" pitchFamily="34" charset="-122"/>
                <a:cs typeface="Heebo" pitchFamily="34" charset="-120"/>
              </a:rPr>
              <a:t>This streamlined process ensures that every story-specific change is validated across all critical quality dimensions before further integration.</a:t>
            </a:r>
            <a:endParaRPr lang="en-US" sz="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2026-08-20T09:05:10Z</dcterms:created>
  <dcterms:modified xsi:type="dcterms:W3CDTF">2026-08-20T09:05:10Z</dcterms:modified>
</cp:coreProperties>
</file>