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image" Target="../media/image-3-2.png"/><Relationship Id="rId11" Type="http://schemas.openxmlformats.org/officeDocument/2006/relationships/image" Target="../media/image-3-3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3.png"/><Relationship Id="rId6" Type="http://schemas.openxmlformats.org/officeDocument/2006/relationships/image" Target="../media/image-7-4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7.png"/><Relationship Id="rId10" Type="http://schemas.openxmlformats.org/officeDocument/2006/relationships/image" Target="../media/image-7-8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9.png"/><Relationship Id="rId12" Type="http://schemas.openxmlformats.org/officeDocument/2006/relationships/image" Target="../media/image-9-10.svg"/><Relationship Id="rId13" Type="http://schemas.openxmlformats.org/officeDocument/2006/relationships/image" Target="../media/image-9-9.png"/><Relationship Id="rId14" Type="http://schemas.openxmlformats.org/officeDocument/2006/relationships/image" Target="../media/image-9-10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5.png"/><Relationship Id="rId18" Type="http://schemas.openxmlformats.org/officeDocument/2006/relationships/image" Target="../media/image-9-16.svg"/><Relationship Id="rId19" Type="http://schemas.openxmlformats.org/officeDocument/2006/relationships/image" Target="../media/image-9-15.png"/><Relationship Id="rId20" Type="http://schemas.openxmlformats.org/officeDocument/2006/relationships/image" Target="../media/image-9-16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svg"/><Relationship Id="rId24" Type="http://schemas.openxmlformats.org/officeDocument/2006/relationships/image" Target="../media/image-10-22.png"/><Relationship Id="rId25" Type="http://schemas.openxmlformats.org/officeDocument/2006/relationships/image" Target="../media/image-10-23.svg"/><Relationship Id="rId26" Type="http://schemas.openxmlformats.org/officeDocument/2006/relationships/image" Target="../media/image-10-22.png"/><Relationship Id="rId27" Type="http://schemas.openxmlformats.org/officeDocument/2006/relationships/image" Target="../media/image-10-23.svg"/><Relationship Id="rId28" Type="http://schemas.openxmlformats.org/officeDocument/2006/relationships/image" Target="../media/image-10-22.png"/><Relationship Id="rId29" Type="http://schemas.openxmlformats.org/officeDocument/2006/relationships/image" Target="../media/image-10-23.svg"/><Relationship Id="rId30" Type="http://schemas.openxmlformats.org/officeDocument/2006/relationships/slideLayout" Target="../slideLayouts/slideLayout2.xml"/><Relationship Id="rId3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8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5.png"/><Relationship Id="rId10" Type="http://schemas.openxmlformats.org/officeDocument/2006/relationships/image" Target="../media/image-11-6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5.png"/><Relationship Id="rId14" Type="http://schemas.openxmlformats.org/officeDocument/2006/relationships/image" Target="../media/image-11-6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svg"/><Relationship Id="rId20" Type="http://schemas.openxmlformats.org/officeDocument/2006/relationships/image" Target="../media/image-11-18.png"/><Relationship Id="rId21" Type="http://schemas.openxmlformats.org/officeDocument/2006/relationships/image" Target="../media/image-11-19.svg"/><Relationship Id="rId22" Type="http://schemas.openxmlformats.org/officeDocument/2006/relationships/image" Target="../media/image-11-18.png"/><Relationship Id="rId23" Type="http://schemas.openxmlformats.org/officeDocument/2006/relationships/image" Target="../media/image-11-19.sv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svg"/><Relationship Id="rId26" Type="http://schemas.openxmlformats.org/officeDocument/2006/relationships/image" Target="../media/image-11-24.png"/><Relationship Id="rId27" Type="http://schemas.openxmlformats.org/officeDocument/2006/relationships/image" Target="../media/image-11-25.svg"/><Relationship Id="rId28" Type="http://schemas.openxmlformats.org/officeDocument/2006/relationships/image" Target="../media/image-11-24.png"/><Relationship Id="rId29" Type="http://schemas.openxmlformats.org/officeDocument/2006/relationships/image" Target="../media/image-11-25.svg"/><Relationship Id="rId30" Type="http://schemas.openxmlformats.org/officeDocument/2006/relationships/image" Target="../media/image-11-30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1337370"/>
            <a:ext cx="3838479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5" name="Text 2"/>
          <p:cNvSpPr/>
          <p:nvPr/>
        </p:nvSpPr>
        <p:spPr>
          <a:xfrm>
            <a:off x="774879" y="1394023"/>
            <a:ext cx="422125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CHILD MAINTENANCE SERVICE — DIGITAL CHANNEL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94408" y="1337370"/>
            <a:ext cx="93719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7812" y="1394023"/>
            <a:ext cx="131997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JULY 2026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1475" y="1700113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CMS Test Automation &amp; CI/CD Integration</a:t>
            </a:r>
            <a:endParaRPr lang="en-US" sz="5100" dirty="0"/>
          </a:p>
        </p:txBody>
      </p:sp>
      <p:sp>
        <p:nvSpPr>
          <p:cNvPr id="9" name="Text 6"/>
          <p:cNvSpPr/>
          <p:nvPr/>
        </p:nvSpPr>
        <p:spPr>
          <a:xfrm>
            <a:off x="661475" y="361394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Shift-Left Quality Engineering  |  Automated Regression  |  Continuous Feedback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431407"/>
            <a:ext cx="1972915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4620419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 Faster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5029101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 Execution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823397" y="4431407"/>
            <a:ext cx="1972915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3012404" y="4620419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Zero Manual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3012404" y="5029101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Regression Effort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985320" y="4431407"/>
            <a:ext cx="1972915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5174327" y="4620419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Continuous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5174327" y="5029101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Quality Feedback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5348"/>
            <a:ext cx="1197441" cy="128290"/>
          </a:xfrm>
          <a:prstGeom prst="roundRect">
            <a:avLst>
              <a:gd name="adj" fmla="val 7901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12075" y="590649"/>
            <a:ext cx="1705825" cy="7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CMS DIGITAL CHANNEL · JULY 2026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708720"/>
            <a:ext cx="10868745" cy="263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56682" y="1029196"/>
            <a:ext cx="11478330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shift-left quality engineering programme delivering automated CI/CD test pipelines across all 6 CMS Digital Channel projects — eliminating manual regression and enabling continuous delivery confidence.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608395" y="1211560"/>
            <a:ext cx="3516919" cy="278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80%+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661475" y="1560711"/>
            <a:ext cx="5410759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Testing Reduction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66282" y="1211560"/>
            <a:ext cx="3517018" cy="278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6119362" y="1560711"/>
            <a:ext cx="5410858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CMS Projects Covered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8395" y="1810246"/>
            <a:ext cx="3516919" cy="278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661475" y="2159397"/>
            <a:ext cx="5410759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Types Automated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66282" y="1810246"/>
            <a:ext cx="3517018" cy="278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6119362" y="2159397"/>
            <a:ext cx="5410858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Bug Reports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1475" y="2371527"/>
            <a:ext cx="5331386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We Delivered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3125" y="2550071"/>
            <a:ext cx="126699" cy="12670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35907" y="2545953"/>
            <a:ext cx="5056954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CI/CD pipelines across all 6 CMS projects via GitHub Actions</a:t>
            </a:r>
            <a:endParaRPr lang="en-US" sz="6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125" y="2883049"/>
            <a:ext cx="126699" cy="1267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35907" y="2878931"/>
            <a:ext cx="5056954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Regression, security (OWASP ZAP), performance (k6) &amp; cross-browser testing</a:t>
            </a:r>
            <a:endParaRPr lang="en-US" sz="6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3125" y="3216027"/>
            <a:ext cx="126699" cy="1267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5907" y="3211909"/>
            <a:ext cx="5056954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Slack notifications with pass/fail summaries &amp; pipeline links</a:t>
            </a:r>
            <a:endParaRPr lang="en-US" sz="6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3125" y="3549005"/>
            <a:ext cx="126699" cy="1267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5907" y="3544888"/>
            <a:ext cx="5056954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Shift-left quality gates preventing defective code reaching production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6205184" y="2371527"/>
            <a:ext cx="5331386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Projects &amp; Coverage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6205184" y="2545953"/>
            <a:ext cx="2646792" cy="727373"/>
          </a:xfrm>
          <a:prstGeom prst="roundRect">
            <a:avLst>
              <a:gd name="adj" fmla="val 1742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6289617" y="2630388"/>
            <a:ext cx="253398" cy="253405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9267" y="2700040"/>
            <a:ext cx="113999" cy="1140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89617" y="2921496"/>
            <a:ext cx="2477926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Enforcement &amp; Finance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6289617" y="3091160"/>
            <a:ext cx="2477926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VPF UI + ENF API</a:t>
            </a:r>
            <a:endParaRPr lang="en-US" sz="650" dirty="0"/>
          </a:p>
        </p:txBody>
      </p:sp>
      <p:sp>
        <p:nvSpPr>
          <p:cNvPr id="29" name="Shape 22"/>
          <p:cNvSpPr/>
          <p:nvPr/>
        </p:nvSpPr>
        <p:spPr>
          <a:xfrm>
            <a:off x="8889678" y="2545953"/>
            <a:ext cx="2646892" cy="727373"/>
          </a:xfrm>
          <a:prstGeom prst="roundRect">
            <a:avLst>
              <a:gd name="adj" fmla="val 1742"/>
            </a:avLst>
          </a:prstGeom>
          <a:solidFill>
            <a:srgbClr val="F2EEEE"/>
          </a:solidFill>
          <a:ln/>
        </p:spPr>
      </p:sp>
      <p:sp>
        <p:nvSpPr>
          <p:cNvPr id="30" name="Shape 23"/>
          <p:cNvSpPr/>
          <p:nvPr/>
        </p:nvSpPr>
        <p:spPr>
          <a:xfrm>
            <a:off x="8974111" y="2630388"/>
            <a:ext cx="253398" cy="253405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43761" y="2700040"/>
            <a:ext cx="113999" cy="1140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4111" y="2921496"/>
            <a:ext cx="2478026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Get Help Apply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8974111" y="3091160"/>
            <a:ext cx="2478026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End-to-end journeys</a:t>
            </a:r>
            <a:endParaRPr lang="en-US" sz="650" dirty="0"/>
          </a:p>
        </p:txBody>
      </p:sp>
      <p:sp>
        <p:nvSpPr>
          <p:cNvPr id="34" name="Shape 26"/>
          <p:cNvSpPr/>
          <p:nvPr/>
        </p:nvSpPr>
        <p:spPr>
          <a:xfrm>
            <a:off x="6205184" y="3311029"/>
            <a:ext cx="2646792" cy="727373"/>
          </a:xfrm>
          <a:prstGeom prst="roundRect">
            <a:avLst>
              <a:gd name="adj" fmla="val 1742"/>
            </a:avLst>
          </a:prstGeom>
          <a:solidFill>
            <a:srgbClr val="F2EEEE"/>
          </a:solidFill>
          <a:ln/>
        </p:spPr>
      </p:sp>
      <p:sp>
        <p:nvSpPr>
          <p:cNvPr id="35" name="Shape 27"/>
          <p:cNvSpPr/>
          <p:nvPr/>
        </p:nvSpPr>
        <p:spPr>
          <a:xfrm>
            <a:off x="6289617" y="3395464"/>
            <a:ext cx="253398" cy="253405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9267" y="3465116"/>
            <a:ext cx="113999" cy="11400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89617" y="3686572"/>
            <a:ext cx="2477926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Respond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6289617" y="3856236"/>
            <a:ext cx="2477926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Citizen response flows</a:t>
            </a:r>
            <a:endParaRPr lang="en-US" sz="650" dirty="0"/>
          </a:p>
        </p:txBody>
      </p:sp>
      <p:sp>
        <p:nvSpPr>
          <p:cNvPr id="39" name="Shape 30"/>
          <p:cNvSpPr/>
          <p:nvPr/>
        </p:nvSpPr>
        <p:spPr>
          <a:xfrm>
            <a:off x="8889678" y="3311029"/>
            <a:ext cx="2646892" cy="727373"/>
          </a:xfrm>
          <a:prstGeom prst="roundRect">
            <a:avLst>
              <a:gd name="adj" fmla="val 1742"/>
            </a:avLst>
          </a:prstGeom>
          <a:solidFill>
            <a:srgbClr val="F2EEEE"/>
          </a:solidFill>
          <a:ln/>
        </p:spPr>
      </p:sp>
      <p:sp>
        <p:nvSpPr>
          <p:cNvPr id="40" name="Shape 31"/>
          <p:cNvSpPr/>
          <p:nvPr/>
        </p:nvSpPr>
        <p:spPr>
          <a:xfrm>
            <a:off x="8974111" y="3395464"/>
            <a:ext cx="253398" cy="253405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43761" y="3465116"/>
            <a:ext cx="113999" cy="11400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974111" y="3686572"/>
            <a:ext cx="2478026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Online Revive</a:t>
            </a:r>
            <a:endParaRPr lang="en-US" sz="800" dirty="0"/>
          </a:p>
        </p:txBody>
      </p:sp>
      <p:sp>
        <p:nvSpPr>
          <p:cNvPr id="43" name="Text 33"/>
          <p:cNvSpPr/>
          <p:nvPr/>
        </p:nvSpPr>
        <p:spPr>
          <a:xfrm>
            <a:off x="8974111" y="3856236"/>
            <a:ext cx="2478026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Account reactivation</a:t>
            </a:r>
            <a:endParaRPr lang="en-US" sz="650" dirty="0"/>
          </a:p>
        </p:txBody>
      </p:sp>
      <p:sp>
        <p:nvSpPr>
          <p:cNvPr id="44" name="Shape 34"/>
          <p:cNvSpPr/>
          <p:nvPr/>
        </p:nvSpPr>
        <p:spPr>
          <a:xfrm>
            <a:off x="6205184" y="4076105"/>
            <a:ext cx="2646792" cy="727373"/>
          </a:xfrm>
          <a:prstGeom prst="roundRect">
            <a:avLst>
              <a:gd name="adj" fmla="val 1742"/>
            </a:avLst>
          </a:prstGeom>
          <a:solidFill>
            <a:srgbClr val="F2EEEE"/>
          </a:solidFill>
          <a:ln/>
        </p:spPr>
      </p:sp>
      <p:sp>
        <p:nvSpPr>
          <p:cNvPr id="45" name="Shape 35"/>
          <p:cNvSpPr/>
          <p:nvPr/>
        </p:nvSpPr>
        <p:spPr>
          <a:xfrm>
            <a:off x="6289617" y="4160540"/>
            <a:ext cx="253398" cy="253405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59267" y="4230191"/>
            <a:ext cx="113999" cy="11400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289617" y="4451648"/>
            <a:ext cx="2477926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Maternity Allowance</a:t>
            </a:r>
            <a:endParaRPr lang="en-US" sz="800" dirty="0"/>
          </a:p>
        </p:txBody>
      </p:sp>
      <p:sp>
        <p:nvSpPr>
          <p:cNvPr id="48" name="Text 37"/>
          <p:cNvSpPr/>
          <p:nvPr/>
        </p:nvSpPr>
        <p:spPr>
          <a:xfrm>
            <a:off x="6289617" y="4621312"/>
            <a:ext cx="2477926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Benefit claim journeys</a:t>
            </a:r>
            <a:endParaRPr lang="en-US" sz="650" dirty="0"/>
          </a:p>
        </p:txBody>
      </p:sp>
      <p:sp>
        <p:nvSpPr>
          <p:cNvPr id="49" name="Shape 38"/>
          <p:cNvSpPr/>
          <p:nvPr/>
        </p:nvSpPr>
        <p:spPr>
          <a:xfrm>
            <a:off x="8889678" y="4076105"/>
            <a:ext cx="2646892" cy="727373"/>
          </a:xfrm>
          <a:prstGeom prst="roundRect">
            <a:avLst>
              <a:gd name="adj" fmla="val 1742"/>
            </a:avLst>
          </a:prstGeom>
          <a:solidFill>
            <a:srgbClr val="F2EEEE"/>
          </a:solidFill>
          <a:ln/>
        </p:spPr>
      </p:sp>
      <p:sp>
        <p:nvSpPr>
          <p:cNvPr id="50" name="Shape 39"/>
          <p:cNvSpPr/>
          <p:nvPr/>
        </p:nvSpPr>
        <p:spPr>
          <a:xfrm>
            <a:off x="8974111" y="4160540"/>
            <a:ext cx="253398" cy="253405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043761" y="4230191"/>
            <a:ext cx="113999" cy="114002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8974111" y="4451648"/>
            <a:ext cx="2478026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SED</a:t>
            </a:r>
            <a:endParaRPr lang="en-US" sz="800" dirty="0"/>
          </a:p>
        </p:txBody>
      </p:sp>
      <p:sp>
        <p:nvSpPr>
          <p:cNvPr id="53" name="Text 41"/>
          <p:cNvSpPr/>
          <p:nvPr/>
        </p:nvSpPr>
        <p:spPr>
          <a:xfrm>
            <a:off x="8974111" y="4621312"/>
            <a:ext cx="2478026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Employer Deductions</a:t>
            </a:r>
            <a:endParaRPr lang="en-US" sz="650" dirty="0"/>
          </a:p>
        </p:txBody>
      </p:sp>
      <p:sp>
        <p:nvSpPr>
          <p:cNvPr id="54" name="Text 42"/>
          <p:cNvSpPr/>
          <p:nvPr/>
        </p:nvSpPr>
        <p:spPr>
          <a:xfrm>
            <a:off x="661475" y="4902498"/>
            <a:ext cx="10868745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Coverage by Type</a:t>
            </a:r>
            <a:endParaRPr lang="en-US" sz="800" dirty="0"/>
          </a:p>
        </p:txBody>
      </p:sp>
      <p:sp>
        <p:nvSpPr>
          <p:cNvPr id="55" name="Shape 43"/>
          <p:cNvSpPr/>
          <p:nvPr/>
        </p:nvSpPr>
        <p:spPr>
          <a:xfrm>
            <a:off x="661475" y="5091013"/>
            <a:ext cx="5415522" cy="446584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758608" y="5188148"/>
            <a:ext cx="5221256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Regression</a:t>
            </a:r>
            <a:endParaRPr lang="en-US" sz="800" dirty="0"/>
          </a:p>
        </p:txBody>
      </p:sp>
      <p:sp>
        <p:nvSpPr>
          <p:cNvPr id="57" name="Text 45"/>
          <p:cNvSpPr/>
          <p:nvPr/>
        </p:nvSpPr>
        <p:spPr>
          <a:xfrm>
            <a:off x="758608" y="5342731"/>
            <a:ext cx="5221256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suites run on every PR and merge, catching issues before staging.</a:t>
            </a:r>
            <a:endParaRPr lang="en-US" sz="650" dirty="0"/>
          </a:p>
        </p:txBody>
      </p:sp>
      <p:sp>
        <p:nvSpPr>
          <p:cNvPr id="58" name="Shape 46"/>
          <p:cNvSpPr/>
          <p:nvPr/>
        </p:nvSpPr>
        <p:spPr>
          <a:xfrm>
            <a:off x="6114699" y="5091013"/>
            <a:ext cx="5415522" cy="446584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59" name="Text 47"/>
          <p:cNvSpPr/>
          <p:nvPr/>
        </p:nvSpPr>
        <p:spPr>
          <a:xfrm>
            <a:off x="6211831" y="5188148"/>
            <a:ext cx="5221256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Security</a:t>
            </a:r>
            <a:endParaRPr lang="en-US" sz="800" dirty="0"/>
          </a:p>
        </p:txBody>
      </p:sp>
      <p:sp>
        <p:nvSpPr>
          <p:cNvPr id="60" name="Text 48"/>
          <p:cNvSpPr/>
          <p:nvPr/>
        </p:nvSpPr>
        <p:spPr>
          <a:xfrm>
            <a:off x="6211831" y="5342731"/>
            <a:ext cx="5221256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OWASP ZAP automatically scans for vulnerabilities on every build cycle.</a:t>
            </a:r>
            <a:endParaRPr lang="en-US" sz="650" dirty="0"/>
          </a:p>
        </p:txBody>
      </p:sp>
      <p:sp>
        <p:nvSpPr>
          <p:cNvPr id="61" name="Shape 49"/>
          <p:cNvSpPr/>
          <p:nvPr/>
        </p:nvSpPr>
        <p:spPr>
          <a:xfrm>
            <a:off x="661475" y="5575300"/>
            <a:ext cx="5415522" cy="446584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62" name="Text 50"/>
          <p:cNvSpPr/>
          <p:nvPr/>
        </p:nvSpPr>
        <p:spPr>
          <a:xfrm>
            <a:off x="758608" y="5672435"/>
            <a:ext cx="5221256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63" name="Text 51"/>
          <p:cNvSpPr/>
          <p:nvPr/>
        </p:nvSpPr>
        <p:spPr>
          <a:xfrm>
            <a:off x="758608" y="5827018"/>
            <a:ext cx="5221256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k6 load tests validate service performance with automated thresholds.</a:t>
            </a:r>
            <a:endParaRPr lang="en-US" sz="650" dirty="0"/>
          </a:p>
        </p:txBody>
      </p:sp>
      <p:sp>
        <p:nvSpPr>
          <p:cNvPr id="64" name="Shape 52"/>
          <p:cNvSpPr/>
          <p:nvPr/>
        </p:nvSpPr>
        <p:spPr>
          <a:xfrm>
            <a:off x="6114699" y="5575300"/>
            <a:ext cx="5415522" cy="446584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65" name="Text 53"/>
          <p:cNvSpPr/>
          <p:nvPr/>
        </p:nvSpPr>
        <p:spPr>
          <a:xfrm>
            <a:off x="6211831" y="5672435"/>
            <a:ext cx="5221256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Compatibility</a:t>
            </a:r>
            <a:endParaRPr lang="en-US" sz="800" dirty="0"/>
          </a:p>
        </p:txBody>
      </p:sp>
      <p:sp>
        <p:nvSpPr>
          <p:cNvPr id="66" name="Text 54"/>
          <p:cNvSpPr/>
          <p:nvPr/>
        </p:nvSpPr>
        <p:spPr>
          <a:xfrm>
            <a:off x="6211831" y="5827018"/>
            <a:ext cx="5221256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Playwright cross-browser runs across Chrome, Firefox, Safari &amp; Edge.</a:t>
            </a:r>
            <a:endParaRPr lang="en-US" sz="650" dirty="0"/>
          </a:p>
        </p:txBody>
      </p:sp>
      <p:sp>
        <p:nvSpPr>
          <p:cNvPr id="67" name="Shape 55"/>
          <p:cNvSpPr/>
          <p:nvPr/>
        </p:nvSpPr>
        <p:spPr>
          <a:xfrm>
            <a:off x="661475" y="6064349"/>
            <a:ext cx="10868745" cy="228302"/>
          </a:xfrm>
          <a:prstGeom prst="roundRect">
            <a:avLst>
              <a:gd name="adj" fmla="val 5550"/>
            </a:avLst>
          </a:prstGeom>
          <a:solidFill>
            <a:srgbClr val="B6FCB8"/>
          </a:solidFill>
          <a:ln/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5908" y="6169819"/>
            <a:ext cx="105566" cy="84435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935907" y="6123087"/>
            <a:ext cx="11119465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6 projects now ship with automated quality gates — reducing manual testing by </a:t>
            </a:r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80%+</a:t>
            </a:r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enabling continuous delivery confidence across the CMS Digital Channel.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591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Problem </a:t>
            </a:r>
            <a:pPr algn="l" indent="0" marL="0">
              <a:lnSpc>
                <a:spcPct val="104000"/>
              </a:lnSpc>
              <a:buNone/>
            </a:pPr>
            <a:r>
              <a:rPr lang="en-US" sz="2400" i="1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(Before Automation)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61475" y="1255117"/>
            <a:ext cx="876278" cy="186630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93" y="1299270"/>
            <a:ext cx="98224" cy="982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429" y="1291927"/>
            <a:ext cx="119129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PAIN POINTS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61475" y="1473597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Testing Challenges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55378"/>
            <a:ext cx="5842945" cy="7049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7803" y="1890911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2–3 Days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Full Regression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47803" y="2162671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Days of manual effort blocked every deployment window.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540099"/>
            <a:ext cx="5842945" cy="7049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7803" y="2675632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1–2 Days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Cross-Browser Checks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47803" y="2947392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compatibility checks with no automated coverage.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324820"/>
            <a:ext cx="5842945" cy="7049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7803" y="3460353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Zero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Security Scanning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47803" y="3732113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security scanning — vulnerabilities found too late.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109541"/>
            <a:ext cx="5842945" cy="70494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7803" y="4245074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Late Stage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Performance Feedback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847803" y="4516834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issues surfaced after costly rework was needed.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894263"/>
            <a:ext cx="5842945" cy="70494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47803" y="5029795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Email &amp; Meetings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Communication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847803" y="5301555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real-time feedback — results via email and meetings only.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6722001" y="1165324"/>
            <a:ext cx="4902871" cy="5031085"/>
          </a:xfrm>
          <a:prstGeom prst="roundRect">
            <a:avLst>
              <a:gd name="adj" fmla="val 376"/>
            </a:avLst>
          </a:prstGeom>
          <a:solidFill>
            <a:srgbClr val="DC2626"/>
          </a:solidFill>
          <a:ln/>
        </p:spPr>
      </p:sp>
      <p:sp>
        <p:nvSpPr>
          <p:cNvPr id="23" name="Shape 15"/>
          <p:cNvSpPr/>
          <p:nvPr/>
        </p:nvSpPr>
        <p:spPr>
          <a:xfrm>
            <a:off x="6844831" y="1255117"/>
            <a:ext cx="1123029" cy="186630"/>
          </a:xfrm>
          <a:prstGeom prst="roundRect">
            <a:avLst>
              <a:gd name="adj" fmla="val 7900"/>
            </a:avLst>
          </a:prstGeom>
          <a:solidFill>
            <a:srgbClr val="00104C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8450" y="1299270"/>
            <a:ext cx="98224" cy="9822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65786" y="1291927"/>
            <a:ext cx="1438041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IMPACT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6844831" y="1473597"/>
            <a:ext cx="465721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Cost of Manual Testing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7659794" y="1816795"/>
            <a:ext cx="3027188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5+</a:t>
            </a:r>
            <a:endParaRPr lang="en-US" sz="3150" dirty="0"/>
          </a:p>
        </p:txBody>
      </p:sp>
      <p:sp>
        <p:nvSpPr>
          <p:cNvPr id="28" name="Text 19"/>
          <p:cNvSpPr/>
          <p:nvPr/>
        </p:nvSpPr>
        <p:spPr>
          <a:xfrm>
            <a:off x="6844831" y="2343448"/>
            <a:ext cx="465721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Days Lost Per Release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844831" y="2615208"/>
            <a:ext cx="46572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Regression &amp; browser testing per cycle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7659794" y="2998391"/>
            <a:ext cx="3027188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10×</a:t>
            </a:r>
            <a:endParaRPr lang="en-US" sz="3150" dirty="0"/>
          </a:p>
        </p:txBody>
      </p:sp>
      <p:sp>
        <p:nvSpPr>
          <p:cNvPr id="31" name="Text 22"/>
          <p:cNvSpPr/>
          <p:nvPr/>
        </p:nvSpPr>
        <p:spPr>
          <a:xfrm>
            <a:off x="6844831" y="3525044"/>
            <a:ext cx="465721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Late Bug Fix Cost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6844831" y="3796804"/>
            <a:ext cx="46572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defects cost 10× more to fix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844831" y="4048720"/>
            <a:ext cx="2288721" cy="679549"/>
          </a:xfrm>
          <a:prstGeom prst="roundRect">
            <a:avLst>
              <a:gd name="adj" fmla="val 2712"/>
            </a:avLst>
          </a:prstGeom>
          <a:solidFill>
            <a:srgbClr val="F2EEEE"/>
          </a:solidFill>
          <a:ln/>
        </p:spPr>
      </p:sp>
      <p:sp>
        <p:nvSpPr>
          <p:cNvPr id="34" name="Text 25"/>
          <p:cNvSpPr/>
          <p:nvPr/>
        </p:nvSpPr>
        <p:spPr>
          <a:xfrm>
            <a:off x="6967661" y="4171553"/>
            <a:ext cx="20430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🚨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Delayed Releases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967661" y="4443313"/>
            <a:ext cx="20430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Testing bottlenecks every release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9213322" y="4048720"/>
            <a:ext cx="2288721" cy="679549"/>
          </a:xfrm>
          <a:prstGeom prst="roundRect">
            <a:avLst>
              <a:gd name="adj" fmla="val 2712"/>
            </a:avLst>
          </a:prstGeom>
          <a:solidFill>
            <a:srgbClr val="F2EEEE"/>
          </a:solidFill>
          <a:ln/>
        </p:spPr>
      </p:sp>
      <p:sp>
        <p:nvSpPr>
          <p:cNvPr id="37" name="Text 28"/>
          <p:cNvSpPr/>
          <p:nvPr/>
        </p:nvSpPr>
        <p:spPr>
          <a:xfrm>
            <a:off x="9336152" y="4171553"/>
            <a:ext cx="20430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🐛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Production Defects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9336152" y="4443313"/>
            <a:ext cx="20430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Bugs slipping through coverage gaps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844831" y="4808041"/>
            <a:ext cx="2288721" cy="679549"/>
          </a:xfrm>
          <a:prstGeom prst="roundRect">
            <a:avLst>
              <a:gd name="adj" fmla="val 2712"/>
            </a:avLst>
          </a:prstGeom>
          <a:solidFill>
            <a:srgbClr val="F2EEEE"/>
          </a:solidFill>
          <a:ln/>
        </p:spPr>
      </p:sp>
      <p:sp>
        <p:nvSpPr>
          <p:cNvPr id="40" name="Text 31"/>
          <p:cNvSpPr/>
          <p:nvPr/>
        </p:nvSpPr>
        <p:spPr>
          <a:xfrm>
            <a:off x="6967661" y="4930874"/>
            <a:ext cx="20430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Inconsistent Coverage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6967661" y="5202634"/>
            <a:ext cx="20430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standard process across projects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9213322" y="4808041"/>
            <a:ext cx="2288721" cy="679549"/>
          </a:xfrm>
          <a:prstGeom prst="roundRect">
            <a:avLst>
              <a:gd name="adj" fmla="val 2712"/>
            </a:avLst>
          </a:prstGeom>
          <a:solidFill>
            <a:srgbClr val="F2EEEE"/>
          </a:solidFill>
          <a:ln/>
        </p:spPr>
      </p:sp>
      <p:sp>
        <p:nvSpPr>
          <p:cNvPr id="43" name="Text 34"/>
          <p:cNvSpPr/>
          <p:nvPr/>
        </p:nvSpPr>
        <p:spPr>
          <a:xfrm>
            <a:off x="9336152" y="4930874"/>
            <a:ext cx="20430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😤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Developer Frustration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9336152" y="5202634"/>
            <a:ext cx="20430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timely feedback for engineers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6844831" y="5577384"/>
            <a:ext cx="4657212" cy="529233"/>
          </a:xfrm>
          <a:prstGeom prst="roundRect">
            <a:avLst>
              <a:gd name="adj" fmla="val 3482"/>
            </a:avLst>
          </a:prstGeom>
          <a:solidFill>
            <a:srgbClr val="450707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7661" y="5737622"/>
            <a:ext cx="153488" cy="122833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243978" y="5679877"/>
            <a:ext cx="413523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5+ days per sprint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consumed by manual testing — with no guarantee of consistent quality across all 6 projects.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268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Solution — Integrated CI/CD Pipeline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704975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fully automated pipeline triggered on every code push, progressing through five quality gates before delivering results to the team.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76959"/>
            <a:ext cx="2717137" cy="7182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0957" y="3065760"/>
            <a:ext cx="235817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Functional Tests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40957" y="3448546"/>
            <a:ext cx="235817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Playwright E2E &amp; API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612" y="2176959"/>
            <a:ext cx="2717236" cy="7182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58094" y="3065760"/>
            <a:ext cx="235827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Security Scan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3558094" y="3448546"/>
            <a:ext cx="235827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OWASP ZAP DAST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2176959"/>
            <a:ext cx="2717137" cy="7182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75330" y="3065760"/>
            <a:ext cx="235817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75330" y="3448546"/>
            <a:ext cx="235817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k6 load &amp; stress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984" y="2176959"/>
            <a:ext cx="2717236" cy="7182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2466" y="3065760"/>
            <a:ext cx="235827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Cross‑Browser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8992466" y="3448546"/>
            <a:ext cx="235827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BrowserStack runs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08127"/>
            <a:ext cx="2717137" cy="71824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0957" y="4796929"/>
            <a:ext cx="235817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Reporting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840957" y="5179715"/>
            <a:ext cx="235817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Allure &amp; Slack alerts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661475" y="5831185"/>
            <a:ext cx="11478330" cy="224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Push → Branch &amp; commit extracted → Test pipeline triggered → Results delivered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7244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Stack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582341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integrated ecosystem — from code push to insight delivery.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73659"/>
            <a:ext cx="3622882" cy="642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106" y="2752824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Playwright + TypeScript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2106" y="3085703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E2E UI &amp; API tests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973659"/>
            <a:ext cx="3622882" cy="642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44988" y="2752824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GitLab CI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444988" y="3085703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Pipeline orchestration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973659"/>
            <a:ext cx="3622882" cy="642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7870" y="2752824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Allure Reports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067870" y="3085703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Visual test reporting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61475" y="3791248"/>
            <a:ext cx="2550949" cy="946547"/>
          </a:xfrm>
          <a:prstGeom prst="roundRect">
            <a:avLst>
              <a:gd name="adj" fmla="val 2546"/>
            </a:avLst>
          </a:prstGeom>
          <a:solidFill>
            <a:srgbClr val="F2EEEE"/>
          </a:solidFill>
          <a:ln/>
        </p:spPr>
      </p:sp>
      <p:sp>
        <p:nvSpPr>
          <p:cNvPr id="14" name="Text 9"/>
          <p:cNvSpPr/>
          <p:nvPr/>
        </p:nvSpPr>
        <p:spPr>
          <a:xfrm>
            <a:off x="822106" y="3951883"/>
            <a:ext cx="222968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OWASP ZAP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22106" y="4339431"/>
            <a:ext cx="222968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gate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3348946" y="3791248"/>
            <a:ext cx="2550949" cy="946547"/>
          </a:xfrm>
          <a:prstGeom prst="roundRect">
            <a:avLst>
              <a:gd name="adj" fmla="val 2546"/>
            </a:avLst>
          </a:prstGeom>
          <a:solidFill>
            <a:srgbClr val="F2EEEE"/>
          </a:solidFill>
          <a:ln/>
        </p:spPr>
      </p:sp>
      <p:sp>
        <p:nvSpPr>
          <p:cNvPr id="17" name="Text 12"/>
          <p:cNvSpPr/>
          <p:nvPr/>
        </p:nvSpPr>
        <p:spPr>
          <a:xfrm>
            <a:off x="3509577" y="3951883"/>
            <a:ext cx="222968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k6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3509577" y="4339431"/>
            <a:ext cx="222968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gate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61475" y="4874320"/>
            <a:ext cx="5238421" cy="946547"/>
          </a:xfrm>
          <a:prstGeom prst="roundRect">
            <a:avLst>
              <a:gd name="adj" fmla="val 2546"/>
            </a:avLst>
          </a:prstGeom>
          <a:solidFill>
            <a:srgbClr val="F2EEEE"/>
          </a:solidFill>
          <a:ln/>
        </p:spPr>
      </p:sp>
      <p:sp>
        <p:nvSpPr>
          <p:cNvPr id="20" name="Text 15"/>
          <p:cNvSpPr/>
          <p:nvPr/>
        </p:nvSpPr>
        <p:spPr>
          <a:xfrm>
            <a:off x="822106" y="5034955"/>
            <a:ext cx="491715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BrowserStack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22106" y="5422503"/>
            <a:ext cx="491715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Compatibility gate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98149" y="3791248"/>
            <a:ext cx="2550949" cy="984647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77830" y="3970933"/>
            <a:ext cx="21915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📢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Slack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477830" y="4358481"/>
            <a:ext cx="219158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pass/fail alerts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8985621" y="3791248"/>
            <a:ext cx="2550949" cy="984647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165301" y="3970933"/>
            <a:ext cx="21915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Allure Portal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9165301" y="4358481"/>
            <a:ext cx="219158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Trends, screenshots &amp; traces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298149" y="4912420"/>
            <a:ext cx="5238421" cy="984647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77830" y="5092105"/>
            <a:ext cx="487905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📧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Email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6477830" y="5479653"/>
            <a:ext cx="487905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Failure summaries to inbox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781"/>
            <a:ext cx="10868745" cy="3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Story-Based Test Execution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943074"/>
            <a:ext cx="11478330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Developers stay in their natural workflow — smart tag extraction handles the rest automatically.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18989"/>
            <a:ext cx="3622882" cy="391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302" y="1561306"/>
            <a:ext cx="3427228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 Name Branch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59302" y="1744563"/>
            <a:ext cx="3427228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feature/AFCM-1234-fix-payment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118989"/>
            <a:ext cx="3622882" cy="3916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2184" y="1561306"/>
            <a:ext cx="3427228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2. Push Code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382184" y="1744563"/>
            <a:ext cx="3427228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GitLab CI triggers automatically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118989"/>
            <a:ext cx="3622882" cy="3916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05066" y="1561306"/>
            <a:ext cx="3427228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3. Tag Extracted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8005066" y="1744563"/>
            <a:ext cx="3427228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AFCM-1234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parsed from branch name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961257"/>
            <a:ext cx="3622882" cy="3916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9302" y="2403574"/>
            <a:ext cx="3427228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4. Tests Run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759302" y="2586831"/>
            <a:ext cx="3427228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Only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@AFCM-1234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tagged tests execute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1961257"/>
            <a:ext cx="3622882" cy="39161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82184" y="2403574"/>
            <a:ext cx="3427228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5. Check Slack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4382184" y="2586831"/>
            <a:ext cx="3427228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Pass/fail result in &lt; 5 min</a:t>
            </a:r>
            <a:endParaRPr lang="en-US" sz="750" dirty="0"/>
          </a:p>
        </p:txBody>
      </p:sp>
      <p:sp>
        <p:nvSpPr>
          <p:cNvPr id="19" name="Shape 12"/>
          <p:cNvSpPr/>
          <p:nvPr/>
        </p:nvSpPr>
        <p:spPr>
          <a:xfrm>
            <a:off x="661475" y="2860576"/>
            <a:ext cx="10868745" cy="268585"/>
          </a:xfrm>
          <a:prstGeom prst="roundRect">
            <a:avLst>
              <a:gd name="adj" fmla="val 5468"/>
            </a:avLst>
          </a:prstGeom>
          <a:solidFill>
            <a:srgbClr val="CCD7FF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302" y="2982813"/>
            <a:ext cx="122334" cy="9783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79463" y="2935684"/>
            <a:ext cx="1106251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Falls back to full regression automatically if no story tag is found in the branch name or commit message.</a:t>
            </a:r>
            <a:endParaRPr lang="en-US" sz="750" dirty="0"/>
          </a:p>
        </p:txBody>
      </p:sp>
      <p:sp>
        <p:nvSpPr>
          <p:cNvPr id="22" name="Text 14"/>
          <p:cNvSpPr/>
          <p:nvPr/>
        </p:nvSpPr>
        <p:spPr>
          <a:xfrm>
            <a:off x="661475" y="3236913"/>
            <a:ext cx="531501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Manual Trigger Options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661475" y="3446859"/>
            <a:ext cx="2632108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772002" y="3557389"/>
            <a:ext cx="241105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772002" y="3760986"/>
            <a:ext cx="241105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Select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or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staging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3344283" y="3446859"/>
            <a:ext cx="2632208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3454810" y="3557389"/>
            <a:ext cx="2411154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Tags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3454810" y="3760986"/>
            <a:ext cx="2411154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Run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@smoke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@regression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or a specific story ID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661475" y="4041080"/>
            <a:ext cx="5315015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72002" y="4151610"/>
            <a:ext cx="509396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Quality Gates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772002" y="4355207"/>
            <a:ext cx="509396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Toggle OWASP ZAP, k6 load tests, and BrowserStack on/off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6221555" y="3236913"/>
            <a:ext cx="531501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Smart Tag Extraction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221555" y="3446859"/>
            <a:ext cx="2632108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332081" y="3557389"/>
            <a:ext cx="241105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Branch Name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6332081" y="3760986"/>
            <a:ext cx="241105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feature/AFCM-1234-…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AFCM-1234</a:t>
            </a:r>
            <a:endParaRPr lang="en-US" sz="750" dirty="0"/>
          </a:p>
        </p:txBody>
      </p:sp>
      <p:sp>
        <p:nvSpPr>
          <p:cNvPr id="36" name="Shape 28"/>
          <p:cNvSpPr/>
          <p:nvPr/>
        </p:nvSpPr>
        <p:spPr>
          <a:xfrm>
            <a:off x="8904362" y="3446859"/>
            <a:ext cx="2632208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9014889" y="3557389"/>
            <a:ext cx="2411154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Commit Message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9014889" y="3760986"/>
            <a:ext cx="2411154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[AFCM-1234] fix…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AFCM-1234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6221555" y="4041080"/>
            <a:ext cx="5315015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332081" y="4151610"/>
            <a:ext cx="509396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 Match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6332081" y="4355207"/>
            <a:ext cx="509396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regression suite runs as fallback</a:t>
            </a:r>
            <a:endParaRPr lang="en-US" sz="750" dirty="0"/>
          </a:p>
        </p:txBody>
      </p:sp>
      <p:sp>
        <p:nvSpPr>
          <p:cNvPr id="42" name="Text 34"/>
          <p:cNvSpPr/>
          <p:nvPr/>
        </p:nvSpPr>
        <p:spPr>
          <a:xfrm>
            <a:off x="1606907" y="4747617"/>
            <a:ext cx="3511760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90%</a:t>
            </a:r>
            <a:endParaRPr lang="en-US" sz="2500" dirty="0"/>
          </a:p>
        </p:txBody>
      </p:sp>
      <p:sp>
        <p:nvSpPr>
          <p:cNvPr id="43" name="Text 35"/>
          <p:cNvSpPr/>
          <p:nvPr/>
        </p:nvSpPr>
        <p:spPr>
          <a:xfrm>
            <a:off x="661475" y="5157589"/>
            <a:ext cx="54027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Faster Feedback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661475" y="5340846"/>
            <a:ext cx="540272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vs full regression run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7072929" y="4747617"/>
            <a:ext cx="3511760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&lt;5m</a:t>
            </a:r>
            <a:endParaRPr lang="en-US" sz="2500" dirty="0"/>
          </a:p>
        </p:txBody>
      </p:sp>
      <p:sp>
        <p:nvSpPr>
          <p:cNvPr id="46" name="Text 38"/>
          <p:cNvSpPr/>
          <p:nvPr/>
        </p:nvSpPr>
        <p:spPr>
          <a:xfrm>
            <a:off x="6127497" y="5157589"/>
            <a:ext cx="54027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Targeted Result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6127497" y="5340846"/>
            <a:ext cx="540272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 story-tagged execution</a:t>
            </a:r>
            <a:endParaRPr lang="en-US" sz="750" dirty="0"/>
          </a:p>
        </p:txBody>
      </p:sp>
      <p:sp>
        <p:nvSpPr>
          <p:cNvPr id="48" name="Text 40"/>
          <p:cNvSpPr/>
          <p:nvPr/>
        </p:nvSpPr>
        <p:spPr>
          <a:xfrm>
            <a:off x="4339918" y="5610027"/>
            <a:ext cx="3511760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</a:t>
            </a:r>
            <a:endParaRPr lang="en-US" sz="2500" dirty="0"/>
          </a:p>
        </p:txBody>
      </p:sp>
      <p:sp>
        <p:nvSpPr>
          <p:cNvPr id="49" name="Text 41"/>
          <p:cNvSpPr/>
          <p:nvPr/>
        </p:nvSpPr>
        <p:spPr>
          <a:xfrm>
            <a:off x="3394486" y="6019998"/>
            <a:ext cx="54027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Extra Steps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3394486" y="6203255"/>
            <a:ext cx="540272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just name the branch correctly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8559"/>
            <a:ext cx="1093562" cy="160338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775" y="576461"/>
            <a:ext cx="84433" cy="844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1375" y="570210"/>
            <a:ext cx="1449947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SHIFT-LEFT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475" y="722412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ZAP Integration — Security at Every Commit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61475" y="1199654"/>
            <a:ext cx="5861896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Scanning Flow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475" y="1430834"/>
            <a:ext cx="211132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61475" y="1597521"/>
            <a:ext cx="2901481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6"/>
          <p:cNvSpPr/>
          <p:nvPr/>
        </p:nvSpPr>
        <p:spPr>
          <a:xfrm>
            <a:off x="661475" y="1675705"/>
            <a:ext cx="29014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Browser Proxy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1475" y="1899543"/>
            <a:ext cx="290148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Playwright routes traffic through ZAP proxy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21890" y="1430834"/>
            <a:ext cx="211132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621890" y="1597521"/>
            <a:ext cx="2901481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10"/>
          <p:cNvSpPr/>
          <p:nvPr/>
        </p:nvSpPr>
        <p:spPr>
          <a:xfrm>
            <a:off x="3621890" y="1675705"/>
            <a:ext cx="29014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Active Scan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21890" y="1899543"/>
            <a:ext cx="290148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ZAP crawls URLs and detects vulnerabilities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61475" y="2169220"/>
            <a:ext cx="211132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61475" y="2335907"/>
            <a:ext cx="2901481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2414091"/>
            <a:ext cx="29014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 Triage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1475" y="2637929"/>
            <a:ext cx="290148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Findings ranked: </a:t>
            </a:r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High / Medium / Low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621890" y="2169220"/>
            <a:ext cx="211132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21890" y="2335907"/>
            <a:ext cx="2901481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1" name="Text 18"/>
          <p:cNvSpPr/>
          <p:nvPr/>
        </p:nvSpPr>
        <p:spPr>
          <a:xfrm>
            <a:off x="3621890" y="2414091"/>
            <a:ext cx="29014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Instant Alert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21890" y="2637929"/>
            <a:ext cx="290148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Slack notification + HTML report artifact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87286" y="1199654"/>
            <a:ext cx="4749185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Vulnerabilities Detected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787286" y="1430834"/>
            <a:ext cx="2345076" cy="382389"/>
          </a:xfrm>
          <a:prstGeom prst="roundRect">
            <a:avLst>
              <a:gd name="adj" fmla="val 4142"/>
            </a:avLst>
          </a:prstGeom>
          <a:solidFill>
            <a:srgbClr val="F2EEEE"/>
          </a:solidFill>
          <a:ln/>
        </p:spPr>
      </p:sp>
      <p:sp>
        <p:nvSpPr>
          <p:cNvPr id="25" name="Text 22"/>
          <p:cNvSpPr/>
          <p:nvPr/>
        </p:nvSpPr>
        <p:spPr>
          <a:xfrm>
            <a:off x="6892852" y="1536402"/>
            <a:ext cx="2133943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💉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SQL Injection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191296" y="1430834"/>
            <a:ext cx="2345175" cy="382389"/>
          </a:xfrm>
          <a:prstGeom prst="roundRect">
            <a:avLst>
              <a:gd name="adj" fmla="val 4142"/>
            </a:avLst>
          </a:prstGeom>
          <a:solidFill>
            <a:srgbClr val="F2EEEE"/>
          </a:solidFill>
          <a:ln/>
        </p:spPr>
      </p:sp>
      <p:sp>
        <p:nvSpPr>
          <p:cNvPr id="27" name="Text 24"/>
          <p:cNvSpPr/>
          <p:nvPr/>
        </p:nvSpPr>
        <p:spPr>
          <a:xfrm>
            <a:off x="9296862" y="1536402"/>
            <a:ext cx="2134043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XSS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787286" y="1872159"/>
            <a:ext cx="2345076" cy="382389"/>
          </a:xfrm>
          <a:prstGeom prst="roundRect">
            <a:avLst>
              <a:gd name="adj" fmla="val 4142"/>
            </a:avLst>
          </a:prstGeom>
          <a:solidFill>
            <a:srgbClr val="F2EEEE"/>
          </a:solidFill>
          <a:ln/>
        </p:spPr>
      </p:sp>
      <p:sp>
        <p:nvSpPr>
          <p:cNvPr id="29" name="Text 26"/>
          <p:cNvSpPr/>
          <p:nvPr/>
        </p:nvSpPr>
        <p:spPr>
          <a:xfrm>
            <a:off x="6892852" y="1977727"/>
            <a:ext cx="2133943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Misconfigurations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191296" y="1872159"/>
            <a:ext cx="2345175" cy="382389"/>
          </a:xfrm>
          <a:prstGeom prst="roundRect">
            <a:avLst>
              <a:gd name="adj" fmla="val 4142"/>
            </a:avLst>
          </a:prstGeom>
          <a:solidFill>
            <a:srgbClr val="F2EEEE"/>
          </a:solidFill>
          <a:ln/>
        </p:spPr>
      </p:sp>
      <p:sp>
        <p:nvSpPr>
          <p:cNvPr id="31" name="Text 28"/>
          <p:cNvSpPr/>
          <p:nvPr/>
        </p:nvSpPr>
        <p:spPr>
          <a:xfrm>
            <a:off x="9296862" y="1977727"/>
            <a:ext cx="2134043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Missing Headers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787286" y="2320826"/>
            <a:ext cx="4749185" cy="290512"/>
          </a:xfrm>
          <a:prstGeom prst="roundRect">
            <a:avLst>
              <a:gd name="adj" fmla="val 5452"/>
            </a:avLst>
          </a:prstGeom>
          <a:solidFill>
            <a:srgbClr val="B6FCB8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852" y="2455664"/>
            <a:ext cx="131958" cy="105569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130376" y="2400300"/>
            <a:ext cx="491011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Security issues caught at dev time — not in production.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196354" y="2730401"/>
            <a:ext cx="1519497" cy="34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</a:t>
            </a:r>
            <a:endParaRPr lang="en-US" sz="2700" dirty="0"/>
          </a:p>
        </p:txBody>
      </p:sp>
      <p:sp>
        <p:nvSpPr>
          <p:cNvPr id="36" name="Text 32"/>
          <p:cNvSpPr/>
          <p:nvPr/>
        </p:nvSpPr>
        <p:spPr>
          <a:xfrm>
            <a:off x="6787286" y="3175794"/>
            <a:ext cx="233773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 Escapes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9607806" y="2730401"/>
            <a:ext cx="1519497" cy="34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100%</a:t>
            </a:r>
            <a:endParaRPr lang="en-US" sz="2700" dirty="0"/>
          </a:p>
        </p:txBody>
      </p:sp>
      <p:sp>
        <p:nvSpPr>
          <p:cNvPr id="38" name="Text 34"/>
          <p:cNvSpPr/>
          <p:nvPr/>
        </p:nvSpPr>
        <p:spPr>
          <a:xfrm>
            <a:off x="9198737" y="3175794"/>
            <a:ext cx="233773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CI Coverage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61475" y="3499644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40" name="Text 36"/>
          <p:cNvSpPr/>
          <p:nvPr/>
        </p:nvSpPr>
        <p:spPr>
          <a:xfrm>
            <a:off x="661475" y="3627140"/>
            <a:ext cx="1086874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🚦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Mandatory Quality Gates</a:t>
            </a:r>
            <a:endParaRPr lang="en-US" sz="100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953073"/>
            <a:ext cx="2623278" cy="729853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830539" y="4071342"/>
            <a:ext cx="2335948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Functional Tests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830539" y="4301530"/>
            <a:ext cx="2335948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Story-tagged tests must pass before merge</a:t>
            </a:r>
            <a:endParaRPr lang="en-US" sz="8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43687" y="3953073"/>
            <a:ext cx="2623377" cy="729853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3512752" y="4071342"/>
            <a:ext cx="2336047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Security Gate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3512752" y="4301530"/>
            <a:ext cx="2336047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Zero high-severity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findings — any High blocks merge</a:t>
            </a:r>
            <a:endParaRPr lang="en-US" sz="8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741863"/>
            <a:ext cx="2623278" cy="598289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830539" y="4860131"/>
            <a:ext cx="2335948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Performance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830539" y="5090319"/>
            <a:ext cx="2335948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Response times within defined SLA bounds</a:t>
            </a:r>
            <a:endParaRPr lang="en-US" sz="800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43687" y="4741863"/>
            <a:ext cx="2623377" cy="598289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3512752" y="4860131"/>
            <a:ext cx="2336047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Cross-Browser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3512752" y="5090319"/>
            <a:ext cx="233604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Chrome, Firefox, and Safari verified</a:t>
            </a:r>
            <a:endParaRPr lang="en-US" sz="800" dirty="0"/>
          </a:p>
        </p:txBody>
      </p:sp>
      <p:sp>
        <p:nvSpPr>
          <p:cNvPr id="53" name="Shape 45"/>
          <p:cNvSpPr/>
          <p:nvPr/>
        </p:nvSpPr>
        <p:spPr>
          <a:xfrm>
            <a:off x="6230980" y="3953073"/>
            <a:ext cx="2623278" cy="942181"/>
          </a:xfrm>
          <a:prstGeom prst="roundRect">
            <a:avLst>
              <a:gd name="adj" fmla="val 1681"/>
            </a:avLst>
          </a:prstGeom>
          <a:solidFill>
            <a:srgbClr val="F2EEEE"/>
          </a:solidFill>
          <a:ln/>
        </p:spPr>
      </p:sp>
      <p:sp>
        <p:nvSpPr>
          <p:cNvPr id="54" name="Shape 46"/>
          <p:cNvSpPr/>
          <p:nvPr/>
        </p:nvSpPr>
        <p:spPr>
          <a:xfrm>
            <a:off x="6336546" y="4058642"/>
            <a:ext cx="316698" cy="316706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23658" y="4145657"/>
            <a:ext cx="142475" cy="142478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6336546" y="4434284"/>
            <a:ext cx="2412146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Merge Blocked</a:t>
            </a:r>
            <a:endParaRPr lang="en-US" sz="1000" dirty="0"/>
          </a:p>
        </p:txBody>
      </p:sp>
      <p:sp>
        <p:nvSpPr>
          <p:cNvPr id="57" name="Text 48"/>
          <p:cNvSpPr/>
          <p:nvPr/>
        </p:nvSpPr>
        <p:spPr>
          <a:xfrm>
            <a:off x="6336546" y="4658122"/>
            <a:ext cx="241214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 held until all gates pass</a:t>
            </a:r>
            <a:endParaRPr lang="en-US" sz="800" dirty="0"/>
          </a:p>
        </p:txBody>
      </p:sp>
      <p:sp>
        <p:nvSpPr>
          <p:cNvPr id="58" name="Shape 49"/>
          <p:cNvSpPr/>
          <p:nvPr/>
        </p:nvSpPr>
        <p:spPr>
          <a:xfrm>
            <a:off x="8913193" y="3953073"/>
            <a:ext cx="2623377" cy="942181"/>
          </a:xfrm>
          <a:prstGeom prst="roundRect">
            <a:avLst>
              <a:gd name="adj" fmla="val 1681"/>
            </a:avLst>
          </a:prstGeom>
          <a:solidFill>
            <a:srgbClr val="F2EEEE"/>
          </a:solidFill>
          <a:ln/>
        </p:spPr>
      </p:sp>
      <p:sp>
        <p:nvSpPr>
          <p:cNvPr id="59" name="Shape 50"/>
          <p:cNvSpPr/>
          <p:nvPr/>
        </p:nvSpPr>
        <p:spPr>
          <a:xfrm>
            <a:off x="9018759" y="4058642"/>
            <a:ext cx="316698" cy="316706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05871" y="4145657"/>
            <a:ext cx="142475" cy="142478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9018759" y="4434284"/>
            <a:ext cx="2412245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Slack Alert</a:t>
            </a:r>
            <a:endParaRPr lang="en-US" sz="1000" dirty="0"/>
          </a:p>
        </p:txBody>
      </p:sp>
      <p:sp>
        <p:nvSpPr>
          <p:cNvPr id="62" name="Text 52"/>
          <p:cNvSpPr/>
          <p:nvPr/>
        </p:nvSpPr>
        <p:spPr>
          <a:xfrm>
            <a:off x="9018759" y="4658122"/>
            <a:ext cx="241224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Gate name, severity, and branch sent</a:t>
            </a:r>
            <a:endParaRPr lang="en-US" sz="800" dirty="0"/>
          </a:p>
        </p:txBody>
      </p:sp>
      <p:sp>
        <p:nvSpPr>
          <p:cNvPr id="63" name="Shape 53"/>
          <p:cNvSpPr/>
          <p:nvPr/>
        </p:nvSpPr>
        <p:spPr>
          <a:xfrm>
            <a:off x="6230980" y="4954191"/>
            <a:ext cx="5305590" cy="942181"/>
          </a:xfrm>
          <a:prstGeom prst="roundRect">
            <a:avLst>
              <a:gd name="adj" fmla="val 1681"/>
            </a:avLst>
          </a:prstGeom>
          <a:solidFill>
            <a:srgbClr val="F2EEEE"/>
          </a:solidFill>
          <a:ln/>
        </p:spPr>
      </p:sp>
      <p:sp>
        <p:nvSpPr>
          <p:cNvPr id="64" name="Shape 54"/>
          <p:cNvSpPr/>
          <p:nvPr/>
        </p:nvSpPr>
        <p:spPr>
          <a:xfrm>
            <a:off x="6336546" y="5059759"/>
            <a:ext cx="316698" cy="316706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65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23658" y="5146774"/>
            <a:ext cx="142475" cy="142478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6336546" y="5435402"/>
            <a:ext cx="5094458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Allure Report</a:t>
            </a:r>
            <a:endParaRPr lang="en-US" sz="1000" dirty="0"/>
          </a:p>
        </p:txBody>
      </p:sp>
      <p:sp>
        <p:nvSpPr>
          <p:cNvPr id="67" name="Text 56"/>
          <p:cNvSpPr/>
          <p:nvPr/>
        </p:nvSpPr>
        <p:spPr>
          <a:xfrm>
            <a:off x="6336546" y="5659239"/>
            <a:ext cx="5094458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evidence as pipeline artifact</a:t>
            </a:r>
            <a:endParaRPr lang="en-US" sz="800" dirty="0"/>
          </a:p>
        </p:txBody>
      </p:sp>
      <p:sp>
        <p:nvSpPr>
          <p:cNvPr id="68" name="Shape 57"/>
          <p:cNvSpPr/>
          <p:nvPr/>
        </p:nvSpPr>
        <p:spPr>
          <a:xfrm>
            <a:off x="6230980" y="5962650"/>
            <a:ext cx="5305590" cy="290512"/>
          </a:xfrm>
          <a:prstGeom prst="roundRect">
            <a:avLst>
              <a:gd name="adj" fmla="val 5452"/>
            </a:avLst>
          </a:prstGeom>
          <a:solidFill>
            <a:srgbClr val="FFB3B4"/>
          </a:solidFill>
          <a:ln/>
        </p:spPr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36546" y="6097488"/>
            <a:ext cx="131958" cy="105569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6574070" y="6042124"/>
            <a:ext cx="546651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High-severity = automatic merge block.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795417" cy="93166"/>
          </a:xfrm>
          <a:prstGeom prst="roundRect">
            <a:avLst>
              <a:gd name="adj" fmla="val 7912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284" y="541834"/>
            <a:ext cx="49112" cy="491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1903" y="538163"/>
            <a:ext cx="1257765" cy="56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DASHBOARD</a:t>
            </a:r>
            <a:endParaRPr lang="en-US" sz="350" dirty="0"/>
          </a:p>
        </p:txBody>
      </p:sp>
      <p:sp>
        <p:nvSpPr>
          <p:cNvPr id="5" name="Text 2"/>
          <p:cNvSpPr/>
          <p:nvPr/>
        </p:nvSpPr>
        <p:spPr>
          <a:xfrm>
            <a:off x="661475" y="620911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 Testing with k6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33744" y="873423"/>
            <a:ext cx="175394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2500ms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1475" y="1121668"/>
            <a:ext cx="2698484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LCP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61475" y="1229519"/>
            <a:ext cx="2698484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Largest Contentful Paint</a:t>
            </a:r>
            <a:endParaRPr lang="en-US" sz="450" dirty="0"/>
          </a:p>
        </p:txBody>
      </p:sp>
      <p:sp>
        <p:nvSpPr>
          <p:cNvPr id="9" name="Text 6"/>
          <p:cNvSpPr/>
          <p:nvPr/>
        </p:nvSpPr>
        <p:spPr>
          <a:xfrm>
            <a:off x="3857132" y="873423"/>
            <a:ext cx="175394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1800ms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384862" y="1121668"/>
            <a:ext cx="2698484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FCP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384862" y="1229519"/>
            <a:ext cx="2698484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First Contentful Paint</a:t>
            </a:r>
            <a:endParaRPr lang="en-US" sz="450" dirty="0"/>
          </a:p>
        </p:txBody>
      </p:sp>
      <p:sp>
        <p:nvSpPr>
          <p:cNvPr id="12" name="Text 9"/>
          <p:cNvSpPr/>
          <p:nvPr/>
        </p:nvSpPr>
        <p:spPr>
          <a:xfrm>
            <a:off x="6580519" y="873423"/>
            <a:ext cx="175394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0.1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108250" y="1121668"/>
            <a:ext cx="2698484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108250" y="1229519"/>
            <a:ext cx="2698484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Cumulative Layout Shift</a:t>
            </a:r>
            <a:endParaRPr lang="en-US" sz="450" dirty="0"/>
          </a:p>
        </p:txBody>
      </p:sp>
      <p:sp>
        <p:nvSpPr>
          <p:cNvPr id="15" name="Text 12"/>
          <p:cNvSpPr/>
          <p:nvPr/>
        </p:nvSpPr>
        <p:spPr>
          <a:xfrm>
            <a:off x="9303906" y="873423"/>
            <a:ext cx="1754044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p95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831637" y="1121668"/>
            <a:ext cx="2698583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API Latency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8831637" y="1229519"/>
            <a:ext cx="2698583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Response percentile</a:t>
            </a:r>
            <a:endParaRPr lang="en-US" sz="450" dirty="0"/>
          </a:p>
        </p:txBody>
      </p:sp>
      <p:sp>
        <p:nvSpPr>
          <p:cNvPr id="18" name="Text 15"/>
          <p:cNvSpPr/>
          <p:nvPr/>
        </p:nvSpPr>
        <p:spPr>
          <a:xfrm>
            <a:off x="661475" y="1336973"/>
            <a:ext cx="5359464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Web Vitals Targets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661475" y="1485999"/>
            <a:ext cx="1557695" cy="76696"/>
          </a:xfrm>
          <a:prstGeom prst="roundRect">
            <a:avLst>
              <a:gd name="adj" fmla="val 12014"/>
            </a:avLst>
          </a:prstGeom>
          <a:solidFill>
            <a:srgbClr val="F2EEE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1475" y="1485999"/>
            <a:ext cx="1168272" cy="76696"/>
          </a:xfrm>
          <a:prstGeom prst="roundRect">
            <a:avLst>
              <a:gd name="adj" fmla="val 12014"/>
            </a:avLst>
          </a:prstGeom>
          <a:solidFill>
            <a:srgbClr val="2150FE"/>
          </a:solidFill>
          <a:ln/>
        </p:spPr>
      </p:sp>
      <p:sp>
        <p:nvSpPr>
          <p:cNvPr id="21" name="Text 18"/>
          <p:cNvSpPr/>
          <p:nvPr/>
        </p:nvSpPr>
        <p:spPr>
          <a:xfrm>
            <a:off x="2265207" y="1485900"/>
            <a:ext cx="129874" cy="76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75%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61475" y="1608237"/>
            <a:ext cx="2667231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LCP &lt; 2500ms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3353609" y="1485999"/>
            <a:ext cx="1550453" cy="76696"/>
          </a:xfrm>
          <a:prstGeom prst="roundRect">
            <a:avLst>
              <a:gd name="adj" fmla="val 12014"/>
            </a:avLst>
          </a:prstGeom>
          <a:solidFill>
            <a:srgbClr val="F2EEEE"/>
          </a:solidFill>
          <a:ln/>
        </p:spPr>
      </p:sp>
      <p:sp>
        <p:nvSpPr>
          <p:cNvPr id="24" name="Shape 21"/>
          <p:cNvSpPr/>
          <p:nvPr/>
        </p:nvSpPr>
        <p:spPr>
          <a:xfrm>
            <a:off x="3353609" y="1485999"/>
            <a:ext cx="1317790" cy="76696"/>
          </a:xfrm>
          <a:prstGeom prst="roundRect">
            <a:avLst>
              <a:gd name="adj" fmla="val 12014"/>
            </a:avLst>
          </a:prstGeom>
          <a:solidFill>
            <a:srgbClr val="2150FE"/>
          </a:solidFill>
          <a:ln/>
        </p:spPr>
      </p:sp>
      <p:sp>
        <p:nvSpPr>
          <p:cNvPr id="25" name="Text 22"/>
          <p:cNvSpPr/>
          <p:nvPr/>
        </p:nvSpPr>
        <p:spPr>
          <a:xfrm>
            <a:off x="4950098" y="1485900"/>
            <a:ext cx="137216" cy="76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85%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3353609" y="1608237"/>
            <a:ext cx="2667330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FCP &lt; 1800ms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661475" y="1774726"/>
            <a:ext cx="1543011" cy="76696"/>
          </a:xfrm>
          <a:prstGeom prst="roundRect">
            <a:avLst>
              <a:gd name="adj" fmla="val 12014"/>
            </a:avLst>
          </a:prstGeom>
          <a:solidFill>
            <a:srgbClr val="F2EEEE"/>
          </a:solidFill>
          <a:ln/>
        </p:spPr>
      </p:sp>
      <p:sp>
        <p:nvSpPr>
          <p:cNvPr id="28" name="Shape 25"/>
          <p:cNvSpPr/>
          <p:nvPr/>
        </p:nvSpPr>
        <p:spPr>
          <a:xfrm>
            <a:off x="661475" y="1774726"/>
            <a:ext cx="1388631" cy="76696"/>
          </a:xfrm>
          <a:prstGeom prst="roundRect">
            <a:avLst>
              <a:gd name="adj" fmla="val 12014"/>
            </a:avLst>
          </a:prstGeom>
          <a:solidFill>
            <a:srgbClr val="2150FE"/>
          </a:solidFill>
          <a:ln/>
        </p:spPr>
      </p:sp>
      <p:sp>
        <p:nvSpPr>
          <p:cNvPr id="29" name="Text 26"/>
          <p:cNvSpPr/>
          <p:nvPr/>
        </p:nvSpPr>
        <p:spPr>
          <a:xfrm>
            <a:off x="2250523" y="1774627"/>
            <a:ext cx="144558" cy="76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90%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661475" y="1896963"/>
            <a:ext cx="2667231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CLS &lt; 0.1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3353609" y="1774726"/>
            <a:ext cx="1540432" cy="76696"/>
          </a:xfrm>
          <a:prstGeom prst="roundRect">
            <a:avLst>
              <a:gd name="adj" fmla="val 12014"/>
            </a:avLst>
          </a:prstGeom>
          <a:solidFill>
            <a:srgbClr val="F2EEEE"/>
          </a:solidFill>
          <a:ln/>
        </p:spPr>
      </p:sp>
      <p:sp>
        <p:nvSpPr>
          <p:cNvPr id="32" name="Shape 29"/>
          <p:cNvSpPr/>
          <p:nvPr/>
        </p:nvSpPr>
        <p:spPr>
          <a:xfrm>
            <a:off x="3353609" y="1774726"/>
            <a:ext cx="1232266" cy="76696"/>
          </a:xfrm>
          <a:prstGeom prst="roundRect">
            <a:avLst>
              <a:gd name="adj" fmla="val 12014"/>
            </a:avLst>
          </a:prstGeom>
          <a:solidFill>
            <a:srgbClr val="2150FE"/>
          </a:solidFill>
          <a:ln/>
        </p:spPr>
      </p:sp>
      <p:sp>
        <p:nvSpPr>
          <p:cNvPr id="33" name="Text 30"/>
          <p:cNvSpPr/>
          <p:nvPr/>
        </p:nvSpPr>
        <p:spPr>
          <a:xfrm>
            <a:off x="4940077" y="1774627"/>
            <a:ext cx="147237" cy="76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3353609" y="1896963"/>
            <a:ext cx="2667330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TTFB &lt; 800ms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6177106" y="1336973"/>
            <a:ext cx="5359464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API Load Test Metrics</a:t>
            </a:r>
            <a:endParaRPr lang="en-US" sz="6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6" y="1455341"/>
            <a:ext cx="3483582" cy="2507555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661475" y="4007743"/>
            <a:ext cx="10868745" cy="166390"/>
          </a:xfrm>
          <a:prstGeom prst="roundRect">
            <a:avLst>
              <a:gd name="adj" fmla="val 5538"/>
            </a:avLst>
          </a:prstGeom>
          <a:solidFill>
            <a:srgbClr val="B6FCB8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90" y="4084439"/>
            <a:ext cx="76694" cy="6141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60999" y="4044752"/>
            <a:ext cx="11217391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Pipeline Gate: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Builds fail automatically if any Web Vital or API threshold is breached.</a:t>
            </a:r>
            <a:endParaRPr lang="en-US" sz="450" dirty="0"/>
          </a:p>
        </p:txBody>
      </p:sp>
      <p:sp>
        <p:nvSpPr>
          <p:cNvPr id="40" name="Shape 35"/>
          <p:cNvSpPr/>
          <p:nvPr/>
        </p:nvSpPr>
        <p:spPr>
          <a:xfrm>
            <a:off x="661475" y="4211836"/>
            <a:ext cx="10868745" cy="63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661475" y="4265116"/>
            <a:ext cx="10868745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Metrics &amp; KPIs</a:t>
            </a:r>
            <a:endParaRPr lang="en-US" sz="95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446687"/>
            <a:ext cx="7064595" cy="3957737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661475" y="8426847"/>
            <a:ext cx="2702155" cy="295771"/>
          </a:xfrm>
          <a:prstGeom prst="roundRect">
            <a:avLst>
              <a:gd name="adj" fmla="val 3115"/>
            </a:avLst>
          </a:prstGeom>
          <a:solidFill>
            <a:srgbClr val="F2EEEE"/>
          </a:solidFill>
          <a:ln/>
        </p:spPr>
      </p:sp>
      <p:sp>
        <p:nvSpPr>
          <p:cNvPr id="44" name="Text 38"/>
          <p:cNvSpPr/>
          <p:nvPr/>
        </p:nvSpPr>
        <p:spPr>
          <a:xfrm>
            <a:off x="722890" y="8490049"/>
            <a:ext cx="2579325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Exec Time</a:t>
            </a:r>
            <a:endParaRPr lang="en-US" sz="600" dirty="0"/>
          </a:p>
        </p:txBody>
      </p:sp>
      <p:sp>
        <p:nvSpPr>
          <p:cNvPr id="45" name="Text 39"/>
          <p:cNvSpPr/>
          <p:nvPr/>
        </p:nvSpPr>
        <p:spPr>
          <a:xfrm>
            <a:off x="722890" y="8597900"/>
            <a:ext cx="2579325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8.5 min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 15 min 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450" dirty="0"/>
          </a:p>
        </p:txBody>
      </p:sp>
      <p:sp>
        <p:nvSpPr>
          <p:cNvPr id="46" name="Shape 40"/>
          <p:cNvSpPr/>
          <p:nvPr/>
        </p:nvSpPr>
        <p:spPr>
          <a:xfrm>
            <a:off x="3383572" y="8426847"/>
            <a:ext cx="2702254" cy="295771"/>
          </a:xfrm>
          <a:prstGeom prst="roundRect">
            <a:avLst>
              <a:gd name="adj" fmla="val 3115"/>
            </a:avLst>
          </a:prstGeom>
          <a:solidFill>
            <a:srgbClr val="F2EEEE"/>
          </a:solidFill>
          <a:ln/>
        </p:spPr>
      </p:sp>
      <p:sp>
        <p:nvSpPr>
          <p:cNvPr id="47" name="Text 41"/>
          <p:cNvSpPr/>
          <p:nvPr/>
        </p:nvSpPr>
        <p:spPr>
          <a:xfrm>
            <a:off x="3444987" y="8490049"/>
            <a:ext cx="2579425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Pass Rate</a:t>
            </a:r>
            <a:endParaRPr lang="en-US" sz="600" dirty="0"/>
          </a:p>
        </p:txBody>
      </p:sp>
      <p:sp>
        <p:nvSpPr>
          <p:cNvPr id="48" name="Text 42"/>
          <p:cNvSpPr/>
          <p:nvPr/>
        </p:nvSpPr>
        <p:spPr>
          <a:xfrm>
            <a:off x="3444987" y="8597900"/>
            <a:ext cx="2579425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95%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target 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450" dirty="0"/>
          </a:p>
        </p:txBody>
      </p:sp>
      <p:sp>
        <p:nvSpPr>
          <p:cNvPr id="49" name="Shape 43"/>
          <p:cNvSpPr/>
          <p:nvPr/>
        </p:nvSpPr>
        <p:spPr>
          <a:xfrm>
            <a:off x="6105769" y="8426847"/>
            <a:ext cx="2702254" cy="295771"/>
          </a:xfrm>
          <a:prstGeom prst="roundRect">
            <a:avLst>
              <a:gd name="adj" fmla="val 3115"/>
            </a:avLst>
          </a:prstGeom>
          <a:solidFill>
            <a:srgbClr val="F2EEEE"/>
          </a:solidFill>
          <a:ln/>
        </p:spPr>
      </p:sp>
      <p:sp>
        <p:nvSpPr>
          <p:cNvPr id="50" name="Text 44"/>
          <p:cNvSpPr/>
          <p:nvPr/>
        </p:nvSpPr>
        <p:spPr>
          <a:xfrm>
            <a:off x="6167184" y="8490049"/>
            <a:ext cx="2579425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🐛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Defect Escape</a:t>
            </a:r>
            <a:endParaRPr lang="en-US" sz="600" dirty="0"/>
          </a:p>
        </p:txBody>
      </p:sp>
      <p:sp>
        <p:nvSpPr>
          <p:cNvPr id="51" name="Text 45"/>
          <p:cNvSpPr/>
          <p:nvPr/>
        </p:nvSpPr>
        <p:spPr>
          <a:xfrm>
            <a:off x="6167184" y="8597900"/>
            <a:ext cx="2579425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3%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 5% 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450" dirty="0"/>
          </a:p>
        </p:txBody>
      </p:sp>
      <p:sp>
        <p:nvSpPr>
          <p:cNvPr id="52" name="Shape 46"/>
          <p:cNvSpPr/>
          <p:nvPr/>
        </p:nvSpPr>
        <p:spPr>
          <a:xfrm>
            <a:off x="8827966" y="8426847"/>
            <a:ext cx="2702254" cy="295771"/>
          </a:xfrm>
          <a:prstGeom prst="roundRect">
            <a:avLst>
              <a:gd name="adj" fmla="val 3115"/>
            </a:avLst>
          </a:prstGeom>
          <a:solidFill>
            <a:srgbClr val="F2EEEE"/>
          </a:solidFill>
          <a:ln/>
        </p:spPr>
      </p:sp>
      <p:sp>
        <p:nvSpPr>
          <p:cNvPr id="53" name="Text 47"/>
          <p:cNvSpPr/>
          <p:nvPr/>
        </p:nvSpPr>
        <p:spPr>
          <a:xfrm>
            <a:off x="8889381" y="8490049"/>
            <a:ext cx="2579425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MTTF</a:t>
            </a:r>
            <a:endParaRPr lang="en-US" sz="600" dirty="0"/>
          </a:p>
        </p:txBody>
      </p:sp>
      <p:sp>
        <p:nvSpPr>
          <p:cNvPr id="54" name="Text 48"/>
          <p:cNvSpPr/>
          <p:nvPr/>
        </p:nvSpPr>
        <p:spPr>
          <a:xfrm>
            <a:off x="8889381" y="8597900"/>
            <a:ext cx="2579425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 min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 10 min 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450" dirty="0"/>
          </a:p>
        </p:txBody>
      </p:sp>
      <p:sp>
        <p:nvSpPr>
          <p:cNvPr id="55" name="Shape 49"/>
          <p:cNvSpPr/>
          <p:nvPr/>
        </p:nvSpPr>
        <p:spPr>
          <a:xfrm>
            <a:off x="661475" y="8742561"/>
            <a:ext cx="10868745" cy="295771"/>
          </a:xfrm>
          <a:prstGeom prst="roundRect">
            <a:avLst>
              <a:gd name="adj" fmla="val 3115"/>
            </a:avLst>
          </a:prstGeom>
          <a:solidFill>
            <a:srgbClr val="F2EEEE"/>
          </a:solidFill>
          <a:ln/>
        </p:spPr>
      </p:sp>
      <p:sp>
        <p:nvSpPr>
          <p:cNvPr id="56" name="Text 50"/>
          <p:cNvSpPr/>
          <p:nvPr/>
        </p:nvSpPr>
        <p:spPr>
          <a:xfrm>
            <a:off x="722890" y="8805763"/>
            <a:ext cx="10745916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🧪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E2E Coverage</a:t>
            </a:r>
            <a:endParaRPr lang="en-US" sz="600" dirty="0"/>
          </a:p>
        </p:txBody>
      </p:sp>
      <p:sp>
        <p:nvSpPr>
          <p:cNvPr id="57" name="Text 51"/>
          <p:cNvSpPr/>
          <p:nvPr/>
        </p:nvSpPr>
        <p:spPr>
          <a:xfrm>
            <a:off x="722890" y="8913614"/>
            <a:ext cx="10745916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85%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 80% 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445"/>
            <a:ext cx="10868745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Cross-Browser Compatibility &amp; Real-Time Notifications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661475" y="946448"/>
            <a:ext cx="11478330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GDS-compliant rendering validated across all major browsers via BrowserStack cloud — with instant Slack alerts on every test run.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61475" y="1149846"/>
            <a:ext cx="4215402" cy="784721"/>
          </a:xfrm>
          <a:prstGeom prst="roundRect">
            <a:avLst>
              <a:gd name="adj" fmla="val 1725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51662" y="1240036"/>
            <a:ext cx="270662" cy="270669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6075" y="1314450"/>
            <a:ext cx="121738" cy="1217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1662" y="1553766"/>
            <a:ext cx="4035026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Chrome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51662" y="1737816"/>
            <a:ext cx="4035026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Win 11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61475" y="1977628"/>
            <a:ext cx="4215402" cy="784721"/>
          </a:xfrm>
          <a:prstGeom prst="roundRect">
            <a:avLst>
              <a:gd name="adj" fmla="val 1725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51662" y="2067818"/>
            <a:ext cx="270662" cy="270669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075" y="2142232"/>
            <a:ext cx="121738" cy="1217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662" y="2381548"/>
            <a:ext cx="4035026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Edge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51662" y="2565598"/>
            <a:ext cx="4035026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Win 11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661475" y="2805410"/>
            <a:ext cx="4215402" cy="784721"/>
          </a:xfrm>
          <a:prstGeom prst="roundRect">
            <a:avLst>
              <a:gd name="adj" fmla="val 1725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51662" y="2895600"/>
            <a:ext cx="270662" cy="270669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075" y="2970014"/>
            <a:ext cx="121738" cy="1217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1662" y="3209330"/>
            <a:ext cx="4035026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Firefox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751662" y="3393380"/>
            <a:ext cx="4035026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Win 11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661475" y="3633192"/>
            <a:ext cx="4215402" cy="784721"/>
          </a:xfrm>
          <a:prstGeom prst="roundRect">
            <a:avLst>
              <a:gd name="adj" fmla="val 1725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51662" y="3723382"/>
            <a:ext cx="270662" cy="270669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6075" y="3797796"/>
            <a:ext cx="121738" cy="12174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662" y="4037112"/>
            <a:ext cx="4035026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Safari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751662" y="4221163"/>
            <a:ext cx="4035026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macOS</a:t>
            </a:r>
            <a:endParaRPr lang="en-US" sz="700" dirty="0"/>
          </a:p>
        </p:txBody>
      </p:sp>
      <p:sp>
        <p:nvSpPr>
          <p:cNvPr id="24" name="Text 18"/>
          <p:cNvSpPr/>
          <p:nvPr/>
        </p:nvSpPr>
        <p:spPr>
          <a:xfrm>
            <a:off x="661475" y="4466332"/>
            <a:ext cx="4215402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BrowserStack Integration</a:t>
            </a:r>
            <a:endParaRPr lang="en-US" sz="8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655741"/>
            <a:ext cx="4215402" cy="4963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5161" y="4758630"/>
            <a:ext cx="3958828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CDP WebSocket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815161" y="4942681"/>
            <a:ext cx="3958828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Live cloud cross-browser rendering checks</a:t>
            </a:r>
            <a:endParaRPr lang="en-US" sz="7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5195193"/>
            <a:ext cx="4215402" cy="49639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15161" y="5298083"/>
            <a:ext cx="3958828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Trigger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815161" y="5482134"/>
            <a:ext cx="3958828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On-demand or per release pipeline</a:t>
            </a:r>
            <a:endParaRPr lang="en-US" sz="7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5734645"/>
            <a:ext cx="4215402" cy="496391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15161" y="5837535"/>
            <a:ext cx="3958828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Coverage</a:t>
            </a:r>
            <a:endParaRPr lang="en-US" sz="850" dirty="0"/>
          </a:p>
        </p:txBody>
      </p:sp>
      <p:sp>
        <p:nvSpPr>
          <p:cNvPr id="33" name="Text 24"/>
          <p:cNvSpPr/>
          <p:nvPr/>
        </p:nvSpPr>
        <p:spPr>
          <a:xfrm>
            <a:off x="815161" y="6021586"/>
            <a:ext cx="3958828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 browsers × 2 OS = full GDS matrix</a:t>
            </a:r>
            <a:endParaRPr lang="en-US" sz="700" dirty="0"/>
          </a:p>
        </p:txBody>
      </p:sp>
      <p:sp>
        <p:nvSpPr>
          <p:cNvPr id="34" name="Text 25"/>
          <p:cNvSpPr/>
          <p:nvPr/>
        </p:nvSpPr>
        <p:spPr>
          <a:xfrm>
            <a:off x="5103288" y="1144488"/>
            <a:ext cx="6433183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🔔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Real-Time Slack Alerts</a:t>
            </a:r>
            <a:endParaRPr lang="en-US" sz="8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03288" y="1333897"/>
            <a:ext cx="6433183" cy="49639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256974" y="1436787"/>
            <a:ext cx="6176610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Test Results</a:t>
            </a:r>
            <a:endParaRPr lang="en-US" sz="850" dirty="0"/>
          </a:p>
        </p:txBody>
      </p:sp>
      <p:sp>
        <p:nvSpPr>
          <p:cNvPr id="37" name="Text 27"/>
          <p:cNvSpPr/>
          <p:nvPr/>
        </p:nvSpPr>
        <p:spPr>
          <a:xfrm>
            <a:off x="5256974" y="1620838"/>
            <a:ext cx="6176610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Pass/Fail counts, pass rate &amp; failed test names</a:t>
            </a:r>
            <a:endParaRPr lang="en-US" sz="7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03288" y="1873349"/>
            <a:ext cx="6433183" cy="496391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256974" y="1976239"/>
            <a:ext cx="6176610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Report Links</a:t>
            </a:r>
            <a:endParaRPr lang="en-US" sz="850" dirty="0"/>
          </a:p>
        </p:txBody>
      </p:sp>
      <p:sp>
        <p:nvSpPr>
          <p:cNvPr id="40" name="Text 29"/>
          <p:cNvSpPr/>
          <p:nvPr/>
        </p:nvSpPr>
        <p:spPr>
          <a:xfrm>
            <a:off x="5256974" y="2160290"/>
            <a:ext cx="6176610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Allure report &amp; pipeline links with duration</a:t>
            </a:r>
            <a:endParaRPr lang="en-US" sz="7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103288" y="2412802"/>
            <a:ext cx="6433183" cy="496391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256974" y="2515691"/>
            <a:ext cx="6176610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Security Alerts</a:t>
            </a:r>
            <a:endParaRPr lang="en-US" sz="850" dirty="0"/>
          </a:p>
        </p:txBody>
      </p:sp>
      <p:sp>
        <p:nvSpPr>
          <p:cNvPr id="43" name="Text 31"/>
          <p:cNvSpPr/>
          <p:nvPr/>
        </p:nvSpPr>
        <p:spPr>
          <a:xfrm>
            <a:off x="5256974" y="2699742"/>
            <a:ext cx="6176610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ZAP vulnerability counts &amp; k6 Web Vitals summary</a:t>
            </a:r>
            <a:endParaRPr lang="en-US" sz="700" dirty="0"/>
          </a:p>
        </p:txBody>
      </p:sp>
      <p:sp>
        <p:nvSpPr>
          <p:cNvPr id="44" name="Text 32"/>
          <p:cNvSpPr/>
          <p:nvPr/>
        </p:nvSpPr>
        <p:spPr>
          <a:xfrm>
            <a:off x="5103288" y="2957612"/>
            <a:ext cx="6433183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Coverage —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2C55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200+ Automated Scenarios</a:t>
            </a:r>
            <a:endParaRPr lang="en-US" sz="850" dirty="0"/>
          </a:p>
        </p:txBody>
      </p:sp>
      <p:sp>
        <p:nvSpPr>
          <p:cNvPr id="45" name="Shape 33"/>
          <p:cNvSpPr/>
          <p:nvPr/>
        </p:nvSpPr>
        <p:spPr>
          <a:xfrm>
            <a:off x="5103288" y="3147020"/>
            <a:ext cx="6433183" cy="1284883"/>
          </a:xfrm>
          <a:prstGeom prst="roundRect">
            <a:avLst>
              <a:gd name="adj" fmla="val 105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5103288" y="3327400"/>
            <a:ext cx="6433183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7" name="Shape 35"/>
          <p:cNvSpPr/>
          <p:nvPr/>
        </p:nvSpPr>
        <p:spPr>
          <a:xfrm>
            <a:off x="5103288" y="3510955"/>
            <a:ext cx="6433183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8" name="Shape 36"/>
          <p:cNvSpPr/>
          <p:nvPr/>
        </p:nvSpPr>
        <p:spPr>
          <a:xfrm>
            <a:off x="5103288" y="3694509"/>
            <a:ext cx="6433183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9" name="Shape 37"/>
          <p:cNvSpPr/>
          <p:nvPr/>
        </p:nvSpPr>
        <p:spPr>
          <a:xfrm>
            <a:off x="5103288" y="3878064"/>
            <a:ext cx="6433183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0" name="Shape 38"/>
          <p:cNvSpPr/>
          <p:nvPr/>
        </p:nvSpPr>
        <p:spPr>
          <a:xfrm>
            <a:off x="5103288" y="4061619"/>
            <a:ext cx="6433183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1" name="Shape 39"/>
          <p:cNvSpPr/>
          <p:nvPr/>
        </p:nvSpPr>
        <p:spPr>
          <a:xfrm>
            <a:off x="5103288" y="4245173"/>
            <a:ext cx="6433183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2" name="Shape 40"/>
          <p:cNvSpPr/>
          <p:nvPr/>
        </p:nvSpPr>
        <p:spPr>
          <a:xfrm>
            <a:off x="6907635" y="3147020"/>
            <a:ext cx="6350" cy="12848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3" name="Shape 41"/>
          <p:cNvSpPr/>
          <p:nvPr/>
        </p:nvSpPr>
        <p:spPr>
          <a:xfrm>
            <a:off x="7678049" y="3147020"/>
            <a:ext cx="6350" cy="12848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4" name="Shape 42"/>
          <p:cNvSpPr/>
          <p:nvPr/>
        </p:nvSpPr>
        <p:spPr>
          <a:xfrm>
            <a:off x="8448464" y="3147020"/>
            <a:ext cx="6350" cy="12848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5" name="Shape 43"/>
          <p:cNvSpPr/>
          <p:nvPr/>
        </p:nvSpPr>
        <p:spPr>
          <a:xfrm>
            <a:off x="9218878" y="3147020"/>
            <a:ext cx="6350" cy="12848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6" name="Shape 44"/>
          <p:cNvSpPr/>
          <p:nvPr/>
        </p:nvSpPr>
        <p:spPr>
          <a:xfrm>
            <a:off x="9989292" y="3147020"/>
            <a:ext cx="6350" cy="12848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7" name="Shape 45"/>
          <p:cNvSpPr/>
          <p:nvPr/>
        </p:nvSpPr>
        <p:spPr>
          <a:xfrm>
            <a:off x="10759707" y="3147020"/>
            <a:ext cx="6350" cy="12848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8" name="Shape 46"/>
          <p:cNvSpPr/>
          <p:nvPr/>
        </p:nvSpPr>
        <p:spPr>
          <a:xfrm>
            <a:off x="5109935" y="3153370"/>
            <a:ext cx="1797700" cy="174030"/>
          </a:xfrm>
          <a:custGeom>
            <a:avLst/>
            <a:gdLst/>
            <a:ahLst/>
            <a:cxnLst/>
            <a:rect l="l" t="t" r="r" b="b"/>
            <a:pathLst>
              <a:path w="1797700" h="174030">
                <a:moveTo>
                  <a:pt x="11278" y="0"/>
                </a:moveTo>
                <a:lnTo>
                  <a:pt x="1797700" y="0"/>
                </a:lnTo>
                <a:lnTo>
                  <a:pt x="1797700" y="174030"/>
                </a:lnTo>
                <a:lnTo>
                  <a:pt x="0" y="174030"/>
                </a:lnTo>
                <a:lnTo>
                  <a:pt x="0" y="11279"/>
                </a:lnTo>
                <a:arcTo hR="11279" wR="11278" stAng="10800000" swAng="5400000"/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9" name="Text 47"/>
          <p:cNvSpPr/>
          <p:nvPr/>
        </p:nvSpPr>
        <p:spPr>
          <a:xfrm>
            <a:off x="5200123" y="3185517"/>
            <a:ext cx="222373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Project</a:t>
            </a:r>
            <a:endParaRPr lang="en-US" sz="700" dirty="0"/>
          </a:p>
        </p:txBody>
      </p:sp>
      <p:sp>
        <p:nvSpPr>
          <p:cNvPr id="60" name="Shape 48"/>
          <p:cNvSpPr/>
          <p:nvPr/>
        </p:nvSpPr>
        <p:spPr>
          <a:xfrm>
            <a:off x="6907635" y="3153370"/>
            <a:ext cx="770414" cy="17403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1" name="Text 49"/>
          <p:cNvSpPr/>
          <p:nvPr/>
        </p:nvSpPr>
        <p:spPr>
          <a:xfrm>
            <a:off x="6696205" y="3185517"/>
            <a:ext cx="119327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E2E</a:t>
            </a:r>
            <a:endParaRPr lang="en-US" sz="700" dirty="0"/>
          </a:p>
        </p:txBody>
      </p:sp>
      <p:sp>
        <p:nvSpPr>
          <p:cNvPr id="62" name="Shape 50"/>
          <p:cNvSpPr/>
          <p:nvPr/>
        </p:nvSpPr>
        <p:spPr>
          <a:xfrm>
            <a:off x="7678049" y="3153370"/>
            <a:ext cx="770414" cy="17403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3" name="Text 51"/>
          <p:cNvSpPr/>
          <p:nvPr/>
        </p:nvSpPr>
        <p:spPr>
          <a:xfrm>
            <a:off x="7466619" y="3185517"/>
            <a:ext cx="119327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API</a:t>
            </a:r>
            <a:endParaRPr lang="en-US" sz="700" dirty="0"/>
          </a:p>
        </p:txBody>
      </p:sp>
      <p:sp>
        <p:nvSpPr>
          <p:cNvPr id="64" name="Shape 52"/>
          <p:cNvSpPr/>
          <p:nvPr/>
        </p:nvSpPr>
        <p:spPr>
          <a:xfrm>
            <a:off x="8448464" y="3153370"/>
            <a:ext cx="770414" cy="17403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5" name="Text 53"/>
          <p:cNvSpPr/>
          <p:nvPr/>
        </p:nvSpPr>
        <p:spPr>
          <a:xfrm>
            <a:off x="8237034" y="3185517"/>
            <a:ext cx="119327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ZAP</a:t>
            </a:r>
            <a:endParaRPr lang="en-US" sz="700" dirty="0"/>
          </a:p>
        </p:txBody>
      </p:sp>
      <p:sp>
        <p:nvSpPr>
          <p:cNvPr id="66" name="Shape 54"/>
          <p:cNvSpPr/>
          <p:nvPr/>
        </p:nvSpPr>
        <p:spPr>
          <a:xfrm>
            <a:off x="9218878" y="3153370"/>
            <a:ext cx="770414" cy="17403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7" name="Text 55"/>
          <p:cNvSpPr/>
          <p:nvPr/>
        </p:nvSpPr>
        <p:spPr>
          <a:xfrm>
            <a:off x="9007448" y="3185517"/>
            <a:ext cx="119327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k6</a:t>
            </a:r>
            <a:endParaRPr lang="en-US" sz="700" dirty="0"/>
          </a:p>
        </p:txBody>
      </p:sp>
      <p:sp>
        <p:nvSpPr>
          <p:cNvPr id="68" name="Shape 56"/>
          <p:cNvSpPr/>
          <p:nvPr/>
        </p:nvSpPr>
        <p:spPr>
          <a:xfrm>
            <a:off x="9989292" y="3153370"/>
            <a:ext cx="770414" cy="17403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9" name="Text 57"/>
          <p:cNvSpPr/>
          <p:nvPr/>
        </p:nvSpPr>
        <p:spPr>
          <a:xfrm>
            <a:off x="9777862" y="3185517"/>
            <a:ext cx="119327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Browser</a:t>
            </a:r>
            <a:endParaRPr lang="en-US" sz="700" dirty="0"/>
          </a:p>
        </p:txBody>
      </p:sp>
      <p:sp>
        <p:nvSpPr>
          <p:cNvPr id="70" name="Shape 58"/>
          <p:cNvSpPr/>
          <p:nvPr/>
        </p:nvSpPr>
        <p:spPr>
          <a:xfrm>
            <a:off x="10759707" y="3153370"/>
            <a:ext cx="770414" cy="174030"/>
          </a:xfrm>
          <a:custGeom>
            <a:avLst/>
            <a:gdLst/>
            <a:ahLst/>
            <a:cxnLst/>
            <a:rect l="l" t="t" r="r" b="b"/>
            <a:pathLst>
              <a:path w="770414" h="174030">
                <a:moveTo>
                  <a:pt x="0" y="0"/>
                </a:moveTo>
                <a:lnTo>
                  <a:pt x="759136" y="0"/>
                </a:lnTo>
                <a:arcTo hR="11279" wR="11278" stAng="16200000" swAng="5400000"/>
                <a:lnTo>
                  <a:pt x="770414" y="174030"/>
                </a:lnTo>
                <a:lnTo>
                  <a:pt x="0" y="17403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71" name="Text 59"/>
          <p:cNvSpPr/>
          <p:nvPr/>
        </p:nvSpPr>
        <p:spPr>
          <a:xfrm>
            <a:off x="10548277" y="3185517"/>
            <a:ext cx="1196449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Slack</a:t>
            </a:r>
            <a:endParaRPr lang="en-US" sz="700" dirty="0"/>
          </a:p>
        </p:txBody>
      </p:sp>
      <p:sp>
        <p:nvSpPr>
          <p:cNvPr id="72" name="Text 60"/>
          <p:cNvSpPr/>
          <p:nvPr/>
        </p:nvSpPr>
        <p:spPr>
          <a:xfrm>
            <a:off x="5200123" y="3362722"/>
            <a:ext cx="222373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Enforcement</a:t>
            </a:r>
            <a:endParaRPr lang="en-US" sz="700" dirty="0"/>
          </a:p>
        </p:txBody>
      </p:sp>
      <p:sp>
        <p:nvSpPr>
          <p:cNvPr id="73" name="Text 61"/>
          <p:cNvSpPr/>
          <p:nvPr/>
        </p:nvSpPr>
        <p:spPr>
          <a:xfrm>
            <a:off x="6696205" y="3362722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74" name="Text 62"/>
          <p:cNvSpPr/>
          <p:nvPr/>
        </p:nvSpPr>
        <p:spPr>
          <a:xfrm>
            <a:off x="7466619" y="3362722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75" name="Text 63"/>
          <p:cNvSpPr/>
          <p:nvPr/>
        </p:nvSpPr>
        <p:spPr>
          <a:xfrm>
            <a:off x="8237034" y="3362722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76" name="Text 64"/>
          <p:cNvSpPr/>
          <p:nvPr/>
        </p:nvSpPr>
        <p:spPr>
          <a:xfrm>
            <a:off x="9007448" y="3362722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77" name="Text 65"/>
          <p:cNvSpPr/>
          <p:nvPr/>
        </p:nvSpPr>
        <p:spPr>
          <a:xfrm>
            <a:off x="9777862" y="3362722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78" name="Text 66"/>
          <p:cNvSpPr/>
          <p:nvPr/>
        </p:nvSpPr>
        <p:spPr>
          <a:xfrm>
            <a:off x="10548277" y="3362722"/>
            <a:ext cx="1196449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79" name="Text 67"/>
          <p:cNvSpPr/>
          <p:nvPr/>
        </p:nvSpPr>
        <p:spPr>
          <a:xfrm>
            <a:off x="5200123" y="3546277"/>
            <a:ext cx="222373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Get Help Apply</a:t>
            </a:r>
            <a:endParaRPr lang="en-US" sz="700" dirty="0"/>
          </a:p>
        </p:txBody>
      </p:sp>
      <p:sp>
        <p:nvSpPr>
          <p:cNvPr id="80" name="Text 68"/>
          <p:cNvSpPr/>
          <p:nvPr/>
        </p:nvSpPr>
        <p:spPr>
          <a:xfrm>
            <a:off x="6696205" y="3546277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81" name="Text 69"/>
          <p:cNvSpPr/>
          <p:nvPr/>
        </p:nvSpPr>
        <p:spPr>
          <a:xfrm>
            <a:off x="7466619" y="3546277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82" name="Text 70"/>
          <p:cNvSpPr/>
          <p:nvPr/>
        </p:nvSpPr>
        <p:spPr>
          <a:xfrm>
            <a:off x="8237034" y="3546277"/>
            <a:ext cx="119327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</a:t>
            </a:r>
            <a:endParaRPr lang="en-US" sz="700" dirty="0"/>
          </a:p>
        </p:txBody>
      </p:sp>
      <p:sp>
        <p:nvSpPr>
          <p:cNvPr id="83" name="Text 71"/>
          <p:cNvSpPr/>
          <p:nvPr/>
        </p:nvSpPr>
        <p:spPr>
          <a:xfrm>
            <a:off x="9007448" y="3546277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84" name="Text 72"/>
          <p:cNvSpPr/>
          <p:nvPr/>
        </p:nvSpPr>
        <p:spPr>
          <a:xfrm>
            <a:off x="9777862" y="3546277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85" name="Text 73"/>
          <p:cNvSpPr/>
          <p:nvPr/>
        </p:nvSpPr>
        <p:spPr>
          <a:xfrm>
            <a:off x="10548277" y="3546277"/>
            <a:ext cx="1196449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86" name="Text 74"/>
          <p:cNvSpPr/>
          <p:nvPr/>
        </p:nvSpPr>
        <p:spPr>
          <a:xfrm>
            <a:off x="5200123" y="3729831"/>
            <a:ext cx="222373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Respond</a:t>
            </a:r>
            <a:endParaRPr lang="en-US" sz="700" dirty="0"/>
          </a:p>
        </p:txBody>
      </p:sp>
      <p:sp>
        <p:nvSpPr>
          <p:cNvPr id="87" name="Text 75"/>
          <p:cNvSpPr/>
          <p:nvPr/>
        </p:nvSpPr>
        <p:spPr>
          <a:xfrm>
            <a:off x="6696205" y="3729831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88" name="Text 76"/>
          <p:cNvSpPr/>
          <p:nvPr/>
        </p:nvSpPr>
        <p:spPr>
          <a:xfrm>
            <a:off x="7466619" y="3729831"/>
            <a:ext cx="119327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</a:t>
            </a:r>
            <a:endParaRPr lang="en-US" sz="700" dirty="0"/>
          </a:p>
        </p:txBody>
      </p:sp>
      <p:sp>
        <p:nvSpPr>
          <p:cNvPr id="89" name="Text 77"/>
          <p:cNvSpPr/>
          <p:nvPr/>
        </p:nvSpPr>
        <p:spPr>
          <a:xfrm>
            <a:off x="8237034" y="3729831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90" name="Text 78"/>
          <p:cNvSpPr/>
          <p:nvPr/>
        </p:nvSpPr>
        <p:spPr>
          <a:xfrm>
            <a:off x="9007448" y="3729831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91" name="Text 79"/>
          <p:cNvSpPr/>
          <p:nvPr/>
        </p:nvSpPr>
        <p:spPr>
          <a:xfrm>
            <a:off x="9777862" y="3729831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92" name="Text 80"/>
          <p:cNvSpPr/>
          <p:nvPr/>
        </p:nvSpPr>
        <p:spPr>
          <a:xfrm>
            <a:off x="10548277" y="3729831"/>
            <a:ext cx="1196449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93" name="Text 81"/>
          <p:cNvSpPr/>
          <p:nvPr/>
        </p:nvSpPr>
        <p:spPr>
          <a:xfrm>
            <a:off x="5200123" y="3913386"/>
            <a:ext cx="222373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Online Revive</a:t>
            </a:r>
            <a:endParaRPr lang="en-US" sz="700" dirty="0"/>
          </a:p>
        </p:txBody>
      </p:sp>
      <p:sp>
        <p:nvSpPr>
          <p:cNvPr id="94" name="Text 82"/>
          <p:cNvSpPr/>
          <p:nvPr/>
        </p:nvSpPr>
        <p:spPr>
          <a:xfrm>
            <a:off x="6696205" y="3913386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95" name="Text 83"/>
          <p:cNvSpPr/>
          <p:nvPr/>
        </p:nvSpPr>
        <p:spPr>
          <a:xfrm>
            <a:off x="7466619" y="3913386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96" name="Text 84"/>
          <p:cNvSpPr/>
          <p:nvPr/>
        </p:nvSpPr>
        <p:spPr>
          <a:xfrm>
            <a:off x="8237034" y="3913386"/>
            <a:ext cx="119327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</a:t>
            </a:r>
            <a:endParaRPr lang="en-US" sz="700" dirty="0"/>
          </a:p>
        </p:txBody>
      </p:sp>
      <p:sp>
        <p:nvSpPr>
          <p:cNvPr id="97" name="Text 85"/>
          <p:cNvSpPr/>
          <p:nvPr/>
        </p:nvSpPr>
        <p:spPr>
          <a:xfrm>
            <a:off x="9007448" y="3913386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98" name="Text 86"/>
          <p:cNvSpPr/>
          <p:nvPr/>
        </p:nvSpPr>
        <p:spPr>
          <a:xfrm>
            <a:off x="9777862" y="3913386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99" name="Text 87"/>
          <p:cNvSpPr/>
          <p:nvPr/>
        </p:nvSpPr>
        <p:spPr>
          <a:xfrm>
            <a:off x="10548277" y="3913386"/>
            <a:ext cx="1196449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100" name="Text 88"/>
          <p:cNvSpPr/>
          <p:nvPr/>
        </p:nvSpPr>
        <p:spPr>
          <a:xfrm>
            <a:off x="5200123" y="4096941"/>
            <a:ext cx="222373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Maternity</a:t>
            </a:r>
            <a:endParaRPr lang="en-US" sz="700" dirty="0"/>
          </a:p>
        </p:txBody>
      </p:sp>
      <p:sp>
        <p:nvSpPr>
          <p:cNvPr id="101" name="Text 89"/>
          <p:cNvSpPr/>
          <p:nvPr/>
        </p:nvSpPr>
        <p:spPr>
          <a:xfrm>
            <a:off x="6696205" y="4096941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102" name="Text 90"/>
          <p:cNvSpPr/>
          <p:nvPr/>
        </p:nvSpPr>
        <p:spPr>
          <a:xfrm>
            <a:off x="7466619" y="4096941"/>
            <a:ext cx="119327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</a:t>
            </a:r>
            <a:endParaRPr lang="en-US" sz="700" dirty="0"/>
          </a:p>
        </p:txBody>
      </p:sp>
      <p:sp>
        <p:nvSpPr>
          <p:cNvPr id="103" name="Text 91"/>
          <p:cNvSpPr/>
          <p:nvPr/>
        </p:nvSpPr>
        <p:spPr>
          <a:xfrm>
            <a:off x="8237034" y="4096941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104" name="Text 92"/>
          <p:cNvSpPr/>
          <p:nvPr/>
        </p:nvSpPr>
        <p:spPr>
          <a:xfrm>
            <a:off x="9007448" y="4096941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105" name="Text 93"/>
          <p:cNvSpPr/>
          <p:nvPr/>
        </p:nvSpPr>
        <p:spPr>
          <a:xfrm>
            <a:off x="9777862" y="4096941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106" name="Text 94"/>
          <p:cNvSpPr/>
          <p:nvPr/>
        </p:nvSpPr>
        <p:spPr>
          <a:xfrm>
            <a:off x="10548277" y="4096941"/>
            <a:ext cx="1196449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107" name="Text 95"/>
          <p:cNvSpPr/>
          <p:nvPr/>
        </p:nvSpPr>
        <p:spPr>
          <a:xfrm>
            <a:off x="5200123" y="4280495"/>
            <a:ext cx="222373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SED</a:t>
            </a:r>
            <a:endParaRPr lang="en-US" sz="700" dirty="0"/>
          </a:p>
        </p:txBody>
      </p:sp>
      <p:sp>
        <p:nvSpPr>
          <p:cNvPr id="108" name="Text 96"/>
          <p:cNvSpPr/>
          <p:nvPr/>
        </p:nvSpPr>
        <p:spPr>
          <a:xfrm>
            <a:off x="6696205" y="4280495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109" name="Text 97"/>
          <p:cNvSpPr/>
          <p:nvPr/>
        </p:nvSpPr>
        <p:spPr>
          <a:xfrm>
            <a:off x="7466619" y="4280495"/>
            <a:ext cx="119327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</a:t>
            </a:r>
            <a:endParaRPr lang="en-US" sz="700" dirty="0"/>
          </a:p>
        </p:txBody>
      </p:sp>
      <p:sp>
        <p:nvSpPr>
          <p:cNvPr id="110" name="Text 98"/>
          <p:cNvSpPr/>
          <p:nvPr/>
        </p:nvSpPr>
        <p:spPr>
          <a:xfrm>
            <a:off x="8237034" y="4280495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111" name="Text 99"/>
          <p:cNvSpPr/>
          <p:nvPr/>
        </p:nvSpPr>
        <p:spPr>
          <a:xfrm>
            <a:off x="9007448" y="4280495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112" name="Text 100"/>
          <p:cNvSpPr/>
          <p:nvPr/>
        </p:nvSpPr>
        <p:spPr>
          <a:xfrm>
            <a:off x="9777862" y="4280495"/>
            <a:ext cx="119327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700" dirty="0"/>
          </a:p>
        </p:txBody>
      </p:sp>
      <p:sp>
        <p:nvSpPr>
          <p:cNvPr id="113" name="Text 101"/>
          <p:cNvSpPr/>
          <p:nvPr/>
        </p:nvSpPr>
        <p:spPr>
          <a:xfrm>
            <a:off x="10548277" y="4280495"/>
            <a:ext cx="1196449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3584"/>
            <a:ext cx="874790" cy="116582"/>
          </a:xfrm>
          <a:prstGeom prst="roundRect">
            <a:avLst>
              <a:gd name="adj" fmla="val 7904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511" y="601166"/>
            <a:ext cx="61415" cy="614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584" y="596602"/>
            <a:ext cx="1300229" cy="70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MANUAL LOGGING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661475" y="702568"/>
            <a:ext cx="1086874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Automated Failure Reporting &amp; Migration from Legacy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1475" y="989211"/>
            <a:ext cx="11478330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When tests fail, the system instantly captures and broadcasts everything your team needs — no human intervention required. Built on a modernised stack migrated from legacy tooling.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606112" y="1110555"/>
            <a:ext cx="4124619" cy="1556544"/>
          </a:xfrm>
          <a:prstGeom prst="roundRect">
            <a:avLst>
              <a:gd name="adj" fmla="val 740"/>
            </a:avLst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682806" y="1141710"/>
            <a:ext cx="3971230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Triggers Automatically When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806" y="1296591"/>
            <a:ext cx="3971230" cy="4161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99" y="1385987"/>
            <a:ext cx="3741644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Functional Test Fails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822999" y="1536998"/>
            <a:ext cx="3741644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Any failing Cypress or integration test triggers the pipeline</a:t>
            </a:r>
            <a:endParaRPr lang="en-US" sz="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806" y="1743869"/>
            <a:ext cx="3971230" cy="4161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99" y="1833265"/>
            <a:ext cx="3741644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Allure Report Shows Failures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822999" y="1984276"/>
            <a:ext cx="3741644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Report generation detects and flags failed scenarios</a:t>
            </a:r>
            <a:endParaRPr lang="en-US" sz="600" dirty="0"/>
          </a:p>
        </p:txBody>
      </p:sp>
      <p:sp>
        <p:nvSpPr>
          <p:cNvPr id="15" name="Shape 10"/>
          <p:cNvSpPr/>
          <p:nvPr/>
        </p:nvSpPr>
        <p:spPr>
          <a:xfrm>
            <a:off x="682806" y="2195016"/>
            <a:ext cx="3971230" cy="204986"/>
          </a:xfrm>
          <a:prstGeom prst="roundRect">
            <a:avLst>
              <a:gd name="adj" fmla="val 5619"/>
            </a:avLst>
          </a:prstGeom>
          <a:solidFill>
            <a:srgbClr val="183A1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501" y="2290862"/>
            <a:ext cx="95942" cy="766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137" y="2242145"/>
            <a:ext cx="4254790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ct val="9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Zero manual logging</a:t>
            </a:r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failures reported instantly to Slack.</a:t>
            </a:r>
            <a:endParaRPr lang="en-US" sz="600" dirty="0"/>
          </a:p>
        </p:txBody>
      </p:sp>
      <p:sp>
        <p:nvSpPr>
          <p:cNvPr id="18" name="Text 12"/>
          <p:cNvSpPr/>
          <p:nvPr/>
        </p:nvSpPr>
        <p:spPr>
          <a:xfrm>
            <a:off x="4869038" y="1141710"/>
            <a:ext cx="6667432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Every Failure Report Includes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869038" y="1296591"/>
            <a:ext cx="2201708" cy="652165"/>
          </a:xfrm>
          <a:prstGeom prst="roundRect">
            <a:avLst>
              <a:gd name="adj" fmla="val 1766"/>
            </a:avLst>
          </a:prstGeom>
          <a:solidFill>
            <a:srgbClr val="F2EEEE"/>
          </a:solidFill>
          <a:ln/>
        </p:spPr>
      </p:sp>
      <p:sp>
        <p:nvSpPr>
          <p:cNvPr id="20" name="Shape 14"/>
          <p:cNvSpPr/>
          <p:nvPr/>
        </p:nvSpPr>
        <p:spPr>
          <a:xfrm>
            <a:off x="4945733" y="1373287"/>
            <a:ext cx="230281" cy="230287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09033" y="1436588"/>
            <a:ext cx="103582" cy="1035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45733" y="1634728"/>
            <a:ext cx="2048320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Pipeline Link</a:t>
            </a:r>
            <a:endParaRPr lang="en-US" sz="750" dirty="0"/>
          </a:p>
        </p:txBody>
      </p:sp>
      <p:sp>
        <p:nvSpPr>
          <p:cNvPr id="23" name="Text 16"/>
          <p:cNvSpPr/>
          <p:nvPr/>
        </p:nvSpPr>
        <p:spPr>
          <a:xfrm>
            <a:off x="4945733" y="1785739"/>
            <a:ext cx="2048320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 URL to the CI run</a:t>
            </a:r>
            <a:endParaRPr lang="en-US" sz="600" dirty="0"/>
          </a:p>
        </p:txBody>
      </p:sp>
      <p:sp>
        <p:nvSpPr>
          <p:cNvPr id="24" name="Shape 17"/>
          <p:cNvSpPr/>
          <p:nvPr/>
        </p:nvSpPr>
        <p:spPr>
          <a:xfrm>
            <a:off x="7101900" y="1296591"/>
            <a:ext cx="2201708" cy="652165"/>
          </a:xfrm>
          <a:prstGeom prst="roundRect">
            <a:avLst>
              <a:gd name="adj" fmla="val 1766"/>
            </a:avLst>
          </a:prstGeom>
          <a:solidFill>
            <a:srgbClr val="F2EEEE"/>
          </a:solidFill>
          <a:ln/>
        </p:spPr>
      </p:sp>
      <p:sp>
        <p:nvSpPr>
          <p:cNvPr id="25" name="Shape 18"/>
          <p:cNvSpPr/>
          <p:nvPr/>
        </p:nvSpPr>
        <p:spPr>
          <a:xfrm>
            <a:off x="7178595" y="1373287"/>
            <a:ext cx="230281" cy="230287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41895" y="1436588"/>
            <a:ext cx="103582" cy="1035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78595" y="1634728"/>
            <a:ext cx="2048320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Branch &amp; Env</a:t>
            </a:r>
            <a:endParaRPr lang="en-US" sz="750" dirty="0"/>
          </a:p>
        </p:txBody>
      </p:sp>
      <p:sp>
        <p:nvSpPr>
          <p:cNvPr id="28" name="Text 20"/>
          <p:cNvSpPr/>
          <p:nvPr/>
        </p:nvSpPr>
        <p:spPr>
          <a:xfrm>
            <a:off x="7178595" y="1785739"/>
            <a:ext cx="2048320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Exact context of failure</a:t>
            </a:r>
            <a:endParaRPr lang="en-US" sz="600" dirty="0"/>
          </a:p>
        </p:txBody>
      </p:sp>
      <p:sp>
        <p:nvSpPr>
          <p:cNvPr id="29" name="Shape 21"/>
          <p:cNvSpPr/>
          <p:nvPr/>
        </p:nvSpPr>
        <p:spPr>
          <a:xfrm>
            <a:off x="9334763" y="1296591"/>
            <a:ext cx="2201708" cy="652165"/>
          </a:xfrm>
          <a:prstGeom prst="roundRect">
            <a:avLst>
              <a:gd name="adj" fmla="val 1766"/>
            </a:avLst>
          </a:prstGeom>
          <a:solidFill>
            <a:srgbClr val="F2EEEE"/>
          </a:solidFill>
          <a:ln/>
        </p:spPr>
      </p:sp>
      <p:sp>
        <p:nvSpPr>
          <p:cNvPr id="30" name="Shape 22"/>
          <p:cNvSpPr/>
          <p:nvPr/>
        </p:nvSpPr>
        <p:spPr>
          <a:xfrm>
            <a:off x="9411457" y="1373287"/>
            <a:ext cx="230281" cy="230287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74757" y="1436588"/>
            <a:ext cx="103582" cy="1035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411457" y="1634728"/>
            <a:ext cx="2048320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Tags Used</a:t>
            </a:r>
            <a:endParaRPr lang="en-US" sz="750" dirty="0"/>
          </a:p>
        </p:txBody>
      </p:sp>
      <p:sp>
        <p:nvSpPr>
          <p:cNvPr id="33" name="Text 24"/>
          <p:cNvSpPr/>
          <p:nvPr/>
        </p:nvSpPr>
        <p:spPr>
          <a:xfrm>
            <a:off x="9411457" y="1785739"/>
            <a:ext cx="2048320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 scope of the run</a:t>
            </a:r>
            <a:endParaRPr lang="en-US" sz="600" dirty="0"/>
          </a:p>
        </p:txBody>
      </p:sp>
      <p:sp>
        <p:nvSpPr>
          <p:cNvPr id="34" name="Shape 25"/>
          <p:cNvSpPr/>
          <p:nvPr/>
        </p:nvSpPr>
        <p:spPr>
          <a:xfrm>
            <a:off x="4869038" y="1979910"/>
            <a:ext cx="2201708" cy="652165"/>
          </a:xfrm>
          <a:prstGeom prst="roundRect">
            <a:avLst>
              <a:gd name="adj" fmla="val 1766"/>
            </a:avLst>
          </a:prstGeom>
          <a:solidFill>
            <a:srgbClr val="F2EEEE"/>
          </a:solidFill>
          <a:ln/>
        </p:spPr>
      </p:sp>
      <p:sp>
        <p:nvSpPr>
          <p:cNvPr id="35" name="Shape 26"/>
          <p:cNvSpPr/>
          <p:nvPr/>
        </p:nvSpPr>
        <p:spPr>
          <a:xfrm>
            <a:off x="4945733" y="2056606"/>
            <a:ext cx="230281" cy="230287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09033" y="2119908"/>
            <a:ext cx="103582" cy="10358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945733" y="2318048"/>
            <a:ext cx="2048320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Failure Count</a:t>
            </a:r>
            <a:endParaRPr lang="en-US" sz="750" dirty="0"/>
          </a:p>
        </p:txBody>
      </p:sp>
      <p:sp>
        <p:nvSpPr>
          <p:cNvPr id="38" name="Text 28"/>
          <p:cNvSpPr/>
          <p:nvPr/>
        </p:nvSpPr>
        <p:spPr>
          <a:xfrm>
            <a:off x="4945733" y="2469059"/>
            <a:ext cx="2048320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failed tests</a:t>
            </a:r>
            <a:endParaRPr lang="en-US" sz="600" dirty="0"/>
          </a:p>
        </p:txBody>
      </p:sp>
      <p:sp>
        <p:nvSpPr>
          <p:cNvPr id="39" name="Shape 29"/>
          <p:cNvSpPr/>
          <p:nvPr/>
        </p:nvSpPr>
        <p:spPr>
          <a:xfrm>
            <a:off x="7101900" y="1979910"/>
            <a:ext cx="2201708" cy="652165"/>
          </a:xfrm>
          <a:prstGeom prst="roundRect">
            <a:avLst>
              <a:gd name="adj" fmla="val 1766"/>
            </a:avLst>
          </a:prstGeom>
          <a:solidFill>
            <a:srgbClr val="F2EEEE"/>
          </a:solidFill>
          <a:ln/>
        </p:spPr>
      </p:sp>
      <p:sp>
        <p:nvSpPr>
          <p:cNvPr id="40" name="Shape 30"/>
          <p:cNvSpPr/>
          <p:nvPr/>
        </p:nvSpPr>
        <p:spPr>
          <a:xfrm>
            <a:off x="7178595" y="2056606"/>
            <a:ext cx="230281" cy="230287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41895" y="2119908"/>
            <a:ext cx="103582" cy="103584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7178595" y="2318048"/>
            <a:ext cx="2048320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Allure Report</a:t>
            </a:r>
            <a:endParaRPr lang="en-US" sz="750" dirty="0"/>
          </a:p>
        </p:txBody>
      </p:sp>
      <p:sp>
        <p:nvSpPr>
          <p:cNvPr id="43" name="Text 32"/>
          <p:cNvSpPr/>
          <p:nvPr/>
        </p:nvSpPr>
        <p:spPr>
          <a:xfrm>
            <a:off x="7178595" y="2469059"/>
            <a:ext cx="2048320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visual test report</a:t>
            </a:r>
            <a:endParaRPr lang="en-US" sz="600" dirty="0"/>
          </a:p>
        </p:txBody>
      </p:sp>
      <p:sp>
        <p:nvSpPr>
          <p:cNvPr id="44" name="Shape 33"/>
          <p:cNvSpPr/>
          <p:nvPr/>
        </p:nvSpPr>
        <p:spPr>
          <a:xfrm>
            <a:off x="9334763" y="1979910"/>
            <a:ext cx="2201708" cy="652165"/>
          </a:xfrm>
          <a:prstGeom prst="roundRect">
            <a:avLst>
              <a:gd name="adj" fmla="val 1766"/>
            </a:avLst>
          </a:prstGeom>
          <a:solidFill>
            <a:srgbClr val="F2EEEE"/>
          </a:solidFill>
          <a:ln/>
        </p:spPr>
      </p:sp>
      <p:sp>
        <p:nvSpPr>
          <p:cNvPr id="45" name="Shape 34"/>
          <p:cNvSpPr/>
          <p:nvPr/>
        </p:nvSpPr>
        <p:spPr>
          <a:xfrm>
            <a:off x="9411457" y="2056606"/>
            <a:ext cx="230281" cy="230287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474757" y="2119908"/>
            <a:ext cx="103582" cy="103584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9411457" y="2318048"/>
            <a:ext cx="2048320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Slack Alert</a:t>
            </a:r>
            <a:endParaRPr lang="en-US" sz="750" dirty="0"/>
          </a:p>
        </p:txBody>
      </p:sp>
      <p:sp>
        <p:nvSpPr>
          <p:cNvPr id="48" name="Text 36"/>
          <p:cNvSpPr/>
          <p:nvPr/>
        </p:nvSpPr>
        <p:spPr>
          <a:xfrm>
            <a:off x="9411457" y="2469059"/>
            <a:ext cx="2048320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Instant team notification</a:t>
            </a:r>
            <a:endParaRPr lang="en-US" sz="6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21136" y="2702123"/>
            <a:ext cx="4149324" cy="2462709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6909131" y="4593593"/>
            <a:ext cx="1031432" cy="19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Slack Alert</a:t>
            </a:r>
            <a:endParaRPr lang="en-US" sz="1250" dirty="0"/>
          </a:p>
        </p:txBody>
      </p:sp>
      <p:sp>
        <p:nvSpPr>
          <p:cNvPr id="51" name="Text 38"/>
          <p:cNvSpPr/>
          <p:nvPr/>
        </p:nvSpPr>
        <p:spPr>
          <a:xfrm>
            <a:off x="5609245" y="4494244"/>
            <a:ext cx="1031432" cy="39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Capture Context</a:t>
            </a:r>
            <a:endParaRPr lang="en-US" sz="1250" dirty="0"/>
          </a:p>
        </p:txBody>
      </p:sp>
      <p:sp>
        <p:nvSpPr>
          <p:cNvPr id="52" name="Text 39"/>
          <p:cNvSpPr/>
          <p:nvPr/>
        </p:nvSpPr>
        <p:spPr>
          <a:xfrm>
            <a:off x="4288165" y="4593593"/>
            <a:ext cx="1031432" cy="19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Fails</a:t>
            </a:r>
            <a:endParaRPr lang="en-US" sz="1250" dirty="0"/>
          </a:p>
        </p:txBody>
      </p:sp>
      <p:sp>
        <p:nvSpPr>
          <p:cNvPr id="53" name="Text 40"/>
          <p:cNvSpPr/>
          <p:nvPr/>
        </p:nvSpPr>
        <p:spPr>
          <a:xfrm>
            <a:off x="661475" y="5231011"/>
            <a:ext cx="5340712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Migration from Legacy Stack</a:t>
            </a:r>
            <a:endParaRPr lang="en-US" sz="75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1475" y="5385891"/>
            <a:ext cx="2670307" cy="307082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738169" y="5724128"/>
            <a:ext cx="2516918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Legacy</a:t>
            </a:r>
            <a:endParaRPr lang="en-US" sz="750" dirty="0"/>
          </a:p>
        </p:txBody>
      </p:sp>
      <p:sp>
        <p:nvSpPr>
          <p:cNvPr id="56" name="Text 42"/>
          <p:cNvSpPr/>
          <p:nvPr/>
        </p:nvSpPr>
        <p:spPr>
          <a:xfrm>
            <a:off x="738169" y="5875139"/>
            <a:ext cx="2516918" cy="280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Selenium / Java / Cucumber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Postman tests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CI/CD pipeline</a:t>
            </a:r>
            <a:endParaRPr lang="en-US" sz="600" dirty="0"/>
          </a:p>
        </p:txBody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31781" y="5385891"/>
            <a:ext cx="2670406" cy="307082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3408476" y="5724128"/>
            <a:ext cx="2517018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Migrated To</a:t>
            </a:r>
            <a:endParaRPr lang="en-US" sz="750" dirty="0"/>
          </a:p>
        </p:txBody>
      </p:sp>
      <p:sp>
        <p:nvSpPr>
          <p:cNvPr id="59" name="Text 44"/>
          <p:cNvSpPr/>
          <p:nvPr/>
        </p:nvSpPr>
        <p:spPr>
          <a:xfrm>
            <a:off x="3408476" y="5875139"/>
            <a:ext cx="2517018" cy="280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Playwright / TypeScript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API tests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GitLab CI/CD</a:t>
            </a:r>
            <a:endParaRPr lang="en-US" sz="600" dirty="0"/>
          </a:p>
        </p:txBody>
      </p:sp>
      <p:sp>
        <p:nvSpPr>
          <p:cNvPr id="60" name="Text 45"/>
          <p:cNvSpPr/>
          <p:nvPr/>
        </p:nvSpPr>
        <p:spPr>
          <a:xfrm>
            <a:off x="6195857" y="5231011"/>
            <a:ext cx="5340712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Why Playwright?</a:t>
            </a:r>
            <a:endParaRPr lang="en-US" sz="750" dirty="0"/>
          </a:p>
        </p:txBody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195857" y="5385891"/>
            <a:ext cx="2654730" cy="416123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6336050" y="5475288"/>
            <a:ext cx="2425143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3× Faster Execution</a:t>
            </a:r>
            <a:endParaRPr lang="en-US" sz="750" dirty="0"/>
          </a:p>
        </p:txBody>
      </p:sp>
      <p:sp>
        <p:nvSpPr>
          <p:cNvPr id="63" name="Text 47"/>
          <p:cNvSpPr/>
          <p:nvPr/>
        </p:nvSpPr>
        <p:spPr>
          <a:xfrm>
            <a:off x="6336050" y="5626298"/>
            <a:ext cx="2425143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Parallel headless runs cut suite runtime dramatically</a:t>
            </a:r>
            <a:endParaRPr lang="en-US" sz="600" dirty="0"/>
          </a:p>
        </p:txBody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881741" y="5385891"/>
            <a:ext cx="2654829" cy="416123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9021934" y="5475288"/>
            <a:ext cx="2425242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Built-in Auto-Waiting</a:t>
            </a:r>
            <a:endParaRPr lang="en-US" sz="750" dirty="0"/>
          </a:p>
        </p:txBody>
      </p:sp>
      <p:sp>
        <p:nvSpPr>
          <p:cNvPr id="66" name="Text 49"/>
          <p:cNvSpPr/>
          <p:nvPr/>
        </p:nvSpPr>
        <p:spPr>
          <a:xfrm>
            <a:off x="9021934" y="5626298"/>
            <a:ext cx="2425242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Fewer flaky tests — waits for elements automatically</a:t>
            </a:r>
            <a:endParaRPr lang="en-US" sz="600" dirty="0"/>
          </a:p>
        </p:txBody>
      </p:sp>
      <p:pic>
        <p:nvPicPr>
          <p:cNvPr id="67" name="Image 15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195857" y="5833170"/>
            <a:ext cx="2654730" cy="416123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6336050" y="5922566"/>
            <a:ext cx="2425143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Native API Testing</a:t>
            </a:r>
            <a:endParaRPr lang="en-US" sz="750" dirty="0"/>
          </a:p>
        </p:txBody>
      </p:sp>
      <p:sp>
        <p:nvSpPr>
          <p:cNvPr id="69" name="Text 51"/>
          <p:cNvSpPr/>
          <p:nvPr/>
        </p:nvSpPr>
        <p:spPr>
          <a:xfrm>
            <a:off x="6336050" y="6073577"/>
            <a:ext cx="2425143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REST assertions alongside UI tests in one codebase</a:t>
            </a:r>
            <a:endParaRPr lang="en-US" sz="600" dirty="0"/>
          </a:p>
        </p:txBody>
      </p:sp>
      <p:pic>
        <p:nvPicPr>
          <p:cNvPr id="70" name="Image 16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881741" y="5833170"/>
            <a:ext cx="2654829" cy="416123"/>
          </a:xfrm>
          <a:prstGeom prst="rect">
            <a:avLst/>
          </a:prstGeom>
        </p:spPr>
      </p:pic>
      <p:sp>
        <p:nvSpPr>
          <p:cNvPr id="71" name="Text 52"/>
          <p:cNvSpPr/>
          <p:nvPr/>
        </p:nvSpPr>
        <p:spPr>
          <a:xfrm>
            <a:off x="9021934" y="5922566"/>
            <a:ext cx="2425242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Single Framework</a:t>
            </a:r>
            <a:endParaRPr lang="en-US" sz="750" dirty="0"/>
          </a:p>
        </p:txBody>
      </p:sp>
      <p:sp>
        <p:nvSpPr>
          <p:cNvPr id="72" name="Text 53"/>
          <p:cNvSpPr/>
          <p:nvPr/>
        </p:nvSpPr>
        <p:spPr>
          <a:xfrm>
            <a:off x="9021934" y="6073577"/>
            <a:ext cx="2425242" cy="8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UI + API + Performance unified under one tool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Impact &amp; Key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6682" y="751681"/>
            <a:ext cx="11478330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Delivering measurable ROI across all 6 CMS projects through shift-left quality engineering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1610280" y="869851"/>
            <a:ext cx="3524162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80%+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1118096"/>
            <a:ext cx="5421871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Less Manual Testing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661475" y="1225947"/>
            <a:ext cx="5421871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Reduction in regression effort across all 6 projects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7057055" y="869851"/>
            <a:ext cx="3524261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90%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108250" y="1118096"/>
            <a:ext cx="5421971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Faster Feedback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6108250" y="1225947"/>
            <a:ext cx="5421971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Story-based execution vs full regression</a:t>
            </a:r>
            <a:endParaRPr lang="en-US" sz="450" dirty="0"/>
          </a:p>
        </p:txBody>
      </p:sp>
      <p:sp>
        <p:nvSpPr>
          <p:cNvPr id="10" name="Text 8"/>
          <p:cNvSpPr/>
          <p:nvPr/>
        </p:nvSpPr>
        <p:spPr>
          <a:xfrm>
            <a:off x="1610280" y="1361579"/>
            <a:ext cx="3524162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1475" y="1609824"/>
            <a:ext cx="5421871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CMS Projects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61475" y="1717675"/>
            <a:ext cx="5421871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Fully covered by automated CI/CD pipelines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7057055" y="1361579"/>
            <a:ext cx="3524261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108250" y="1609824"/>
            <a:ext cx="5421971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Quality Gates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6108250" y="1717675"/>
            <a:ext cx="5421971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Functional · Security · Performance · Compatibility · Reporting</a:t>
            </a:r>
            <a:endParaRPr lang="en-US" sz="450" dirty="0"/>
          </a:p>
        </p:txBody>
      </p:sp>
      <p:sp>
        <p:nvSpPr>
          <p:cNvPr id="16" name="Text 14"/>
          <p:cNvSpPr/>
          <p:nvPr/>
        </p:nvSpPr>
        <p:spPr>
          <a:xfrm>
            <a:off x="661475" y="1825129"/>
            <a:ext cx="5359464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Shift-Left: Defect Detection</a:t>
            </a:r>
            <a:endParaRPr lang="en-US" sz="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43497"/>
            <a:ext cx="3483582" cy="250755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56682" y="4475262"/>
            <a:ext cx="5969049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Defects caught in production dropped from </a:t>
            </a:r>
            <a:pPr algn="ctr" indent="0" marL="0">
              <a:lnSpc>
                <a:spcPct val="88000"/>
              </a:lnSpc>
              <a:buNone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20% → 2%</a:t>
            </a:r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the most expensive place to fix bugs</a:t>
            </a:r>
            <a:endParaRPr lang="en-US" sz="450" dirty="0"/>
          </a:p>
        </p:txBody>
      </p:sp>
      <p:sp>
        <p:nvSpPr>
          <p:cNvPr id="19" name="Text 16"/>
          <p:cNvSpPr/>
          <p:nvPr/>
        </p:nvSpPr>
        <p:spPr>
          <a:xfrm>
            <a:off x="6177106" y="1825129"/>
            <a:ext cx="5359464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Cost of Defect by Stage</a:t>
            </a:r>
            <a:endParaRPr lang="en-US" sz="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6" y="1943497"/>
            <a:ext cx="3483582" cy="250755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872313" y="4475262"/>
            <a:ext cx="5969049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Fixing a bug in production costs </a:t>
            </a:r>
            <a:pPr algn="ctr" indent="0" marL="0">
              <a:lnSpc>
                <a:spcPct val="88000"/>
              </a:lnSpc>
              <a:buNone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£100x more</a:t>
            </a:r>
            <a:pPr algn="ctr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than catching it at development time</a:t>
            </a:r>
            <a:endParaRPr lang="en-US" sz="450" dirty="0"/>
          </a:p>
        </p:txBody>
      </p:sp>
      <p:sp>
        <p:nvSpPr>
          <p:cNvPr id="22" name="Shape 18"/>
          <p:cNvSpPr/>
          <p:nvPr/>
        </p:nvSpPr>
        <p:spPr>
          <a:xfrm>
            <a:off x="661475" y="4578945"/>
            <a:ext cx="10868745" cy="166390"/>
          </a:xfrm>
          <a:prstGeom prst="roundRect">
            <a:avLst>
              <a:gd name="adj" fmla="val 5538"/>
            </a:avLst>
          </a:prstGeom>
          <a:solidFill>
            <a:srgbClr val="B6FCB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90" y="4655641"/>
            <a:ext cx="76694" cy="6141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60999" y="4615954"/>
            <a:ext cx="11217391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Business Value: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Shift-left testing + automated pipelines means fewer production incidents, faster releases, and dramatically lower cost-of-quality — delivering continuous GDS-compliant coverage.</a:t>
            </a:r>
            <a:endParaRPr lang="en-US" sz="450" dirty="0"/>
          </a:p>
        </p:txBody>
      </p:sp>
      <p:sp>
        <p:nvSpPr>
          <p:cNvPr id="25" name="Shape 20"/>
          <p:cNvSpPr/>
          <p:nvPr/>
        </p:nvSpPr>
        <p:spPr>
          <a:xfrm>
            <a:off x="661475" y="4783038"/>
            <a:ext cx="10868745" cy="63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661475" y="4827091"/>
            <a:ext cx="570791" cy="93166"/>
          </a:xfrm>
          <a:prstGeom prst="roundRect">
            <a:avLst>
              <a:gd name="adj" fmla="val 7912"/>
            </a:avLst>
          </a:prstGeom>
          <a:solidFill>
            <a:srgbClr val="CCD7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84" y="4850904"/>
            <a:ext cx="49112" cy="4911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1903" y="4847233"/>
            <a:ext cx="1033139" cy="56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FUTURE ROADMAP</a:t>
            </a:r>
            <a:endParaRPr lang="en-US" sz="350" dirty="0"/>
          </a:p>
        </p:txBody>
      </p:sp>
      <p:sp>
        <p:nvSpPr>
          <p:cNvPr id="29" name="Text 23"/>
          <p:cNvSpPr/>
          <p:nvPr/>
        </p:nvSpPr>
        <p:spPr>
          <a:xfrm>
            <a:off x="661475" y="4929981"/>
            <a:ext cx="10868745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Planned Enhancements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661475" y="5113338"/>
            <a:ext cx="11478330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Next-phase capabilities to further strengthen quality coverage and automation maturity</a:t>
            </a:r>
            <a:endParaRPr lang="en-US" sz="4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199063"/>
            <a:ext cx="10868745" cy="451247"/>
          </a:xfrm>
          <a:prstGeom prst="rect">
            <a:avLst/>
          </a:prstGeom>
        </p:spPr>
      </p:pic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9811" y="5251450"/>
            <a:ext cx="92073" cy="920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9240" y="5411391"/>
            <a:ext cx="10733216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Accessibility Testing</a:t>
            </a:r>
            <a:endParaRPr lang="en-US" sz="600" dirty="0"/>
          </a:p>
        </p:txBody>
      </p:sp>
      <p:sp>
        <p:nvSpPr>
          <p:cNvPr id="34" name="Text 26"/>
          <p:cNvSpPr/>
          <p:nvPr/>
        </p:nvSpPr>
        <p:spPr>
          <a:xfrm>
            <a:off x="729240" y="5519241"/>
            <a:ext cx="10733216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axe-core integration for automated WCAG compliance checks on every build</a:t>
            </a:r>
            <a:endParaRPr lang="en-US" sz="4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670252"/>
            <a:ext cx="10868745" cy="451247"/>
          </a:xfrm>
          <a:prstGeom prst="rect">
            <a:avLst/>
          </a:prstGeom>
        </p:spPr>
      </p:pic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49811" y="5722640"/>
            <a:ext cx="92073" cy="9207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29240" y="5882580"/>
            <a:ext cx="10733216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Visual Regression Testing</a:t>
            </a:r>
            <a:endParaRPr lang="en-US" sz="600" dirty="0"/>
          </a:p>
        </p:txBody>
      </p:sp>
      <p:sp>
        <p:nvSpPr>
          <p:cNvPr id="38" name="Text 28"/>
          <p:cNvSpPr/>
          <p:nvPr/>
        </p:nvSpPr>
        <p:spPr>
          <a:xfrm>
            <a:off x="729240" y="5990431"/>
            <a:ext cx="10733216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Screenshot comparison to catch unintended UI changes across releases</a:t>
            </a:r>
            <a:endParaRPr lang="en-US" sz="45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6141442"/>
            <a:ext cx="10868745" cy="451247"/>
          </a:xfrm>
          <a:prstGeom prst="rect">
            <a:avLst/>
          </a:prstGeom>
        </p:spPr>
      </p:pic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49811" y="6193830"/>
            <a:ext cx="92073" cy="92075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729240" y="6353770"/>
            <a:ext cx="10733216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AI-Powered Test Generation</a:t>
            </a:r>
            <a:endParaRPr lang="en-US" sz="600" dirty="0"/>
          </a:p>
        </p:txBody>
      </p:sp>
      <p:sp>
        <p:nvSpPr>
          <p:cNvPr id="42" name="Text 30"/>
          <p:cNvSpPr/>
          <p:nvPr/>
        </p:nvSpPr>
        <p:spPr>
          <a:xfrm>
            <a:off x="729240" y="6461621"/>
            <a:ext cx="10733216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Intelligent test synthesis from user stories and acceptance criteria</a:t>
            </a:r>
            <a:endParaRPr lang="en-US" sz="450" dirty="0"/>
          </a:p>
        </p:txBody>
      </p:sp>
      <p:sp>
        <p:nvSpPr>
          <p:cNvPr id="43" name="Shape 31"/>
          <p:cNvSpPr/>
          <p:nvPr/>
        </p:nvSpPr>
        <p:spPr>
          <a:xfrm>
            <a:off x="661475" y="6630392"/>
            <a:ext cx="10868745" cy="63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44" name="Shape 32"/>
          <p:cNvSpPr/>
          <p:nvPr/>
        </p:nvSpPr>
        <p:spPr>
          <a:xfrm>
            <a:off x="661475" y="6674445"/>
            <a:ext cx="384265" cy="93166"/>
          </a:xfrm>
          <a:prstGeom prst="roundRect">
            <a:avLst>
              <a:gd name="adj" fmla="val 7912"/>
            </a:avLst>
          </a:prstGeom>
          <a:solidFill>
            <a:srgbClr val="CCD7FF"/>
          </a:solidFill>
          <a:ln/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8284" y="6698258"/>
            <a:ext cx="49112" cy="49113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71903" y="6694587"/>
            <a:ext cx="846612" cy="56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SUMMARY</a:t>
            </a:r>
            <a:endParaRPr lang="en-US" sz="350" dirty="0"/>
          </a:p>
        </p:txBody>
      </p:sp>
      <p:sp>
        <p:nvSpPr>
          <p:cNvPr id="47" name="Text 34"/>
          <p:cNvSpPr/>
          <p:nvPr/>
        </p:nvSpPr>
        <p:spPr>
          <a:xfrm>
            <a:off x="661475" y="6777335"/>
            <a:ext cx="10868745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We've Built &amp; Why It Matters</a:t>
            </a:r>
            <a:endParaRPr lang="en-US" sz="950" dirty="0"/>
          </a:p>
        </p:txBody>
      </p:sp>
      <p:sp>
        <p:nvSpPr>
          <p:cNvPr id="48" name="Shape 35"/>
          <p:cNvSpPr/>
          <p:nvPr/>
        </p:nvSpPr>
        <p:spPr>
          <a:xfrm>
            <a:off x="617224" y="6958905"/>
            <a:ext cx="5447965" cy="572889"/>
          </a:xfrm>
          <a:prstGeom prst="roundRect">
            <a:avLst>
              <a:gd name="adj" fmla="val 1608"/>
            </a:avLst>
          </a:prstGeom>
          <a:solidFill>
            <a:srgbClr val="6366F1"/>
          </a:solidFill>
          <a:ln/>
        </p:spPr>
      </p:sp>
      <p:sp>
        <p:nvSpPr>
          <p:cNvPr id="49" name="Text 36"/>
          <p:cNvSpPr/>
          <p:nvPr/>
        </p:nvSpPr>
        <p:spPr>
          <a:xfrm>
            <a:off x="678639" y="6980634"/>
            <a:ext cx="5325136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🏗️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What's In Place</a:t>
            </a:r>
            <a:endParaRPr lang="en-US" sz="6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1657" y="7099052"/>
            <a:ext cx="92073" cy="92075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878262" y="7099002"/>
            <a:ext cx="2450443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 Fully Automated Test Pipelines</a:t>
            </a:r>
            <a:endParaRPr lang="en-US" sz="600" dirty="0"/>
          </a:p>
        </p:txBody>
      </p:sp>
      <p:sp>
        <p:nvSpPr>
          <p:cNvPr id="52" name="Text 38"/>
          <p:cNvSpPr/>
          <p:nvPr/>
        </p:nvSpPr>
        <p:spPr>
          <a:xfrm>
            <a:off x="878262" y="7214890"/>
            <a:ext cx="2450443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CMS project covered from commit to deploy</a:t>
            </a:r>
            <a:endParaRPr lang="en-US" sz="45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76627" y="7099052"/>
            <a:ext cx="92073" cy="92075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3553232" y="7099002"/>
            <a:ext cx="2450543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Comprehensive Quality Gates</a:t>
            </a:r>
            <a:endParaRPr lang="en-US" sz="600" dirty="0"/>
          </a:p>
        </p:txBody>
      </p:sp>
      <p:sp>
        <p:nvSpPr>
          <p:cNvPr id="55" name="Text 40"/>
          <p:cNvSpPr/>
          <p:nvPr/>
        </p:nvSpPr>
        <p:spPr>
          <a:xfrm>
            <a:off x="3553232" y="7214890"/>
            <a:ext cx="2450543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Functional, Security, Performance &amp; Compatibility on every run</a:t>
            </a:r>
            <a:endParaRPr lang="en-US" sz="450" dirty="0"/>
          </a:p>
        </p:txBody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1657" y="7325072"/>
            <a:ext cx="92073" cy="92075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878262" y="7325023"/>
            <a:ext cx="5125512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Real-Time Slack Feedback</a:t>
            </a:r>
            <a:endParaRPr lang="en-US" sz="600" dirty="0"/>
          </a:p>
        </p:txBody>
      </p:sp>
      <p:sp>
        <p:nvSpPr>
          <p:cNvPr id="58" name="Text 42"/>
          <p:cNvSpPr/>
          <p:nvPr/>
        </p:nvSpPr>
        <p:spPr>
          <a:xfrm>
            <a:off x="878262" y="7440910"/>
            <a:ext cx="5125512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Instant failure notifications with full context — zero manual logging</a:t>
            </a:r>
            <a:endParaRPr lang="en-US" sz="450" dirty="0"/>
          </a:p>
        </p:txBody>
      </p:sp>
      <p:sp>
        <p:nvSpPr>
          <p:cNvPr id="59" name="Text 43"/>
          <p:cNvSpPr/>
          <p:nvPr/>
        </p:nvSpPr>
        <p:spPr>
          <a:xfrm>
            <a:off x="6177106" y="6980634"/>
            <a:ext cx="5359464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Business Outcomes</a:t>
            </a:r>
            <a:endParaRPr lang="en-US" sz="600" dirty="0"/>
          </a:p>
        </p:txBody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00124" y="7099052"/>
            <a:ext cx="92073" cy="92075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6376729" y="7099002"/>
            <a:ext cx="246760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Faster Releases with Higher Confidence</a:t>
            </a:r>
            <a:endParaRPr lang="en-US" sz="600" dirty="0"/>
          </a:p>
        </p:txBody>
      </p:sp>
      <p:sp>
        <p:nvSpPr>
          <p:cNvPr id="62" name="Text 45"/>
          <p:cNvSpPr/>
          <p:nvPr/>
        </p:nvSpPr>
        <p:spPr>
          <a:xfrm>
            <a:off x="6376729" y="7214890"/>
            <a:ext cx="2467608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automated validation removes bottlenecks from release cycles</a:t>
            </a:r>
            <a:endParaRPr lang="en-US" sz="450" dirty="0"/>
          </a:p>
        </p:txBody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92258" y="7099052"/>
            <a:ext cx="92073" cy="92075"/>
          </a:xfrm>
          <a:prstGeom prst="rect">
            <a:avLst/>
          </a:prstGeom>
        </p:spPr>
      </p:pic>
      <p:sp>
        <p:nvSpPr>
          <p:cNvPr id="64" name="Text 46"/>
          <p:cNvSpPr/>
          <p:nvPr/>
        </p:nvSpPr>
        <p:spPr>
          <a:xfrm>
            <a:off x="9068863" y="7099002"/>
            <a:ext cx="2467707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Security &amp; Performance Regressions Prevented</a:t>
            </a:r>
            <a:endParaRPr lang="en-US" sz="600" dirty="0"/>
          </a:p>
        </p:txBody>
      </p:sp>
      <p:sp>
        <p:nvSpPr>
          <p:cNvPr id="65" name="Text 47"/>
          <p:cNvSpPr/>
          <p:nvPr/>
        </p:nvSpPr>
        <p:spPr>
          <a:xfrm>
            <a:off x="9068863" y="7214890"/>
            <a:ext cx="2467707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OWASP ZAP and Lighthouse thresholds block degraded builds automatically</a:t>
            </a:r>
            <a:endParaRPr lang="en-US" sz="450" dirty="0"/>
          </a:p>
        </p:txBody>
      </p:sp>
      <p:pic>
        <p:nvPicPr>
          <p:cNvPr id="66" name="Image 16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200124" y="7325072"/>
            <a:ext cx="92073" cy="92075"/>
          </a:xfrm>
          <a:prstGeom prst="rect">
            <a:avLst/>
          </a:prstGeom>
        </p:spPr>
      </p:pic>
      <p:sp>
        <p:nvSpPr>
          <p:cNvPr id="67" name="Text 48"/>
          <p:cNvSpPr/>
          <p:nvPr/>
        </p:nvSpPr>
        <p:spPr>
          <a:xfrm>
            <a:off x="6376729" y="7325023"/>
            <a:ext cx="5159841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Significant Cost Savings</a:t>
            </a:r>
            <a:endParaRPr lang="en-US" sz="600" dirty="0"/>
          </a:p>
        </p:txBody>
      </p:sp>
      <p:sp>
        <p:nvSpPr>
          <p:cNvPr id="68" name="Text 49"/>
          <p:cNvSpPr/>
          <p:nvPr/>
        </p:nvSpPr>
        <p:spPr>
          <a:xfrm>
            <a:off x="6376729" y="7440910"/>
            <a:ext cx="5159841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defect rate dropped from 20% → 2%, eliminating costly hotfixes</a:t>
            </a:r>
            <a:endParaRPr lang="en-US" sz="450" dirty="0"/>
          </a:p>
        </p:txBody>
      </p:sp>
      <p:sp>
        <p:nvSpPr>
          <p:cNvPr id="69" name="Shape 50"/>
          <p:cNvSpPr/>
          <p:nvPr/>
        </p:nvSpPr>
        <p:spPr>
          <a:xfrm>
            <a:off x="661475" y="7554218"/>
            <a:ext cx="10868745" cy="166390"/>
          </a:xfrm>
          <a:prstGeom prst="roundRect">
            <a:avLst>
              <a:gd name="adj" fmla="val 5538"/>
            </a:avLst>
          </a:prstGeom>
          <a:solidFill>
            <a:srgbClr val="CCD7FF"/>
          </a:solidFill>
          <a:ln/>
        </p:spPr>
      </p:sp>
      <p:pic>
        <p:nvPicPr>
          <p:cNvPr id="70" name="Image 17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22890" y="7630914"/>
            <a:ext cx="76694" cy="61416"/>
          </a:xfrm>
          <a:prstGeom prst="rect">
            <a:avLst/>
          </a:prstGeom>
        </p:spPr>
      </p:pic>
      <p:sp>
        <p:nvSpPr>
          <p:cNvPr id="71" name="Text 51"/>
          <p:cNvSpPr/>
          <p:nvPr/>
        </p:nvSpPr>
        <p:spPr>
          <a:xfrm>
            <a:off x="860999" y="7591227"/>
            <a:ext cx="11217391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Strategic Value:</a:t>
            </a:r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This framework is a living quality platform that scales with the programme, enforces GDS standards automatically, and gives every team real-time confidence in every deployment.</a:t>
            </a:r>
            <a:endParaRPr lang="en-US" sz="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2026-08-05T16:02:16Z</dcterms:created>
  <dcterms:modified xsi:type="dcterms:W3CDTF">2026-08-05T16:02:16Z</dcterms:modified>
</cp:coreProperties>
</file>